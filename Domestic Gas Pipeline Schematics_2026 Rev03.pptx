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76646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tags" Target="tags/tag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0CA4F-35F4-4053-B861-1E29D50CEA8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DCCF2-73D3-4484-AEDD-B77626F9A2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6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76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Change Log: August 2026 </a:t>
            </a:r>
          </a:p>
          <a:p>
            <a:pPr marL="161766" indent="0">
              <a:buNone/>
            </a:pPr>
            <a:r>
              <a:rPr lang="en-GB" dirty="0"/>
              <a:t>Changed EIIJ name from NNPC/Oando </a:t>
            </a:r>
          </a:p>
          <a:p>
            <a:pPr marL="161766" indent="0">
              <a:buNone/>
            </a:pPr>
            <a:r>
              <a:rPr lang="en-GB" dirty="0"/>
              <a:t>Moved EIIJ name tag </a:t>
            </a:r>
          </a:p>
          <a:p>
            <a:pPr marL="161766" indent="0">
              <a:buNone/>
            </a:pPr>
            <a:r>
              <a:rPr lang="en-GB" dirty="0"/>
              <a:t>Coloured OWEP &amp; EOP lines </a:t>
            </a:r>
          </a:p>
          <a:p>
            <a:pPr marL="161766" indent="0">
              <a:buNone/>
            </a:pPr>
            <a:r>
              <a:rPr lang="en-GB" dirty="0"/>
              <a:t>Included </a:t>
            </a:r>
            <a:r>
              <a:rPr lang="en-GB" dirty="0" err="1"/>
              <a:t>Utorogu</a:t>
            </a:r>
            <a:r>
              <a:rPr lang="en-GB" dirty="0"/>
              <a:t> – PS1</a:t>
            </a:r>
          </a:p>
        </p:txBody>
      </p:sp>
    </p:spTree>
    <p:extLst>
      <p:ext uri="{BB962C8B-B14F-4D97-AF65-F5344CB8AC3E}">
        <p14:creationId xmlns:p14="http://schemas.microsoft.com/office/powerpoint/2010/main" val="284851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44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909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35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44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388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38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2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544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18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98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EF65F-363C-471C-9341-D263B3C0F816}"/>
              </a:ext>
            </a:extLst>
          </p:cNvPr>
          <p:cNvSpPr/>
          <p:nvPr userDrawn="1"/>
        </p:nvSpPr>
        <p:spPr>
          <a:xfrm>
            <a:off x="11064240" y="0"/>
            <a:ext cx="1155498" cy="6849533"/>
          </a:xfrm>
          <a:prstGeom prst="rect">
            <a:avLst/>
          </a:prstGeom>
          <a:gradFill flip="none" rotWithShape="1">
            <a:gsLst>
              <a:gs pos="91981">
                <a:schemeClr val="bg1"/>
              </a:gs>
              <a:gs pos="6604">
                <a:schemeClr val="bg1"/>
              </a:gs>
              <a:gs pos="48000">
                <a:srgbClr val="858585"/>
              </a:gs>
              <a:gs pos="19000">
                <a:schemeClr val="bg1">
                  <a:lumMod val="85000"/>
                </a:schemeClr>
              </a:gs>
              <a:gs pos="80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15B6D-35F4-4CA8-AA1A-49610E0E158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272899" y="6004635"/>
            <a:ext cx="739893" cy="43232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910902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hammed.dahiru@nnpcgroup.com" TargetMode="Externa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6.xml" /><Relationship Id="rId5" Type="http://schemas.openxmlformats.org/officeDocument/2006/relationships/image" Target="../media/image3.png" /><Relationship Id="rId4" Type="http://schemas.openxmlformats.org/officeDocument/2006/relationships/image" Target="../media/image2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210">
            <a:extLst>
              <a:ext uri="{FF2B5EF4-FFF2-40B4-BE49-F238E27FC236}">
                <a16:creationId xmlns:a16="http://schemas.microsoft.com/office/drawing/2014/main" id="{5723ADEC-BDFE-E852-6660-7DB0F6DEF8B6}"/>
              </a:ext>
            </a:extLst>
          </p:cNvPr>
          <p:cNvSpPr txBox="1"/>
          <p:nvPr/>
        </p:nvSpPr>
        <p:spPr>
          <a:xfrm>
            <a:off x="65285" y="21419"/>
            <a:ext cx="11306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Arial"/>
                <a:sym typeface="Arial"/>
              </a:rPr>
              <a:t>Simplified Schematics of Major Existing / Planned / Future Gas Infrastructure </a:t>
            </a:r>
          </a:p>
        </p:txBody>
      </p: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BB4F787E-09BA-2A1E-5530-EB334AD4A8BB}"/>
              </a:ext>
            </a:extLst>
          </p:cNvPr>
          <p:cNvGrpSpPr/>
          <p:nvPr/>
        </p:nvGrpSpPr>
        <p:grpSpPr>
          <a:xfrm>
            <a:off x="541490" y="5519"/>
            <a:ext cx="9905563" cy="6891198"/>
            <a:chOff x="221109" y="0"/>
            <a:chExt cx="9905563" cy="689119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ACE4508-F1FA-EA82-DA87-E67E102A2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4884" y="3540028"/>
              <a:ext cx="902042" cy="835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FF6E215-669B-C2CA-285F-5D9A377244B9}"/>
                </a:ext>
              </a:extLst>
            </p:cNvPr>
            <p:cNvCxnSpPr/>
            <p:nvPr/>
          </p:nvCxnSpPr>
          <p:spPr>
            <a:xfrm flipV="1">
              <a:off x="3102262" y="4205945"/>
              <a:ext cx="0" cy="577842"/>
            </a:xfrm>
            <a:prstGeom prst="straightConnector1">
              <a:avLst/>
            </a:prstGeom>
            <a:noFill/>
            <a:ln w="9525" cap="flat" cmpd="sng" algn="ctr">
              <a:solidFill>
                <a:srgbClr val="77933C"/>
              </a:solidFill>
              <a:prstDash val="sysDash"/>
              <a:tailEnd type="triangle"/>
            </a:ln>
            <a:effectLst/>
          </p:spPr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0360647-63D2-A5F0-26B3-367C2492841E}"/>
                </a:ext>
              </a:extLst>
            </p:cNvPr>
            <p:cNvCxnSpPr>
              <a:cxnSpLocks/>
            </p:cNvCxnSpPr>
            <p:nvPr/>
          </p:nvCxnSpPr>
          <p:spPr>
            <a:xfrm>
              <a:off x="2547033" y="4838784"/>
              <a:ext cx="548471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77933C"/>
              </a:solidFill>
              <a:prstDash val="sysDash"/>
              <a:tailEnd type="non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7911510-CA7B-140F-507C-D89DE7C4A8CF}"/>
                </a:ext>
              </a:extLst>
            </p:cNvPr>
            <p:cNvCxnSpPr/>
            <p:nvPr/>
          </p:nvCxnSpPr>
          <p:spPr>
            <a:xfrm flipH="1" flipV="1">
              <a:off x="4523277" y="3194182"/>
              <a:ext cx="25544" cy="14878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3D4474-805B-47ED-4DD4-C807F62F71B2}"/>
                </a:ext>
              </a:extLst>
            </p:cNvPr>
            <p:cNvCxnSpPr/>
            <p:nvPr/>
          </p:nvCxnSpPr>
          <p:spPr>
            <a:xfrm>
              <a:off x="4472043" y="2947635"/>
              <a:ext cx="26199" cy="20094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C322B97-FA02-8D4C-B96F-1D03DFE7B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3979" y="3024100"/>
              <a:ext cx="287369" cy="32003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F494E0-0BA0-B7A7-0687-AB2BFE1B72CC}"/>
                </a:ext>
              </a:extLst>
            </p:cNvPr>
            <p:cNvSpPr/>
            <p:nvPr/>
          </p:nvSpPr>
          <p:spPr>
            <a:xfrm>
              <a:off x="3997859" y="2749398"/>
              <a:ext cx="259014" cy="139583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7ACA96-0CD6-8169-52FE-6FBFE0330D2A}"/>
                </a:ext>
              </a:extLst>
            </p:cNvPr>
            <p:cNvSpPr/>
            <p:nvPr/>
          </p:nvSpPr>
          <p:spPr>
            <a:xfrm>
              <a:off x="4003174" y="3230557"/>
              <a:ext cx="259014" cy="1325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FFAA793-C9BA-B4BB-5E4E-2E81F725A5DB}"/>
                </a:ext>
              </a:extLst>
            </p:cNvPr>
            <p:cNvCxnSpPr/>
            <p:nvPr/>
          </p:nvCxnSpPr>
          <p:spPr>
            <a:xfrm flipV="1">
              <a:off x="5510933" y="4697798"/>
              <a:ext cx="176689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81D2555-B000-D800-A4EA-75046B9B5263}"/>
                </a:ext>
              </a:extLst>
            </p:cNvPr>
            <p:cNvCxnSpPr/>
            <p:nvPr/>
          </p:nvCxnSpPr>
          <p:spPr>
            <a:xfrm flipV="1">
              <a:off x="6460779" y="5096776"/>
              <a:ext cx="212284" cy="7825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98B8155-86BD-AC69-6B12-EC49E03A06DB}"/>
                </a:ext>
              </a:extLst>
            </p:cNvPr>
            <p:cNvCxnSpPr/>
            <p:nvPr/>
          </p:nvCxnSpPr>
          <p:spPr>
            <a:xfrm flipV="1">
              <a:off x="2499746" y="5892271"/>
              <a:ext cx="8832" cy="20971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40785E-623B-145C-99F9-E2B1163E7956}"/>
                </a:ext>
              </a:extLst>
            </p:cNvPr>
            <p:cNvCxnSpPr/>
            <p:nvPr/>
          </p:nvCxnSpPr>
          <p:spPr>
            <a:xfrm flipV="1">
              <a:off x="2524420" y="5738452"/>
              <a:ext cx="117176" cy="12711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89476A53-76FA-5538-985C-74269ADAC830}"/>
                </a:ext>
              </a:extLst>
            </p:cNvPr>
            <p:cNvSpPr/>
            <p:nvPr/>
          </p:nvSpPr>
          <p:spPr>
            <a:xfrm rot="5400000">
              <a:off x="370900" y="6358398"/>
              <a:ext cx="159159" cy="181023"/>
            </a:xfrm>
            <a:prstGeom prst="trapezoid">
              <a:avLst/>
            </a:prstGeom>
            <a:solidFill>
              <a:srgbClr val="FFFF00"/>
            </a:solidFill>
            <a:ln w="1905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2973CFC-5CF2-6C1D-AF36-0406B842AED4}"/>
                </a:ext>
              </a:extLst>
            </p:cNvPr>
            <p:cNvCxnSpPr/>
            <p:nvPr/>
          </p:nvCxnSpPr>
          <p:spPr>
            <a:xfrm flipV="1">
              <a:off x="5765653" y="1854107"/>
              <a:ext cx="881961" cy="726305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none"/>
            </a:ln>
            <a:effectLst/>
          </p:spPr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646904-907C-EAF9-8605-3DE28DE0C838}"/>
                </a:ext>
              </a:extLst>
            </p:cNvPr>
            <p:cNvSpPr/>
            <p:nvPr/>
          </p:nvSpPr>
          <p:spPr>
            <a:xfrm>
              <a:off x="4505194" y="2732007"/>
              <a:ext cx="259014" cy="123892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27941BD-08E8-4356-88B6-9AF68A3945C1}"/>
                </a:ext>
              </a:extLst>
            </p:cNvPr>
            <p:cNvCxnSpPr/>
            <p:nvPr/>
          </p:nvCxnSpPr>
          <p:spPr>
            <a:xfrm flipV="1">
              <a:off x="8797499" y="5706522"/>
              <a:ext cx="330023" cy="397394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tailEnd type="triangle"/>
            </a:ln>
            <a:effectLst/>
          </p:spPr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BF7D91D-5B78-B9C0-024B-8C45916E48CD}"/>
                </a:ext>
              </a:extLst>
            </p:cNvPr>
            <p:cNvSpPr/>
            <p:nvPr/>
          </p:nvSpPr>
          <p:spPr>
            <a:xfrm>
              <a:off x="5673642" y="4572407"/>
              <a:ext cx="393119" cy="23275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CED65DD-A69A-21C0-E321-44EB573B8BF0}"/>
                </a:ext>
              </a:extLst>
            </p:cNvPr>
            <p:cNvSpPr/>
            <p:nvPr/>
          </p:nvSpPr>
          <p:spPr>
            <a:xfrm>
              <a:off x="5344484" y="4109529"/>
              <a:ext cx="364551" cy="21916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D3D03F5-F224-3BB4-5C04-A3428E7D8042}"/>
                </a:ext>
              </a:extLst>
            </p:cNvPr>
            <p:cNvCxnSpPr/>
            <p:nvPr/>
          </p:nvCxnSpPr>
          <p:spPr>
            <a:xfrm flipV="1">
              <a:off x="5597787" y="4210781"/>
              <a:ext cx="668320" cy="38697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7837769-B45F-84D8-C323-6C2BF46D15D3}"/>
                </a:ext>
              </a:extLst>
            </p:cNvPr>
            <p:cNvCxnSpPr>
              <a:endCxn id="180" idx="2"/>
            </p:cNvCxnSpPr>
            <p:nvPr/>
          </p:nvCxnSpPr>
          <p:spPr>
            <a:xfrm flipV="1">
              <a:off x="9147892" y="5160680"/>
              <a:ext cx="121136" cy="398638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tailEnd type="triangle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6153AC-2B78-AD3A-20D1-C6A1643F1D96}"/>
                </a:ext>
              </a:extLst>
            </p:cNvPr>
            <p:cNvCxnSpPr/>
            <p:nvPr/>
          </p:nvCxnSpPr>
          <p:spPr>
            <a:xfrm flipH="1">
              <a:off x="1974344" y="3538933"/>
              <a:ext cx="1105268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EA2CC8A-B833-6606-918E-28FBB51A8DAA}"/>
                </a:ext>
              </a:extLst>
            </p:cNvPr>
            <p:cNvCxnSpPr/>
            <p:nvPr/>
          </p:nvCxnSpPr>
          <p:spPr>
            <a:xfrm flipH="1" flipV="1">
              <a:off x="3050376" y="3669071"/>
              <a:ext cx="0" cy="34288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1881FAE-BCFB-1471-3BE6-9F7D59F33234}"/>
                </a:ext>
              </a:extLst>
            </p:cNvPr>
            <p:cNvCxnSpPr/>
            <p:nvPr/>
          </p:nvCxnSpPr>
          <p:spPr>
            <a:xfrm flipV="1">
              <a:off x="2605703" y="4911274"/>
              <a:ext cx="45216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00F2A43-86DF-80AF-DABA-F75335709E00}"/>
                </a:ext>
              </a:extLst>
            </p:cNvPr>
            <p:cNvCxnSpPr/>
            <p:nvPr/>
          </p:nvCxnSpPr>
          <p:spPr>
            <a:xfrm flipH="1" flipV="1">
              <a:off x="1974344" y="3448153"/>
              <a:ext cx="109215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032DCE-DACE-0AD4-6819-85C6CD0321B5}"/>
                </a:ext>
              </a:extLst>
            </p:cNvPr>
            <p:cNvSpPr/>
            <p:nvPr/>
          </p:nvSpPr>
          <p:spPr>
            <a:xfrm>
              <a:off x="2399195" y="4743076"/>
              <a:ext cx="222723" cy="166042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4053032-3E87-0E4B-9921-AF0E5C37A994}"/>
                </a:ext>
              </a:extLst>
            </p:cNvPr>
            <p:cNvSpPr/>
            <p:nvPr/>
          </p:nvSpPr>
          <p:spPr>
            <a:xfrm>
              <a:off x="3064769" y="4742371"/>
              <a:ext cx="208028" cy="186874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65DB98A-C32B-4E6F-0270-5873BC8D0BFB}"/>
                </a:ext>
              </a:extLst>
            </p:cNvPr>
            <p:cNvSpPr/>
            <p:nvPr/>
          </p:nvSpPr>
          <p:spPr>
            <a:xfrm>
              <a:off x="2974176" y="4023223"/>
              <a:ext cx="267893" cy="181557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B352D23-3C7C-C357-FC5B-157C29AC9C99}"/>
                </a:ext>
              </a:extLst>
            </p:cNvPr>
            <p:cNvSpPr/>
            <p:nvPr/>
          </p:nvSpPr>
          <p:spPr>
            <a:xfrm>
              <a:off x="1778286" y="4710259"/>
              <a:ext cx="429003" cy="20451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Escravos  GP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9AFA971-F9B7-8518-ACB7-5BCDD220F7FA}"/>
                </a:ext>
              </a:extLst>
            </p:cNvPr>
            <p:cNvCxnSpPr/>
            <p:nvPr/>
          </p:nvCxnSpPr>
          <p:spPr>
            <a:xfrm>
              <a:off x="2630239" y="4784097"/>
              <a:ext cx="383829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7801ACF-E7C2-7634-E18E-DC77606C447A}"/>
                </a:ext>
              </a:extLst>
            </p:cNvPr>
            <p:cNvCxnSpPr/>
            <p:nvPr/>
          </p:nvCxnSpPr>
          <p:spPr>
            <a:xfrm flipH="1" flipV="1">
              <a:off x="3219172" y="4210093"/>
              <a:ext cx="0" cy="51802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1F3276B-CC5F-8DF5-20A6-31F3B717D8BE}"/>
                </a:ext>
              </a:extLst>
            </p:cNvPr>
            <p:cNvCxnSpPr/>
            <p:nvPr/>
          </p:nvCxnSpPr>
          <p:spPr>
            <a:xfrm flipV="1">
              <a:off x="3015139" y="4201945"/>
              <a:ext cx="0" cy="57784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F2EEBDA-F1D3-96CE-F52C-DCEEA369C827}"/>
                </a:ext>
              </a:extLst>
            </p:cNvPr>
            <p:cNvSpPr/>
            <p:nvPr/>
          </p:nvSpPr>
          <p:spPr>
            <a:xfrm>
              <a:off x="3000097" y="3400820"/>
              <a:ext cx="301687" cy="270947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17ECE72-8846-C7FF-A2BC-778E4706DC76}"/>
                </a:ext>
              </a:extLst>
            </p:cNvPr>
            <p:cNvCxnSpPr/>
            <p:nvPr/>
          </p:nvCxnSpPr>
          <p:spPr>
            <a:xfrm flipV="1">
              <a:off x="3225221" y="3675491"/>
              <a:ext cx="0" cy="34288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E03F71B-D1F8-BD37-5385-BDBCE11B959C}"/>
                </a:ext>
              </a:extLst>
            </p:cNvPr>
            <p:cNvSpPr/>
            <p:nvPr/>
          </p:nvSpPr>
          <p:spPr>
            <a:xfrm>
              <a:off x="1370514" y="3400820"/>
              <a:ext cx="152399" cy="17382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9A53977-DDE6-9383-8DC9-34F2866DF0AD}"/>
                </a:ext>
              </a:extLst>
            </p:cNvPr>
            <p:cNvSpPr/>
            <p:nvPr/>
          </p:nvSpPr>
          <p:spPr>
            <a:xfrm>
              <a:off x="918074" y="3400820"/>
              <a:ext cx="152399" cy="152400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7050D8A-057F-9BD5-EC0A-14282A4E017B}"/>
                </a:ext>
              </a:extLst>
            </p:cNvPr>
            <p:cNvSpPr/>
            <p:nvPr/>
          </p:nvSpPr>
          <p:spPr>
            <a:xfrm>
              <a:off x="394396" y="3381782"/>
              <a:ext cx="152399" cy="157131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4B9218B-2959-F245-302A-9E7AC1C88D1E}"/>
                </a:ext>
              </a:extLst>
            </p:cNvPr>
            <p:cNvCxnSpPr/>
            <p:nvPr/>
          </p:nvCxnSpPr>
          <p:spPr>
            <a:xfrm flipH="1">
              <a:off x="1527568" y="3453199"/>
              <a:ext cx="271462" cy="1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1F50DC-5E32-4D80-5D01-B4A277E1D2C0}"/>
                </a:ext>
              </a:extLst>
            </p:cNvPr>
            <p:cNvCxnSpPr/>
            <p:nvPr/>
          </p:nvCxnSpPr>
          <p:spPr>
            <a:xfrm flipH="1">
              <a:off x="1082378" y="3453190"/>
              <a:ext cx="271462" cy="1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9831348-F7BF-928C-6F21-8C50C2E9E47E}"/>
                </a:ext>
              </a:extLst>
            </p:cNvPr>
            <p:cNvCxnSpPr/>
            <p:nvPr/>
          </p:nvCxnSpPr>
          <p:spPr>
            <a:xfrm flipH="1">
              <a:off x="544719" y="3444362"/>
              <a:ext cx="382151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5B355F-289D-0062-79A8-438131918F0E}"/>
                </a:ext>
              </a:extLst>
            </p:cNvPr>
            <p:cNvCxnSpPr/>
            <p:nvPr/>
          </p:nvCxnSpPr>
          <p:spPr>
            <a:xfrm>
              <a:off x="3079612" y="2840163"/>
              <a:ext cx="0" cy="53913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4B2813F-B44D-799C-C579-31566764C76F}"/>
                </a:ext>
              </a:extLst>
            </p:cNvPr>
            <p:cNvSpPr txBox="1"/>
            <p:nvPr/>
          </p:nvSpPr>
          <p:spPr>
            <a:xfrm>
              <a:off x="2980840" y="3355591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Oben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Node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(PS1)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7730D4-6849-12BA-F2BC-6C3B2C17869D}"/>
                </a:ext>
              </a:extLst>
            </p:cNvPr>
            <p:cNvSpPr txBox="1"/>
            <p:nvPr/>
          </p:nvSpPr>
          <p:spPr>
            <a:xfrm>
              <a:off x="2918236" y="3980162"/>
              <a:ext cx="3711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Warri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GTP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0939E65-FAEF-13BC-3074-1F553DBF6040}"/>
                </a:ext>
              </a:extLst>
            </p:cNvPr>
            <p:cNvSpPr txBox="1"/>
            <p:nvPr/>
          </p:nvSpPr>
          <p:spPr>
            <a:xfrm>
              <a:off x="2967945" y="4704521"/>
              <a:ext cx="38224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Odidi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Node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038B5D5-928E-ED53-FAE7-39BF63F0F600}"/>
                </a:ext>
              </a:extLst>
            </p:cNvPr>
            <p:cNvSpPr txBox="1"/>
            <p:nvPr/>
          </p:nvSpPr>
          <p:spPr>
            <a:xfrm>
              <a:off x="2319956" y="4701585"/>
              <a:ext cx="3691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Escravos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Node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30DA3B-CC63-D41B-EE8F-E70050D1D2A3}"/>
                </a:ext>
              </a:extLst>
            </p:cNvPr>
            <p:cNvSpPr txBox="1"/>
            <p:nvPr/>
          </p:nvSpPr>
          <p:spPr>
            <a:xfrm>
              <a:off x="1273533" y="3395325"/>
              <a:ext cx="3281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PS3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E433BB4-2E04-CE31-F30A-FE6E6669906B}"/>
                </a:ext>
              </a:extLst>
            </p:cNvPr>
            <p:cNvSpPr txBox="1"/>
            <p:nvPr/>
          </p:nvSpPr>
          <p:spPr>
            <a:xfrm>
              <a:off x="840379" y="3380509"/>
              <a:ext cx="3016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PS4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BF31256-7D3A-FECB-2961-531892199513}"/>
                </a:ext>
              </a:extLst>
            </p:cNvPr>
            <p:cNvSpPr txBox="1"/>
            <p:nvPr/>
          </p:nvSpPr>
          <p:spPr>
            <a:xfrm>
              <a:off x="317324" y="3331681"/>
              <a:ext cx="3016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PS5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30C4606-87CA-2446-E08A-32986AD762DB}"/>
                </a:ext>
              </a:extLst>
            </p:cNvPr>
            <p:cNvCxnSpPr/>
            <p:nvPr/>
          </p:nvCxnSpPr>
          <p:spPr>
            <a:xfrm flipH="1">
              <a:off x="550843" y="3527477"/>
              <a:ext cx="124511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0" name="Trapezoid 69">
              <a:extLst>
                <a:ext uri="{FF2B5EF4-FFF2-40B4-BE49-F238E27FC236}">
                  <a16:creationId xmlns:a16="http://schemas.microsoft.com/office/drawing/2014/main" id="{E9C9D89D-13D3-2C28-4555-AB2023C05915}"/>
                </a:ext>
              </a:extLst>
            </p:cNvPr>
            <p:cNvSpPr/>
            <p:nvPr/>
          </p:nvSpPr>
          <p:spPr>
            <a:xfrm rot="16200000">
              <a:off x="6642101" y="4451938"/>
              <a:ext cx="183209" cy="159236"/>
            </a:xfrm>
            <a:prstGeom prst="trapezoid">
              <a:avLst/>
            </a:prstGeom>
            <a:solidFill>
              <a:srgbClr val="7030A0"/>
            </a:solidFill>
            <a:ln w="25400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05467B09-A0DD-D6D9-E37E-4E3F6D7C74F7}"/>
                </a:ext>
              </a:extLst>
            </p:cNvPr>
            <p:cNvCxnSpPr/>
            <p:nvPr/>
          </p:nvCxnSpPr>
          <p:spPr>
            <a:xfrm flipH="1" flipV="1">
              <a:off x="5668149" y="3618038"/>
              <a:ext cx="551743" cy="586607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FF58D61-45C8-C016-B483-215DC9E6CD6A}"/>
                </a:ext>
              </a:extLst>
            </p:cNvPr>
            <p:cNvCxnSpPr>
              <a:endCxn id="242" idx="1"/>
            </p:cNvCxnSpPr>
            <p:nvPr/>
          </p:nvCxnSpPr>
          <p:spPr>
            <a:xfrm flipH="1" flipV="1">
              <a:off x="6571301" y="4525715"/>
              <a:ext cx="80114" cy="27676"/>
            </a:xfrm>
            <a:prstGeom prst="straightConnector1">
              <a:avLst/>
            </a:prstGeom>
            <a:noFill/>
            <a:ln w="317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4D9EECF-530A-D963-8767-0A6BDA5D3159}"/>
                </a:ext>
              </a:extLst>
            </p:cNvPr>
            <p:cNvCxnSpPr/>
            <p:nvPr/>
          </p:nvCxnSpPr>
          <p:spPr>
            <a:xfrm flipH="1">
              <a:off x="6813320" y="4531556"/>
              <a:ext cx="182880" cy="0"/>
            </a:xfrm>
            <a:prstGeom prst="line">
              <a:avLst/>
            </a:prstGeom>
            <a:noFill/>
            <a:ln w="317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5919C5E-37FA-E6DF-29CB-5911A8D3E7E9}"/>
                </a:ext>
              </a:extLst>
            </p:cNvPr>
            <p:cNvCxnSpPr/>
            <p:nvPr/>
          </p:nvCxnSpPr>
          <p:spPr>
            <a:xfrm>
              <a:off x="6402788" y="5481948"/>
              <a:ext cx="70664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84B398-11BC-2674-7698-A99F74128A23}"/>
                </a:ext>
              </a:extLst>
            </p:cNvPr>
            <p:cNvCxnSpPr/>
            <p:nvPr/>
          </p:nvCxnSpPr>
          <p:spPr>
            <a:xfrm flipH="1" flipV="1">
              <a:off x="6395179" y="5480778"/>
              <a:ext cx="0" cy="14214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1B9CD-482D-769C-2FCE-EC1A6F571E93}"/>
                </a:ext>
              </a:extLst>
            </p:cNvPr>
            <p:cNvCxnSpPr/>
            <p:nvPr/>
          </p:nvCxnSpPr>
          <p:spPr>
            <a:xfrm flipV="1">
              <a:off x="5713448" y="5363957"/>
              <a:ext cx="0" cy="247445"/>
            </a:xfrm>
            <a:prstGeom prst="line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3C70BE8-25D0-C0A0-835F-6AD5E717DBA4}"/>
                </a:ext>
              </a:extLst>
            </p:cNvPr>
            <p:cNvCxnSpPr/>
            <p:nvPr/>
          </p:nvCxnSpPr>
          <p:spPr>
            <a:xfrm flipH="1" flipV="1">
              <a:off x="6466089" y="5498008"/>
              <a:ext cx="0" cy="113394"/>
            </a:xfrm>
            <a:prstGeom prst="line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7B86E08-73B2-8BBA-A5D2-179FBB0F3F56}"/>
                </a:ext>
              </a:extLst>
            </p:cNvPr>
            <p:cNvCxnSpPr/>
            <p:nvPr/>
          </p:nvCxnSpPr>
          <p:spPr>
            <a:xfrm flipV="1">
              <a:off x="6466089" y="5380750"/>
              <a:ext cx="0" cy="64467"/>
            </a:xfrm>
            <a:prstGeom prst="line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1807E179-A635-E01D-A037-FBB000D4F0C3}"/>
                </a:ext>
              </a:extLst>
            </p:cNvPr>
            <p:cNvCxnSpPr/>
            <p:nvPr/>
          </p:nvCxnSpPr>
          <p:spPr>
            <a:xfrm flipH="1" flipV="1">
              <a:off x="5718922" y="5371592"/>
              <a:ext cx="1302450" cy="446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AC6E5C0-3A35-A1DB-9A4E-CE38F0F00A89}"/>
                </a:ext>
              </a:extLst>
            </p:cNvPr>
            <p:cNvCxnSpPr/>
            <p:nvPr/>
          </p:nvCxnSpPr>
          <p:spPr>
            <a:xfrm>
              <a:off x="3099414" y="2227497"/>
              <a:ext cx="0" cy="32479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90178B7-18B1-96DA-DDE5-9916FF4843B4}"/>
                </a:ext>
              </a:extLst>
            </p:cNvPr>
            <p:cNvCxnSpPr/>
            <p:nvPr/>
          </p:nvCxnSpPr>
          <p:spPr>
            <a:xfrm flipV="1">
              <a:off x="2450399" y="2741029"/>
              <a:ext cx="54425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584535B-7BCD-4401-AF5B-3CC82B820781}"/>
                </a:ext>
              </a:extLst>
            </p:cNvPr>
            <p:cNvSpPr/>
            <p:nvPr/>
          </p:nvSpPr>
          <p:spPr>
            <a:xfrm>
              <a:off x="3006057" y="2558864"/>
              <a:ext cx="219074" cy="270947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87F5EDC-17D3-167A-5C7D-90B1C1C47D49}"/>
                </a:ext>
              </a:extLst>
            </p:cNvPr>
            <p:cNvSpPr txBox="1"/>
            <p:nvPr/>
          </p:nvSpPr>
          <p:spPr>
            <a:xfrm>
              <a:off x="2929310" y="2561518"/>
              <a:ext cx="3626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Oben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MS/CS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A4334A0-6AB5-58DC-F251-19096B30CB20}"/>
                </a:ext>
              </a:extLst>
            </p:cNvPr>
            <p:cNvCxnSpPr>
              <a:cxnSpLocks/>
              <a:stCxn id="373" idx="2"/>
            </p:cNvCxnSpPr>
            <p:nvPr/>
          </p:nvCxnSpPr>
          <p:spPr>
            <a:xfrm flipH="1">
              <a:off x="3253736" y="2841489"/>
              <a:ext cx="0" cy="54566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D6C7AAF-A370-EB0B-5D5C-5774F13D290F}"/>
                </a:ext>
              </a:extLst>
            </p:cNvPr>
            <p:cNvSpPr/>
            <p:nvPr/>
          </p:nvSpPr>
          <p:spPr>
            <a:xfrm>
              <a:off x="2942896" y="2080773"/>
              <a:ext cx="251501" cy="15102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FFA4E35-07BD-A38A-60AF-94E9BC712083}"/>
                </a:ext>
              </a:extLst>
            </p:cNvPr>
            <p:cNvCxnSpPr>
              <a:endCxn id="82" idx="0"/>
            </p:cNvCxnSpPr>
            <p:nvPr/>
          </p:nvCxnSpPr>
          <p:spPr>
            <a:xfrm flipH="1">
              <a:off x="3115594" y="2012458"/>
              <a:ext cx="628929" cy="54640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949956C-1FA2-F2BA-11B0-6A591F167998}"/>
                </a:ext>
              </a:extLst>
            </p:cNvPr>
            <p:cNvCxnSpPr/>
            <p:nvPr/>
          </p:nvCxnSpPr>
          <p:spPr>
            <a:xfrm flipH="1">
              <a:off x="3192976" y="1842003"/>
              <a:ext cx="816785" cy="73255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7C1789C-01B0-B326-CF09-632E11687BBD}"/>
                </a:ext>
              </a:extLst>
            </p:cNvPr>
            <p:cNvCxnSpPr/>
            <p:nvPr/>
          </p:nvCxnSpPr>
          <p:spPr>
            <a:xfrm flipH="1">
              <a:off x="3741189" y="1854134"/>
              <a:ext cx="2" cy="158744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13898CE-555F-5AAD-9D6A-4D438EE95350}"/>
                </a:ext>
              </a:extLst>
            </p:cNvPr>
            <p:cNvSpPr/>
            <p:nvPr/>
          </p:nvSpPr>
          <p:spPr>
            <a:xfrm>
              <a:off x="3523228" y="1659697"/>
              <a:ext cx="329859" cy="199183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2A848D4-1346-AB5E-44A5-F0A01D610620}"/>
                </a:ext>
              </a:extLst>
            </p:cNvPr>
            <p:cNvSpPr txBox="1"/>
            <p:nvPr/>
          </p:nvSpPr>
          <p:spPr>
            <a:xfrm>
              <a:off x="3447761" y="1611050"/>
              <a:ext cx="4748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Ajaokuta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45FDF53C-3ED8-2BE1-B525-94817FBF3B17}"/>
                </a:ext>
              </a:extLst>
            </p:cNvPr>
            <p:cNvSpPr/>
            <p:nvPr/>
          </p:nvSpPr>
          <p:spPr>
            <a:xfrm>
              <a:off x="3939646" y="1659697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9A4D95B-77DA-33DD-6329-5D219D277D2E}"/>
                </a:ext>
              </a:extLst>
            </p:cNvPr>
            <p:cNvCxnSpPr/>
            <p:nvPr/>
          </p:nvCxnSpPr>
          <p:spPr>
            <a:xfrm>
              <a:off x="2514492" y="1353544"/>
              <a:ext cx="1179839" cy="70513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1EA321D-0731-8EDF-F7C2-0D9EB7F6CCB3}"/>
                </a:ext>
              </a:extLst>
            </p:cNvPr>
            <p:cNvSpPr/>
            <p:nvPr/>
          </p:nvSpPr>
          <p:spPr>
            <a:xfrm>
              <a:off x="5491176" y="5623600"/>
              <a:ext cx="408688" cy="22554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07AD8A5-18E0-949B-7D48-483B88CA2649}"/>
                </a:ext>
              </a:extLst>
            </p:cNvPr>
            <p:cNvSpPr/>
            <p:nvPr/>
          </p:nvSpPr>
          <p:spPr>
            <a:xfrm>
              <a:off x="6248320" y="5617623"/>
              <a:ext cx="280208" cy="22554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4B918D0-F5C7-903C-286A-44B272EC5216}"/>
                </a:ext>
              </a:extLst>
            </p:cNvPr>
            <p:cNvSpPr/>
            <p:nvPr/>
          </p:nvSpPr>
          <p:spPr>
            <a:xfrm>
              <a:off x="6947822" y="4383539"/>
              <a:ext cx="338805" cy="338482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683EF6A-9740-59EB-1954-D74350B85B5A}"/>
                </a:ext>
              </a:extLst>
            </p:cNvPr>
            <p:cNvSpPr txBox="1"/>
            <p:nvPr/>
          </p:nvSpPr>
          <p:spPr>
            <a:xfrm>
              <a:off x="6906270" y="4426861"/>
              <a:ext cx="4347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Obigbo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Node  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491DA4C-D621-C7D3-AB38-8CBE88B0783A}"/>
                </a:ext>
              </a:extLst>
            </p:cNvPr>
            <p:cNvCxnSpPr/>
            <p:nvPr/>
          </p:nvCxnSpPr>
          <p:spPr>
            <a:xfrm flipV="1">
              <a:off x="7024146" y="4730770"/>
              <a:ext cx="4162" cy="640822"/>
            </a:xfrm>
            <a:prstGeom prst="line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headEnd type="none"/>
              <a:tailEnd type="triangle"/>
            </a:ln>
            <a:effectLst/>
          </p:spPr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CB1EBF3-7681-6DCC-0A7C-CA99684B75AD}"/>
                </a:ext>
              </a:extLst>
            </p:cNvPr>
            <p:cNvCxnSpPr/>
            <p:nvPr/>
          </p:nvCxnSpPr>
          <p:spPr>
            <a:xfrm flipH="1" flipV="1">
              <a:off x="7109435" y="4726019"/>
              <a:ext cx="0" cy="75592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96956B5-BF22-9EC2-95F3-265854BEEDD1}"/>
                </a:ext>
              </a:extLst>
            </p:cNvPr>
            <p:cNvSpPr/>
            <p:nvPr/>
          </p:nvSpPr>
          <p:spPr>
            <a:xfrm>
              <a:off x="5384613" y="3452815"/>
              <a:ext cx="274782" cy="181308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0CBEE1D-4F0A-AE39-FE45-1762C1C30F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2668" y="2693629"/>
              <a:ext cx="1205362" cy="558589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triangle"/>
            </a:ln>
            <a:effectLst/>
          </p:spPr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5F6DE1B-09F8-1A1A-18D8-F75ADD28B516}"/>
                </a:ext>
              </a:extLst>
            </p:cNvPr>
            <p:cNvSpPr txBox="1"/>
            <p:nvPr/>
          </p:nvSpPr>
          <p:spPr>
            <a:xfrm>
              <a:off x="5366104" y="3428666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OBOB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CTMS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5503C2D-4DF6-A751-DBBB-D9DF5FA1A13D}"/>
                </a:ext>
              </a:extLst>
            </p:cNvPr>
            <p:cNvSpPr/>
            <p:nvPr/>
          </p:nvSpPr>
          <p:spPr>
            <a:xfrm>
              <a:off x="8667749" y="6049644"/>
              <a:ext cx="131491" cy="119371"/>
            </a:xfrm>
            <a:prstGeom prst="rect">
              <a:avLst/>
            </a:prstGeom>
            <a:solidFill>
              <a:srgbClr val="7030A0"/>
            </a:solidFill>
            <a:ln w="15875" cap="flat" cmpd="sng" algn="ctr">
              <a:noFill/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B90BD4E-F359-1311-59F9-605FF04CD60F}"/>
                </a:ext>
              </a:extLst>
            </p:cNvPr>
            <p:cNvCxnSpPr/>
            <p:nvPr/>
          </p:nvCxnSpPr>
          <p:spPr>
            <a:xfrm flipH="1" flipV="1">
              <a:off x="8404585" y="4992521"/>
              <a:ext cx="148767" cy="89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65F0AD4-F6D6-9FD2-8944-9E73815470F5}"/>
                </a:ext>
              </a:extLst>
            </p:cNvPr>
            <p:cNvCxnSpPr>
              <a:endCxn id="288" idx="0"/>
            </p:cNvCxnSpPr>
            <p:nvPr/>
          </p:nvCxnSpPr>
          <p:spPr>
            <a:xfrm>
              <a:off x="7863099" y="5422402"/>
              <a:ext cx="0" cy="12899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AE00607-BCBE-4FDF-57CA-5BF5499CE1D0}"/>
                </a:ext>
              </a:extLst>
            </p:cNvPr>
            <p:cNvCxnSpPr/>
            <p:nvPr/>
          </p:nvCxnSpPr>
          <p:spPr>
            <a:xfrm flipH="1" flipV="1">
              <a:off x="8742441" y="4810245"/>
              <a:ext cx="1752" cy="124050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EF6E73ED-C6FF-C42E-D721-8204FBA1CE1B}"/>
                </a:ext>
              </a:extLst>
            </p:cNvPr>
            <p:cNvCxnSpPr/>
            <p:nvPr/>
          </p:nvCxnSpPr>
          <p:spPr>
            <a:xfrm flipH="1">
              <a:off x="8361793" y="4832767"/>
              <a:ext cx="0" cy="12656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ot"/>
              <a:tailEnd type="none"/>
            </a:ln>
            <a:effectLst/>
          </p:spPr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1BCDAD8-4C08-829A-DD5D-877111B05A25}"/>
                </a:ext>
              </a:extLst>
            </p:cNvPr>
            <p:cNvSpPr/>
            <p:nvPr/>
          </p:nvSpPr>
          <p:spPr>
            <a:xfrm>
              <a:off x="8303063" y="4959329"/>
              <a:ext cx="101521" cy="70032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A66D1AE-1CA2-7351-2122-812ADA4C2AD6}"/>
                </a:ext>
              </a:extLst>
            </p:cNvPr>
            <p:cNvSpPr/>
            <p:nvPr/>
          </p:nvSpPr>
          <p:spPr>
            <a:xfrm>
              <a:off x="8311033" y="4768661"/>
              <a:ext cx="101521" cy="102341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34AF518-A068-E296-4309-D675F2BBEF6F}"/>
                </a:ext>
              </a:extLst>
            </p:cNvPr>
            <p:cNvSpPr/>
            <p:nvPr/>
          </p:nvSpPr>
          <p:spPr>
            <a:xfrm>
              <a:off x="8194998" y="4743422"/>
              <a:ext cx="303838" cy="342713"/>
            </a:xfrm>
            <a:prstGeom prst="rect">
              <a:avLst/>
            </a:prstGeom>
            <a:noFill/>
            <a:ln w="31750" cap="flat" cmpd="dbl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F1617BC-9762-1947-E675-56244775FFFA}"/>
                </a:ext>
              </a:extLst>
            </p:cNvPr>
            <p:cNvCxnSpPr/>
            <p:nvPr/>
          </p:nvCxnSpPr>
          <p:spPr>
            <a:xfrm flipV="1">
              <a:off x="8555163" y="4992315"/>
              <a:ext cx="0" cy="352467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CA7CC58-9009-6184-28C5-4505ED7E1377}"/>
                </a:ext>
              </a:extLst>
            </p:cNvPr>
            <p:cNvSpPr txBox="1"/>
            <p:nvPr/>
          </p:nvSpPr>
          <p:spPr>
            <a:xfrm>
              <a:off x="8226536" y="4620854"/>
              <a:ext cx="3914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Ukanafun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45C296B-435E-415C-7498-45E7E1628300}"/>
                </a:ext>
              </a:extLst>
            </p:cNvPr>
            <p:cNvCxnSpPr/>
            <p:nvPr/>
          </p:nvCxnSpPr>
          <p:spPr>
            <a:xfrm flipV="1">
              <a:off x="8056038" y="5340482"/>
              <a:ext cx="0" cy="42160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9AD1201-259A-55F5-5623-7FEFF4381907}"/>
                </a:ext>
              </a:extLst>
            </p:cNvPr>
            <p:cNvCxnSpPr/>
            <p:nvPr/>
          </p:nvCxnSpPr>
          <p:spPr>
            <a:xfrm>
              <a:off x="8109094" y="4619120"/>
              <a:ext cx="0" cy="370957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F86B94A-9B9D-CA1B-27A0-D74941418B30}"/>
                </a:ext>
              </a:extLst>
            </p:cNvPr>
            <p:cNvCxnSpPr>
              <a:endCxn id="107" idx="1"/>
            </p:cNvCxnSpPr>
            <p:nvPr/>
          </p:nvCxnSpPr>
          <p:spPr>
            <a:xfrm>
              <a:off x="8109094" y="4989853"/>
              <a:ext cx="193969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5DAF954-4B6A-D8F4-7805-BFAD5AF005F5}"/>
                </a:ext>
              </a:extLst>
            </p:cNvPr>
            <p:cNvCxnSpPr/>
            <p:nvPr/>
          </p:nvCxnSpPr>
          <p:spPr>
            <a:xfrm>
              <a:off x="7294234" y="4616728"/>
              <a:ext cx="81486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F53A30B-E428-EB85-2123-B8399E00A48E}"/>
                </a:ext>
              </a:extLst>
            </p:cNvPr>
            <p:cNvCxnSpPr/>
            <p:nvPr/>
          </p:nvCxnSpPr>
          <p:spPr>
            <a:xfrm flipH="1" flipV="1">
              <a:off x="7288909" y="4549971"/>
              <a:ext cx="943606" cy="2809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74382736-204E-1983-443A-56753EC0F0E5}"/>
                </a:ext>
              </a:extLst>
            </p:cNvPr>
            <p:cNvCxnSpPr/>
            <p:nvPr/>
          </p:nvCxnSpPr>
          <p:spPr>
            <a:xfrm flipH="1">
              <a:off x="8232515" y="4543276"/>
              <a:ext cx="0" cy="27493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F3E249EF-D4DF-C9F9-BB3C-DF4632B6960E}"/>
                </a:ext>
              </a:extLst>
            </p:cNvPr>
            <p:cNvCxnSpPr/>
            <p:nvPr/>
          </p:nvCxnSpPr>
          <p:spPr>
            <a:xfrm>
              <a:off x="8224159" y="4814653"/>
              <a:ext cx="14149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E8675CF-72CD-34DE-5174-22E03BF118F7}"/>
                </a:ext>
              </a:extLst>
            </p:cNvPr>
            <p:cNvCxnSpPr/>
            <p:nvPr/>
          </p:nvCxnSpPr>
          <p:spPr>
            <a:xfrm flipH="1">
              <a:off x="7919606" y="5341851"/>
              <a:ext cx="136432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52A972F-5D78-F22F-8320-371329118619}"/>
                </a:ext>
              </a:extLst>
            </p:cNvPr>
            <p:cNvSpPr/>
            <p:nvPr/>
          </p:nvSpPr>
          <p:spPr>
            <a:xfrm>
              <a:off x="4911334" y="3792790"/>
              <a:ext cx="382432" cy="21916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682B00C-94AC-6ACB-54F2-0A4AAB98850E}"/>
                </a:ext>
              </a:extLst>
            </p:cNvPr>
            <p:cNvSpPr txBox="1"/>
            <p:nvPr/>
          </p:nvSpPr>
          <p:spPr>
            <a:xfrm>
              <a:off x="5311202" y="4068632"/>
              <a:ext cx="419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Obite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4A321A1-78F6-E851-09F2-F94509DE5F6E}"/>
                </a:ext>
              </a:extLst>
            </p:cNvPr>
            <p:cNvSpPr/>
            <p:nvPr/>
          </p:nvSpPr>
          <p:spPr>
            <a:xfrm>
              <a:off x="7842873" y="5770512"/>
              <a:ext cx="359869" cy="169903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316E775-0019-DD9F-81D3-6FB0329FB3D1}"/>
                </a:ext>
              </a:extLst>
            </p:cNvPr>
            <p:cNvSpPr txBox="1"/>
            <p:nvPr/>
          </p:nvSpPr>
          <p:spPr>
            <a:xfrm>
              <a:off x="7778225" y="5730495"/>
              <a:ext cx="5281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Uquo CPF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(Savannah)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1022E2A-2467-B60F-C73A-8C872270AA2F}"/>
                </a:ext>
              </a:extLst>
            </p:cNvPr>
            <p:cNvSpPr/>
            <p:nvPr/>
          </p:nvSpPr>
          <p:spPr>
            <a:xfrm>
              <a:off x="6553922" y="3395164"/>
              <a:ext cx="287440" cy="24499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AF56026-B045-81D9-D27B-FDEB89F0620C}"/>
                </a:ext>
              </a:extLst>
            </p:cNvPr>
            <p:cNvSpPr txBox="1"/>
            <p:nvPr/>
          </p:nvSpPr>
          <p:spPr>
            <a:xfrm>
              <a:off x="6499549" y="3389670"/>
              <a:ext cx="417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(ANOH)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8CBC79D-63A0-C8D7-852B-81E587AE3FF7}"/>
                </a:ext>
              </a:extLst>
            </p:cNvPr>
            <p:cNvCxnSpPr/>
            <p:nvPr/>
          </p:nvCxnSpPr>
          <p:spPr>
            <a:xfrm flipH="1">
              <a:off x="5084552" y="4010414"/>
              <a:ext cx="0" cy="2529193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EB5712C7-947A-A83C-9444-0177949F2EE4}"/>
                </a:ext>
              </a:extLst>
            </p:cNvPr>
            <p:cNvCxnSpPr/>
            <p:nvPr/>
          </p:nvCxnSpPr>
          <p:spPr>
            <a:xfrm flipH="1">
              <a:off x="5022028" y="4010382"/>
              <a:ext cx="154" cy="189988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78F7A1D-EB16-828E-573F-D8F20D2C2377}"/>
                </a:ext>
              </a:extLst>
            </p:cNvPr>
            <p:cNvCxnSpPr/>
            <p:nvPr/>
          </p:nvCxnSpPr>
          <p:spPr>
            <a:xfrm flipV="1">
              <a:off x="5088120" y="4188749"/>
              <a:ext cx="25636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C1E3CD71-8E32-D0C0-FA50-1A93F838CEF8}"/>
                </a:ext>
              </a:extLst>
            </p:cNvPr>
            <p:cNvCxnSpPr/>
            <p:nvPr/>
          </p:nvCxnSpPr>
          <p:spPr>
            <a:xfrm flipV="1">
              <a:off x="5157262" y="4248553"/>
              <a:ext cx="1803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9D6AACF6-9544-6845-268F-D391A7C27A18}"/>
                </a:ext>
              </a:extLst>
            </p:cNvPr>
            <p:cNvCxnSpPr/>
            <p:nvPr/>
          </p:nvCxnSpPr>
          <p:spPr>
            <a:xfrm flipV="1">
              <a:off x="5157262" y="4246492"/>
              <a:ext cx="0" cy="351105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E27B304-C5EE-7480-A122-E003125A2A13}"/>
                </a:ext>
              </a:extLst>
            </p:cNvPr>
            <p:cNvCxnSpPr/>
            <p:nvPr/>
          </p:nvCxnSpPr>
          <p:spPr>
            <a:xfrm flipV="1">
              <a:off x="5020761" y="4201945"/>
              <a:ext cx="0" cy="2357609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259DB628-36B6-5D52-EB8A-13C8FBBA1934}"/>
                </a:ext>
              </a:extLst>
            </p:cNvPr>
            <p:cNvCxnSpPr/>
            <p:nvPr/>
          </p:nvCxnSpPr>
          <p:spPr>
            <a:xfrm>
              <a:off x="5027957" y="4597597"/>
              <a:ext cx="14241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EF384042-538E-9F5B-3C5A-1944404997EC}"/>
                </a:ext>
              </a:extLst>
            </p:cNvPr>
            <p:cNvCxnSpPr/>
            <p:nvPr/>
          </p:nvCxnSpPr>
          <p:spPr>
            <a:xfrm flipV="1">
              <a:off x="5147014" y="4597597"/>
              <a:ext cx="448296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97F720F-5268-6BAC-94CC-3B0ABFFBC59D}"/>
                </a:ext>
              </a:extLst>
            </p:cNvPr>
            <p:cNvCxnSpPr/>
            <p:nvPr/>
          </p:nvCxnSpPr>
          <p:spPr>
            <a:xfrm>
              <a:off x="6266107" y="4211354"/>
              <a:ext cx="1564427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952C7F3B-1002-3915-837C-9437E579FB61}"/>
                </a:ext>
              </a:extLst>
            </p:cNvPr>
            <p:cNvCxnSpPr/>
            <p:nvPr/>
          </p:nvCxnSpPr>
          <p:spPr>
            <a:xfrm flipH="1">
              <a:off x="6595584" y="4232791"/>
              <a:ext cx="124118" cy="293211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tailEnd type="none"/>
            </a:ln>
            <a:effectLst/>
          </p:spPr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D7B4665-A8FF-76AE-4774-A601D2996875}"/>
                </a:ext>
              </a:extLst>
            </p:cNvPr>
            <p:cNvCxnSpPr>
              <a:stCxn id="599" idx="2"/>
            </p:cNvCxnSpPr>
            <p:nvPr/>
          </p:nvCxnSpPr>
          <p:spPr>
            <a:xfrm flipH="1">
              <a:off x="6744204" y="3183312"/>
              <a:ext cx="678029" cy="986776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137" name="Isosceles Triangle 136">
              <a:extLst>
                <a:ext uri="{FF2B5EF4-FFF2-40B4-BE49-F238E27FC236}">
                  <a16:creationId xmlns:a16="http://schemas.microsoft.com/office/drawing/2014/main" id="{B4B3ADAE-DB86-9835-FE5F-2CBFFAC7117C}"/>
                </a:ext>
              </a:extLst>
            </p:cNvPr>
            <p:cNvSpPr/>
            <p:nvPr/>
          </p:nvSpPr>
          <p:spPr>
            <a:xfrm>
              <a:off x="8316843" y="3693238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314BA38-F08E-69EB-50EC-AB63950C0141}"/>
                </a:ext>
              </a:extLst>
            </p:cNvPr>
            <p:cNvCxnSpPr/>
            <p:nvPr/>
          </p:nvCxnSpPr>
          <p:spPr>
            <a:xfrm flipH="1" flipV="1">
              <a:off x="8071891" y="3749973"/>
              <a:ext cx="243525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FC95F51-0A7C-1F31-261A-449FF4C0493B}"/>
                </a:ext>
              </a:extLst>
            </p:cNvPr>
            <p:cNvCxnSpPr/>
            <p:nvPr/>
          </p:nvCxnSpPr>
          <p:spPr>
            <a:xfrm>
              <a:off x="7936529" y="4005015"/>
              <a:ext cx="2" cy="142071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7899B5D4-F837-362E-D324-C53D28514165}"/>
                </a:ext>
              </a:extLst>
            </p:cNvPr>
            <p:cNvCxnSpPr/>
            <p:nvPr/>
          </p:nvCxnSpPr>
          <p:spPr>
            <a:xfrm flipV="1">
              <a:off x="7446634" y="4210391"/>
              <a:ext cx="0" cy="23539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632CB5F5-3C43-DBD9-952A-51E226C4A9D6}"/>
                </a:ext>
              </a:extLst>
            </p:cNvPr>
            <p:cNvCxnSpPr/>
            <p:nvPr/>
          </p:nvCxnSpPr>
          <p:spPr>
            <a:xfrm flipV="1">
              <a:off x="7297598" y="4444102"/>
              <a:ext cx="15240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52CA1B54-95CD-D74A-F1FE-021DCB7845D4}"/>
                </a:ext>
              </a:extLst>
            </p:cNvPr>
            <p:cNvCxnSpPr/>
            <p:nvPr/>
          </p:nvCxnSpPr>
          <p:spPr>
            <a:xfrm>
              <a:off x="5946323" y="2678533"/>
              <a:ext cx="1493526" cy="501528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00879F5-7887-EE66-28D4-115813CA5A70}"/>
                </a:ext>
              </a:extLst>
            </p:cNvPr>
            <p:cNvSpPr txBox="1"/>
            <p:nvPr/>
          </p:nvSpPr>
          <p:spPr>
            <a:xfrm>
              <a:off x="7288908" y="3022019"/>
              <a:ext cx="284657" cy="16927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6FC9D49-9CA9-EAE7-F60C-AA531CA8AFA4}"/>
                </a:ext>
              </a:extLst>
            </p:cNvPr>
            <p:cNvSpPr txBox="1"/>
            <p:nvPr/>
          </p:nvSpPr>
          <p:spPr>
            <a:xfrm>
              <a:off x="5568313" y="2550319"/>
              <a:ext cx="383438" cy="18466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Enugu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DFB54EE5-E88B-FCF8-6F25-9B9BE438CB45}"/>
                </a:ext>
              </a:extLst>
            </p:cNvPr>
            <p:cNvCxnSpPr/>
            <p:nvPr/>
          </p:nvCxnSpPr>
          <p:spPr>
            <a:xfrm>
              <a:off x="3899924" y="1940462"/>
              <a:ext cx="193890" cy="185882"/>
            </a:xfrm>
            <a:prstGeom prst="straightConnector1">
              <a:avLst/>
            </a:prstGeom>
            <a:noFill/>
            <a:ln w="15875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4FBF754-EC15-F6B8-EA1E-9C812F3A5769}"/>
                </a:ext>
              </a:extLst>
            </p:cNvPr>
            <p:cNvSpPr txBox="1"/>
            <p:nvPr/>
          </p:nvSpPr>
          <p:spPr>
            <a:xfrm>
              <a:off x="4096663" y="2043628"/>
              <a:ext cx="438355" cy="230832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Ajaokuta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MS/TGS/CS</a:t>
              </a:r>
            </a:p>
          </p:txBody>
        </p: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4360123C-0684-3912-FB67-88771508888F}"/>
                </a:ext>
              </a:extLst>
            </p:cNvPr>
            <p:cNvCxnSpPr>
              <a:stCxn id="146" idx="3"/>
            </p:cNvCxnSpPr>
            <p:nvPr/>
          </p:nvCxnSpPr>
          <p:spPr>
            <a:xfrm>
              <a:off x="4535018" y="2159044"/>
              <a:ext cx="1060292" cy="428878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headEnd type="triangle"/>
              <a:tailEnd type="none"/>
            </a:ln>
            <a:effectLst/>
          </p:spPr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D5EE1B84-FA99-0779-693D-540EA2107C25}"/>
                </a:ext>
              </a:extLst>
            </p:cNvPr>
            <p:cNvCxnSpPr/>
            <p:nvPr/>
          </p:nvCxnSpPr>
          <p:spPr>
            <a:xfrm flipH="1">
              <a:off x="4392546" y="401846"/>
              <a:ext cx="2613850" cy="1645695"/>
            </a:xfrm>
            <a:prstGeom prst="straightConnector1">
              <a:avLst/>
            </a:prstGeom>
            <a:noFill/>
            <a:ln w="19050" cap="flat" cmpd="dbl" algn="ctr">
              <a:solidFill>
                <a:srgbClr val="7030A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216BBC9E-CF49-F4C5-31CD-0D34240F3FF4}"/>
                </a:ext>
              </a:extLst>
            </p:cNvPr>
            <p:cNvSpPr/>
            <p:nvPr/>
          </p:nvSpPr>
          <p:spPr>
            <a:xfrm>
              <a:off x="4921676" y="1200505"/>
              <a:ext cx="165014" cy="102341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37E4F1C-0ED7-7E48-2B95-5946BA2A3510}"/>
                </a:ext>
              </a:extLst>
            </p:cNvPr>
            <p:cNvSpPr/>
            <p:nvPr/>
          </p:nvSpPr>
          <p:spPr>
            <a:xfrm>
              <a:off x="5814931" y="1107449"/>
              <a:ext cx="55285" cy="45719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51" name="Isosceles Triangle 150">
              <a:extLst>
                <a:ext uri="{FF2B5EF4-FFF2-40B4-BE49-F238E27FC236}">
                  <a16:creationId xmlns:a16="http://schemas.microsoft.com/office/drawing/2014/main" id="{ECEA4E21-4B3B-6964-0B59-A95942A17F06}"/>
                </a:ext>
              </a:extLst>
            </p:cNvPr>
            <p:cNvSpPr/>
            <p:nvPr/>
          </p:nvSpPr>
          <p:spPr>
            <a:xfrm>
              <a:off x="4894418" y="917249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2EBC0CE5-D3DD-3CC3-53DD-E7D3B7E11066}"/>
                </a:ext>
              </a:extLst>
            </p:cNvPr>
            <p:cNvCxnSpPr/>
            <p:nvPr/>
          </p:nvCxnSpPr>
          <p:spPr>
            <a:xfrm flipH="1" flipV="1">
              <a:off x="4812531" y="1240689"/>
              <a:ext cx="106396" cy="19640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CBDBC701-2698-D66B-56F1-2D9745B55501}"/>
                </a:ext>
              </a:extLst>
            </p:cNvPr>
            <p:cNvSpPr/>
            <p:nvPr/>
          </p:nvSpPr>
          <p:spPr>
            <a:xfrm>
              <a:off x="6145811" y="1240398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CC00620-BFD1-9C06-F0B7-EA6D872A18E5}"/>
                </a:ext>
              </a:extLst>
            </p:cNvPr>
            <p:cNvCxnSpPr/>
            <p:nvPr/>
          </p:nvCxnSpPr>
          <p:spPr>
            <a:xfrm>
              <a:off x="5852644" y="1144960"/>
              <a:ext cx="55763" cy="108357"/>
            </a:xfrm>
            <a:prstGeom prst="straightConnector1">
              <a:avLst/>
            </a:prstGeom>
            <a:noFill/>
            <a:ln w="19050" cap="flat" cmpd="dbl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155" name="Isosceles Triangle 154">
              <a:extLst>
                <a:ext uri="{FF2B5EF4-FFF2-40B4-BE49-F238E27FC236}">
                  <a16:creationId xmlns:a16="http://schemas.microsoft.com/office/drawing/2014/main" id="{B1C6F0AC-37C2-17F6-F56C-73E8937FCF8E}"/>
                </a:ext>
              </a:extLst>
            </p:cNvPr>
            <p:cNvSpPr/>
            <p:nvPr/>
          </p:nvSpPr>
          <p:spPr>
            <a:xfrm>
              <a:off x="7027346" y="659581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ED87A12E-7213-CE22-4685-141AD46CDA16}"/>
                </a:ext>
              </a:extLst>
            </p:cNvPr>
            <p:cNvCxnSpPr/>
            <p:nvPr/>
          </p:nvCxnSpPr>
          <p:spPr>
            <a:xfrm>
              <a:off x="6780470" y="554076"/>
              <a:ext cx="272788" cy="151028"/>
            </a:xfrm>
            <a:prstGeom prst="straightConnector1">
              <a:avLst/>
            </a:prstGeom>
            <a:noFill/>
            <a:ln w="2540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A514984-2873-6830-ED63-913E0B211BEA}"/>
                </a:ext>
              </a:extLst>
            </p:cNvPr>
            <p:cNvSpPr/>
            <p:nvPr/>
          </p:nvSpPr>
          <p:spPr>
            <a:xfrm>
              <a:off x="4790232" y="6579521"/>
              <a:ext cx="551282" cy="219166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0F4D51D-C8F9-9E3C-A373-A79E825917CF}"/>
                </a:ext>
              </a:extLst>
            </p:cNvPr>
            <p:cNvSpPr txBox="1"/>
            <p:nvPr/>
          </p:nvSpPr>
          <p:spPr>
            <a:xfrm>
              <a:off x="4766462" y="6557165"/>
              <a:ext cx="549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NLNG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Bonny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1BFA79E-3AE3-3647-D430-2C565261A73D}"/>
                </a:ext>
              </a:extLst>
            </p:cNvPr>
            <p:cNvSpPr/>
            <p:nvPr/>
          </p:nvSpPr>
          <p:spPr>
            <a:xfrm>
              <a:off x="4989531" y="4516269"/>
              <a:ext cx="225729" cy="151653"/>
            </a:xfrm>
            <a:prstGeom prst="rect">
              <a:avLst/>
            </a:prstGeom>
            <a:noFill/>
            <a:ln w="31750" cap="flat" cmpd="dbl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4DF1EF3-C801-20EA-0EFA-516B846D6244}"/>
                </a:ext>
              </a:extLst>
            </p:cNvPr>
            <p:cNvSpPr/>
            <p:nvPr/>
          </p:nvSpPr>
          <p:spPr>
            <a:xfrm>
              <a:off x="4980183" y="4144108"/>
              <a:ext cx="225729" cy="151653"/>
            </a:xfrm>
            <a:prstGeom prst="rect">
              <a:avLst/>
            </a:prstGeom>
            <a:noFill/>
            <a:ln w="31750" cap="flat" cmpd="dbl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FE9E55A-D340-E2A9-6AB7-69941E756DA2}"/>
                </a:ext>
              </a:extLst>
            </p:cNvPr>
            <p:cNvSpPr txBox="1"/>
            <p:nvPr/>
          </p:nvSpPr>
          <p:spPr>
            <a:xfrm>
              <a:off x="4734056" y="4143259"/>
              <a:ext cx="31451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Ubeta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3729A415-909E-68B1-17FB-2250426C4AE8}"/>
                </a:ext>
              </a:extLst>
            </p:cNvPr>
            <p:cNvSpPr txBox="1"/>
            <p:nvPr/>
          </p:nvSpPr>
          <p:spPr>
            <a:xfrm>
              <a:off x="4728568" y="4498163"/>
              <a:ext cx="33534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Rumuji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E4E1B30-5282-B559-654C-CA5D17982CBF}"/>
                </a:ext>
              </a:extLst>
            </p:cNvPr>
            <p:cNvSpPr txBox="1"/>
            <p:nvPr/>
          </p:nvSpPr>
          <p:spPr>
            <a:xfrm rot="5400000">
              <a:off x="5047299" y="4327306"/>
              <a:ext cx="2824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OUR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123CDA-B95E-A751-CDCA-8FEBAF05ADA6}"/>
                </a:ext>
              </a:extLst>
            </p:cNvPr>
            <p:cNvSpPr txBox="1"/>
            <p:nvPr/>
          </p:nvSpPr>
          <p:spPr>
            <a:xfrm rot="5400000">
              <a:off x="4958097" y="5974506"/>
              <a:ext cx="33374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GTS 1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63D9D69-DF51-294D-DE59-10CD40953031}"/>
                </a:ext>
              </a:extLst>
            </p:cNvPr>
            <p:cNvSpPr txBox="1"/>
            <p:nvPr/>
          </p:nvSpPr>
          <p:spPr>
            <a:xfrm>
              <a:off x="4764442" y="5077389"/>
              <a:ext cx="33374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GTS 4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FEC87AB-2CCE-C75B-7C24-216ABFA3797C}"/>
                </a:ext>
              </a:extLst>
            </p:cNvPr>
            <p:cNvSpPr/>
            <p:nvPr/>
          </p:nvSpPr>
          <p:spPr>
            <a:xfrm>
              <a:off x="3310426" y="4992314"/>
              <a:ext cx="259014" cy="15167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88CEF91-6E4B-AA09-F834-7EF335978486}"/>
                </a:ext>
              </a:extLst>
            </p:cNvPr>
            <p:cNvSpPr txBox="1"/>
            <p:nvPr/>
          </p:nvSpPr>
          <p:spPr>
            <a:xfrm>
              <a:off x="3240324" y="4962111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Odidi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DEAD584-3FE8-2CD3-19F9-2EEF7A1C82CE}"/>
                </a:ext>
              </a:extLst>
            </p:cNvPr>
            <p:cNvCxnSpPr/>
            <p:nvPr/>
          </p:nvCxnSpPr>
          <p:spPr>
            <a:xfrm flipH="1">
              <a:off x="1521503" y="3536293"/>
              <a:ext cx="325562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6EDFA23-24AB-8FF5-D299-C127FDE6DC4D}"/>
                </a:ext>
              </a:extLst>
            </p:cNvPr>
            <p:cNvCxnSpPr/>
            <p:nvPr/>
          </p:nvCxnSpPr>
          <p:spPr>
            <a:xfrm flipH="1">
              <a:off x="1071603" y="3536293"/>
              <a:ext cx="146506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53895E74-E839-1203-0061-2BF7461A170C}"/>
                </a:ext>
              </a:extLst>
            </p:cNvPr>
            <p:cNvSpPr/>
            <p:nvPr/>
          </p:nvSpPr>
          <p:spPr>
            <a:xfrm>
              <a:off x="7632426" y="5228892"/>
              <a:ext cx="271408" cy="181308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992FE9D5-BECD-18D6-5792-D24A7925BC7D}"/>
                </a:ext>
              </a:extLst>
            </p:cNvPr>
            <p:cNvSpPr txBox="1"/>
            <p:nvPr/>
          </p:nvSpPr>
          <p:spPr>
            <a:xfrm>
              <a:off x="7526718" y="5173753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Ikot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Abasi </a:t>
              </a: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A455B70-EFB9-EE94-F8A7-030BBD43AF8D}"/>
                </a:ext>
              </a:extLst>
            </p:cNvPr>
            <p:cNvCxnSpPr/>
            <p:nvPr/>
          </p:nvCxnSpPr>
          <p:spPr>
            <a:xfrm flipV="1">
              <a:off x="7913435" y="5019614"/>
              <a:ext cx="392950" cy="30608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6FC1992-48D9-3798-A382-D58EBFC551F6}"/>
                </a:ext>
              </a:extLst>
            </p:cNvPr>
            <p:cNvCxnSpPr/>
            <p:nvPr/>
          </p:nvCxnSpPr>
          <p:spPr>
            <a:xfrm flipH="1">
              <a:off x="8410709" y="4816294"/>
              <a:ext cx="289217" cy="200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D9D604D-E87A-C52B-AC65-5D74CADB63AA}"/>
                </a:ext>
              </a:extLst>
            </p:cNvPr>
            <p:cNvSpPr/>
            <p:nvPr/>
          </p:nvSpPr>
          <p:spPr>
            <a:xfrm>
              <a:off x="8828153" y="6450387"/>
              <a:ext cx="319971" cy="21916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728C47E-91BD-A9CE-8164-A1B34AE712B1}"/>
                </a:ext>
              </a:extLst>
            </p:cNvPr>
            <p:cNvSpPr txBox="1"/>
            <p:nvPr/>
          </p:nvSpPr>
          <p:spPr>
            <a:xfrm>
              <a:off x="8715691" y="6397789"/>
              <a:ext cx="545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Oso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Platform</a:t>
              </a:r>
            </a:p>
          </p:txBody>
        </p: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EDD7F4E-EA81-7C9B-DF44-00B3FA739FC2}"/>
                </a:ext>
              </a:extLst>
            </p:cNvPr>
            <p:cNvCxnSpPr/>
            <p:nvPr/>
          </p:nvCxnSpPr>
          <p:spPr>
            <a:xfrm flipH="1" flipV="1">
              <a:off x="8733316" y="6169015"/>
              <a:ext cx="219356" cy="2700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headEnd type="none"/>
              <a:tailEnd type="triangle"/>
            </a:ln>
            <a:effectLst/>
          </p:spPr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07BC3048-8031-45A2-8875-31FDB5F6F665}"/>
                </a:ext>
              </a:extLst>
            </p:cNvPr>
            <p:cNvCxnSpPr/>
            <p:nvPr/>
          </p:nvCxnSpPr>
          <p:spPr>
            <a:xfrm>
              <a:off x="7569870" y="3143102"/>
              <a:ext cx="1517122" cy="709532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648265B6-3AA8-FDF9-4D30-560ED24FA166}"/>
                </a:ext>
              </a:extLst>
            </p:cNvPr>
            <p:cNvSpPr/>
            <p:nvPr/>
          </p:nvSpPr>
          <p:spPr>
            <a:xfrm>
              <a:off x="8458634" y="5331956"/>
              <a:ext cx="193059" cy="13434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418E5DEF-4405-916E-9312-CD62D6D6AB93}"/>
                </a:ext>
              </a:extLst>
            </p:cNvPr>
            <p:cNvSpPr txBox="1"/>
            <p:nvPr/>
          </p:nvSpPr>
          <p:spPr>
            <a:xfrm>
              <a:off x="8363717" y="5284527"/>
              <a:ext cx="365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Calabar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MS)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926F270-3A2C-1251-46E6-18D22664EAE1}"/>
                </a:ext>
              </a:extLst>
            </p:cNvPr>
            <p:cNvSpPr txBox="1"/>
            <p:nvPr/>
          </p:nvSpPr>
          <p:spPr>
            <a:xfrm>
              <a:off x="9172330" y="5006792"/>
              <a:ext cx="193396" cy="153888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EE7ACB1-C640-184C-A7AF-19A56AC1C098}"/>
                </a:ext>
              </a:extLst>
            </p:cNvPr>
            <p:cNvSpPr txBox="1"/>
            <p:nvPr/>
          </p:nvSpPr>
          <p:spPr>
            <a:xfrm>
              <a:off x="9083532" y="3777400"/>
              <a:ext cx="216682" cy="184666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4D6FA081-956E-73BA-BAD2-658B86E2C54D}"/>
                </a:ext>
              </a:extLst>
            </p:cNvPr>
            <p:cNvCxnSpPr>
              <a:endCxn id="181" idx="2"/>
            </p:cNvCxnSpPr>
            <p:nvPr/>
          </p:nvCxnSpPr>
          <p:spPr>
            <a:xfrm flipH="1" flipV="1">
              <a:off x="9191873" y="3962066"/>
              <a:ext cx="71122" cy="1114912"/>
            </a:xfrm>
            <a:prstGeom prst="straightConnector1">
              <a:avLst/>
            </a:prstGeom>
            <a:noFill/>
            <a:ln w="19050" cap="flat" cmpd="sng" algn="ctr">
              <a:solidFill>
                <a:srgbClr val="00B0F0"/>
              </a:solidFill>
              <a:prstDash val="sysDash"/>
              <a:tailEnd type="triangle"/>
            </a:ln>
            <a:effectLst/>
          </p:spPr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C365320E-1FCB-58C3-3EA1-7EEFBF406289}"/>
                </a:ext>
              </a:extLst>
            </p:cNvPr>
            <p:cNvSpPr txBox="1"/>
            <p:nvPr/>
          </p:nvSpPr>
          <p:spPr>
            <a:xfrm rot="20009911">
              <a:off x="5802707" y="4256138"/>
              <a:ext cx="33054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NOPL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04EE79F-38F5-2EE8-D591-C64E4CC7834E}"/>
                </a:ext>
              </a:extLst>
            </p:cNvPr>
            <p:cNvSpPr txBox="1"/>
            <p:nvPr/>
          </p:nvSpPr>
          <p:spPr>
            <a:xfrm>
              <a:off x="6930511" y="781422"/>
              <a:ext cx="373821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Kano IPP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DBDC324-BB28-711E-58D2-6DAEA0DFB375}"/>
                </a:ext>
              </a:extLst>
            </p:cNvPr>
            <p:cNvSpPr txBox="1"/>
            <p:nvPr/>
          </p:nvSpPr>
          <p:spPr>
            <a:xfrm>
              <a:off x="6028885" y="1365735"/>
              <a:ext cx="4267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Kaduna IPP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9CBC942-B396-6B32-D4F1-52728A0D7698}"/>
                </a:ext>
              </a:extLst>
            </p:cNvPr>
            <p:cNvSpPr txBox="1"/>
            <p:nvPr/>
          </p:nvSpPr>
          <p:spPr>
            <a:xfrm>
              <a:off x="4936316" y="877934"/>
              <a:ext cx="38824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Abuja IPP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7240910-16CA-0B93-531A-D30E7862AAFA}"/>
                </a:ext>
              </a:extLst>
            </p:cNvPr>
            <p:cNvSpPr txBox="1"/>
            <p:nvPr/>
          </p:nvSpPr>
          <p:spPr>
            <a:xfrm>
              <a:off x="5144400" y="1494069"/>
              <a:ext cx="33855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Abuja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FE90894-2F28-C5E9-73D1-1738CCAF5078}"/>
                </a:ext>
              </a:extLst>
            </p:cNvPr>
            <p:cNvSpPr txBox="1"/>
            <p:nvPr/>
          </p:nvSpPr>
          <p:spPr>
            <a:xfrm>
              <a:off x="5576456" y="945750"/>
              <a:ext cx="38504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Kaduna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B9504F65-AFA2-CE7A-4B02-04F2D7B4D45B}"/>
                </a:ext>
              </a:extLst>
            </p:cNvPr>
            <p:cNvSpPr txBox="1"/>
            <p:nvPr/>
          </p:nvSpPr>
          <p:spPr>
            <a:xfrm>
              <a:off x="6935283" y="209378"/>
              <a:ext cx="32092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Kano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CCE29BF-5A67-B201-063B-AFB41B9BBA21}"/>
                </a:ext>
              </a:extLst>
            </p:cNvPr>
            <p:cNvSpPr txBox="1"/>
            <p:nvPr/>
          </p:nvSpPr>
          <p:spPr>
            <a:xfrm>
              <a:off x="4005642" y="1631928"/>
              <a:ext cx="48603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Geregu PP  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EF2E393-F4C0-2057-CE9C-62FC0DA2D649}"/>
                </a:ext>
              </a:extLst>
            </p:cNvPr>
            <p:cNvSpPr/>
            <p:nvPr/>
          </p:nvSpPr>
          <p:spPr>
            <a:xfrm>
              <a:off x="2604004" y="5328664"/>
              <a:ext cx="261702" cy="133143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7523D0E6-1F3F-A0DA-1492-5B08465844FA}"/>
                </a:ext>
              </a:extLst>
            </p:cNvPr>
            <p:cNvSpPr txBox="1"/>
            <p:nvPr/>
          </p:nvSpPr>
          <p:spPr>
            <a:xfrm>
              <a:off x="2464106" y="5282564"/>
              <a:ext cx="53824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F. Yokri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S. Swamp</a:t>
              </a:r>
            </a:p>
          </p:txBody>
        </p: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B994E8BB-EF74-07D5-40BB-A2F818CC8F6A}"/>
                </a:ext>
              </a:extLst>
            </p:cNvPr>
            <p:cNvCxnSpPr/>
            <p:nvPr/>
          </p:nvCxnSpPr>
          <p:spPr>
            <a:xfrm flipV="1">
              <a:off x="2793875" y="4930785"/>
              <a:ext cx="255591" cy="40486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5F10287A-B868-FCC5-4B37-3B1B8EBA3120}"/>
                </a:ext>
              </a:extLst>
            </p:cNvPr>
            <p:cNvCxnSpPr/>
            <p:nvPr/>
          </p:nvCxnSpPr>
          <p:spPr>
            <a:xfrm flipH="1" flipV="1">
              <a:off x="2912500" y="5157879"/>
              <a:ext cx="155834" cy="60552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AD61CFE2-D8E0-8788-F700-1E908F9D4E3F}"/>
                </a:ext>
              </a:extLst>
            </p:cNvPr>
            <p:cNvSpPr/>
            <p:nvPr/>
          </p:nvSpPr>
          <p:spPr>
            <a:xfrm>
              <a:off x="2874606" y="5755921"/>
              <a:ext cx="244958" cy="141970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96071B2-F9C9-313A-1073-F585706E2653}"/>
                </a:ext>
              </a:extLst>
            </p:cNvPr>
            <p:cNvSpPr txBox="1"/>
            <p:nvPr/>
          </p:nvSpPr>
          <p:spPr>
            <a:xfrm>
              <a:off x="2768853" y="5716729"/>
              <a:ext cx="4780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Giga Gas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CPF</a:t>
              </a:r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60A739B9-1269-692C-4B2E-609C0ED9FD1F}"/>
                </a:ext>
              </a:extLst>
            </p:cNvPr>
            <p:cNvCxnSpPr/>
            <p:nvPr/>
          </p:nvCxnSpPr>
          <p:spPr>
            <a:xfrm flipH="1">
              <a:off x="3280745" y="4849592"/>
              <a:ext cx="130436" cy="290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360601E2-5432-8213-D822-F2D1B56B0608}"/>
                </a:ext>
              </a:extLst>
            </p:cNvPr>
            <p:cNvSpPr/>
            <p:nvPr/>
          </p:nvSpPr>
          <p:spPr>
            <a:xfrm>
              <a:off x="2471967" y="5064543"/>
              <a:ext cx="269411" cy="14557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4A93F9EA-B656-72F3-0182-BDCA00792A46}"/>
                </a:ext>
              </a:extLst>
            </p:cNvPr>
            <p:cNvSpPr txBox="1"/>
            <p:nvPr/>
          </p:nvSpPr>
          <p:spPr>
            <a:xfrm>
              <a:off x="2371653" y="5036026"/>
              <a:ext cx="4519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WEND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CPF</a:t>
              </a: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30EC6BA5-1DFF-1B57-9193-3FE3BE5D59D0}"/>
                </a:ext>
              </a:extLst>
            </p:cNvPr>
            <p:cNvCxnSpPr/>
            <p:nvPr/>
          </p:nvCxnSpPr>
          <p:spPr>
            <a:xfrm flipV="1">
              <a:off x="2567227" y="4919975"/>
              <a:ext cx="0" cy="13402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8BC050EE-85D5-F1D2-8622-BF6BC9DDF67F}"/>
                </a:ext>
              </a:extLst>
            </p:cNvPr>
            <p:cNvCxnSpPr/>
            <p:nvPr/>
          </p:nvCxnSpPr>
          <p:spPr>
            <a:xfrm>
              <a:off x="2204245" y="4890234"/>
              <a:ext cx="19495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CC6BBEC3-A5C8-3A24-1FE4-7669B1DF2BE4}"/>
                </a:ext>
              </a:extLst>
            </p:cNvPr>
            <p:cNvCxnSpPr/>
            <p:nvPr/>
          </p:nvCxnSpPr>
          <p:spPr>
            <a:xfrm flipV="1">
              <a:off x="2211270" y="4779787"/>
              <a:ext cx="193764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55A5B62-EB5E-8151-6714-73B40856CEAB}"/>
                </a:ext>
              </a:extLst>
            </p:cNvPr>
            <p:cNvSpPr/>
            <p:nvPr/>
          </p:nvSpPr>
          <p:spPr>
            <a:xfrm>
              <a:off x="2588017" y="2889476"/>
              <a:ext cx="307106" cy="18212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EA2DF13-9695-C831-A5BB-AD38E527689F}"/>
                </a:ext>
              </a:extLst>
            </p:cNvPr>
            <p:cNvSpPr/>
            <p:nvPr/>
          </p:nvSpPr>
          <p:spPr>
            <a:xfrm>
              <a:off x="2700051" y="3112155"/>
              <a:ext cx="312574" cy="21919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7A15B4BF-0B99-7D42-2795-F49A8D043FAA}"/>
                </a:ext>
              </a:extLst>
            </p:cNvPr>
            <p:cNvCxnSpPr/>
            <p:nvPr/>
          </p:nvCxnSpPr>
          <p:spPr>
            <a:xfrm flipH="1">
              <a:off x="2660225" y="3061464"/>
              <a:ext cx="0" cy="38856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8180E17D-CCF2-ABF2-CA7D-C8ECDA58615A}"/>
                </a:ext>
              </a:extLst>
            </p:cNvPr>
            <p:cNvCxnSpPr/>
            <p:nvPr/>
          </p:nvCxnSpPr>
          <p:spPr>
            <a:xfrm>
              <a:off x="2864652" y="3339452"/>
              <a:ext cx="0" cy="11174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07" name="Trapezoid 206">
              <a:extLst>
                <a:ext uri="{FF2B5EF4-FFF2-40B4-BE49-F238E27FC236}">
                  <a16:creationId xmlns:a16="http://schemas.microsoft.com/office/drawing/2014/main" id="{220ED923-9C5C-09CE-AAE1-658F0FA6087C}"/>
                </a:ext>
              </a:extLst>
            </p:cNvPr>
            <p:cNvSpPr/>
            <p:nvPr/>
          </p:nvSpPr>
          <p:spPr>
            <a:xfrm rot="16200000">
              <a:off x="2227192" y="3407385"/>
              <a:ext cx="232800" cy="188503"/>
            </a:xfrm>
            <a:prstGeom prst="trapezoid">
              <a:avLst/>
            </a:prstGeom>
            <a:solidFill>
              <a:srgbClr val="FFFF00"/>
            </a:solidFill>
            <a:ln w="1905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D87578AC-405C-3A3F-2BD8-A1518A17D301}"/>
                </a:ext>
              </a:extLst>
            </p:cNvPr>
            <p:cNvSpPr txBox="1"/>
            <p:nvPr/>
          </p:nvSpPr>
          <p:spPr>
            <a:xfrm>
              <a:off x="2204829" y="3417851"/>
              <a:ext cx="30008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CS1</a:t>
              </a:r>
            </a:p>
          </p:txBody>
        </p:sp>
        <p:sp>
          <p:nvSpPr>
            <p:cNvPr id="209" name="Trapezoid 208">
              <a:extLst>
                <a:ext uri="{FF2B5EF4-FFF2-40B4-BE49-F238E27FC236}">
                  <a16:creationId xmlns:a16="http://schemas.microsoft.com/office/drawing/2014/main" id="{D839B5D0-3404-435B-0785-2585C20A2451}"/>
                </a:ext>
              </a:extLst>
            </p:cNvPr>
            <p:cNvSpPr/>
            <p:nvPr/>
          </p:nvSpPr>
          <p:spPr>
            <a:xfrm rot="16200000">
              <a:off x="1788851" y="3414702"/>
              <a:ext cx="199530" cy="163949"/>
            </a:xfrm>
            <a:prstGeom prst="trapezoid">
              <a:avLst/>
            </a:prstGeom>
            <a:solidFill>
              <a:srgbClr val="FFFF00"/>
            </a:solidFill>
            <a:ln w="15875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DB13BE3-DC5E-3AD9-03DE-E1418A14F1A4}"/>
                </a:ext>
              </a:extLst>
            </p:cNvPr>
            <p:cNvSpPr txBox="1"/>
            <p:nvPr/>
          </p:nvSpPr>
          <p:spPr>
            <a:xfrm>
              <a:off x="1734729" y="3414378"/>
              <a:ext cx="30008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CS2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420C6BB6-8C1D-A59C-9DB0-2457C04ABAF3}"/>
                </a:ext>
              </a:extLst>
            </p:cNvPr>
            <p:cNvSpPr/>
            <p:nvPr/>
          </p:nvSpPr>
          <p:spPr>
            <a:xfrm>
              <a:off x="3383375" y="4419600"/>
              <a:ext cx="334985" cy="1940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7CF87297-F53F-CF4A-D503-743F8C5CD3FA}"/>
                </a:ext>
              </a:extLst>
            </p:cNvPr>
            <p:cNvCxnSpPr/>
            <p:nvPr/>
          </p:nvCxnSpPr>
          <p:spPr>
            <a:xfrm flipH="1" flipV="1">
              <a:off x="3234499" y="4164893"/>
              <a:ext cx="280171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03378898-5A26-FC7F-AE22-530CC37C6369}"/>
                </a:ext>
              </a:extLst>
            </p:cNvPr>
            <p:cNvSpPr/>
            <p:nvPr/>
          </p:nvSpPr>
          <p:spPr>
            <a:xfrm>
              <a:off x="3928000" y="4530637"/>
              <a:ext cx="115463" cy="116534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AA5D2707-D495-192C-76D6-CF7ED4CD4263}"/>
                </a:ext>
              </a:extLst>
            </p:cNvPr>
            <p:cNvCxnSpPr/>
            <p:nvPr/>
          </p:nvCxnSpPr>
          <p:spPr>
            <a:xfrm>
              <a:off x="3515201" y="4342637"/>
              <a:ext cx="270136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16" name="Isosceles Triangle 215">
              <a:extLst>
                <a:ext uri="{FF2B5EF4-FFF2-40B4-BE49-F238E27FC236}">
                  <a16:creationId xmlns:a16="http://schemas.microsoft.com/office/drawing/2014/main" id="{C9BA1685-92FE-0DD0-909F-B5D4FD26758E}"/>
                </a:ext>
              </a:extLst>
            </p:cNvPr>
            <p:cNvSpPr/>
            <p:nvPr/>
          </p:nvSpPr>
          <p:spPr>
            <a:xfrm>
              <a:off x="736727" y="2360233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3D5B0272-3A06-6D21-613D-473FBD329C8D}"/>
                </a:ext>
              </a:extLst>
            </p:cNvPr>
            <p:cNvSpPr/>
            <p:nvPr/>
          </p:nvSpPr>
          <p:spPr>
            <a:xfrm>
              <a:off x="897701" y="2674697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35BE8F14-F476-AD69-B1DF-69CC1D5C65B4}"/>
                </a:ext>
              </a:extLst>
            </p:cNvPr>
            <p:cNvSpPr/>
            <p:nvPr/>
          </p:nvSpPr>
          <p:spPr>
            <a:xfrm>
              <a:off x="2099195" y="3107958"/>
              <a:ext cx="103615" cy="94697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ABFC76AE-908D-E276-F753-9BEBFAF2FEAB}"/>
                </a:ext>
              </a:extLst>
            </p:cNvPr>
            <p:cNvCxnSpPr>
              <a:endCxn id="216" idx="2"/>
            </p:cNvCxnSpPr>
            <p:nvPr/>
          </p:nvCxnSpPr>
          <p:spPr>
            <a:xfrm flipV="1">
              <a:off x="536926" y="2512633"/>
              <a:ext cx="199801" cy="86521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EF842753-1271-D4B7-D193-37521E2AC1FB}"/>
                </a:ext>
              </a:extLst>
            </p:cNvPr>
            <p:cNvCxnSpPr/>
            <p:nvPr/>
          </p:nvCxnSpPr>
          <p:spPr>
            <a:xfrm flipH="1" flipV="1">
              <a:off x="916272" y="2863511"/>
              <a:ext cx="62201" cy="52364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0348FAB6-FAF7-7B08-A714-7B96F2E6EAF6}"/>
                </a:ext>
              </a:extLst>
            </p:cNvPr>
            <p:cNvCxnSpPr/>
            <p:nvPr/>
          </p:nvCxnSpPr>
          <p:spPr>
            <a:xfrm flipV="1">
              <a:off x="1778286" y="3108768"/>
              <a:ext cx="0" cy="34404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16C3771F-782D-A136-304A-E5CF28E18AC1}"/>
                </a:ext>
              </a:extLst>
            </p:cNvPr>
            <p:cNvCxnSpPr/>
            <p:nvPr/>
          </p:nvCxnSpPr>
          <p:spPr>
            <a:xfrm flipV="1">
              <a:off x="2133032" y="3209451"/>
              <a:ext cx="0" cy="23870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5C0DCDAD-1EC6-6150-8F11-B52A9ED9B012}"/>
                </a:ext>
              </a:extLst>
            </p:cNvPr>
            <p:cNvSpPr txBox="1"/>
            <p:nvPr/>
          </p:nvSpPr>
          <p:spPr>
            <a:xfrm>
              <a:off x="1917171" y="2986967"/>
              <a:ext cx="34977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Ihovbor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PP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A339F9C-0A28-1318-E87B-F924647D2549}"/>
                </a:ext>
              </a:extLst>
            </p:cNvPr>
            <p:cNvSpPr txBox="1"/>
            <p:nvPr/>
          </p:nvSpPr>
          <p:spPr>
            <a:xfrm>
              <a:off x="1530271" y="2898875"/>
              <a:ext cx="47481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Omotosho PP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39121A54-3B56-6CE3-92B5-1F6BF249EA1D}"/>
                </a:ext>
              </a:extLst>
            </p:cNvPr>
            <p:cNvSpPr txBox="1"/>
            <p:nvPr/>
          </p:nvSpPr>
          <p:spPr>
            <a:xfrm>
              <a:off x="915492" y="2578070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Egbin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PP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45B7AE77-24EE-618B-5DA9-D8AC48987902}"/>
                </a:ext>
              </a:extLst>
            </p:cNvPr>
            <p:cNvSpPr txBox="1"/>
            <p:nvPr/>
          </p:nvSpPr>
          <p:spPr>
            <a:xfrm>
              <a:off x="706233" y="2235756"/>
              <a:ext cx="5293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Olorunshogo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PP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4193341-D922-3BB0-A4FC-8387AAA8C55D}"/>
                </a:ext>
              </a:extLst>
            </p:cNvPr>
            <p:cNvSpPr txBox="1"/>
            <p:nvPr/>
          </p:nvSpPr>
          <p:spPr>
            <a:xfrm>
              <a:off x="8246858" y="3815408"/>
              <a:ext cx="3064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Alaoji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PP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3D97FD74-5CF4-D755-723E-0D390B3202A7}"/>
                </a:ext>
              </a:extLst>
            </p:cNvPr>
            <p:cNvSpPr/>
            <p:nvPr/>
          </p:nvSpPr>
          <p:spPr>
            <a:xfrm>
              <a:off x="7153929" y="4838990"/>
              <a:ext cx="437129" cy="252501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Obigbo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North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(AGG/NAG)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AB382A1-B7F4-2A23-EF12-2AE65272E577}"/>
                </a:ext>
              </a:extLst>
            </p:cNvPr>
            <p:cNvSpPr/>
            <p:nvPr/>
          </p:nvSpPr>
          <p:spPr>
            <a:xfrm>
              <a:off x="6198176" y="4795985"/>
              <a:ext cx="307847" cy="16932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F81191F3-9905-D459-63DE-B7170A598B97}"/>
                </a:ext>
              </a:extLst>
            </p:cNvPr>
            <p:cNvCxnSpPr/>
            <p:nvPr/>
          </p:nvCxnSpPr>
          <p:spPr>
            <a:xfrm flipV="1">
              <a:off x="6968199" y="4732785"/>
              <a:ext cx="0" cy="144758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231" name="Isosceles Triangle 230">
              <a:extLst>
                <a:ext uri="{FF2B5EF4-FFF2-40B4-BE49-F238E27FC236}">
                  <a16:creationId xmlns:a16="http://schemas.microsoft.com/office/drawing/2014/main" id="{3B7AAB19-C638-D182-30FF-8A8A4DAB5659}"/>
                </a:ext>
              </a:extLst>
            </p:cNvPr>
            <p:cNvSpPr/>
            <p:nvPr/>
          </p:nvSpPr>
          <p:spPr>
            <a:xfrm>
              <a:off x="6343368" y="5121673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CBC4373-EC09-B020-512F-31FB16279EB0}"/>
                </a:ext>
              </a:extLst>
            </p:cNvPr>
            <p:cNvSpPr txBox="1"/>
            <p:nvPr/>
          </p:nvSpPr>
          <p:spPr>
            <a:xfrm>
              <a:off x="6053529" y="5090941"/>
              <a:ext cx="41069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Afam PP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02024312-297E-1333-4D68-61C72DA4122F}"/>
                </a:ext>
              </a:extLst>
            </p:cNvPr>
            <p:cNvSpPr txBox="1"/>
            <p:nvPr/>
          </p:nvSpPr>
          <p:spPr>
            <a:xfrm>
              <a:off x="1762106" y="2735437"/>
              <a:ext cx="39145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Sapele PP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(1 &amp; 2) 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CDB18246-8CF3-ED7A-32D1-75F183755DA5}"/>
                </a:ext>
              </a:extLst>
            </p:cNvPr>
            <p:cNvCxnSpPr/>
            <p:nvPr/>
          </p:nvCxnSpPr>
          <p:spPr>
            <a:xfrm flipV="1">
              <a:off x="7258436" y="4727776"/>
              <a:ext cx="0" cy="1163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F5FC3CC7-D447-8E1C-C784-D4F2AB766F19}"/>
                </a:ext>
              </a:extLst>
            </p:cNvPr>
            <p:cNvSpPr txBox="1"/>
            <p:nvPr/>
          </p:nvSpPr>
          <p:spPr>
            <a:xfrm>
              <a:off x="2253027" y="1096614"/>
              <a:ext cx="3642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Obajana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</a:t>
              </a:r>
            </a:p>
          </p:txBody>
        </p:sp>
        <p:sp>
          <p:nvSpPr>
            <p:cNvPr id="236" name="Freeform 127">
              <a:extLst>
                <a:ext uri="{FF2B5EF4-FFF2-40B4-BE49-F238E27FC236}">
                  <a16:creationId xmlns:a16="http://schemas.microsoft.com/office/drawing/2014/main" id="{E0E37D19-CBB3-643C-E5EC-9DB2CCD30D53}"/>
                </a:ext>
              </a:extLst>
            </p:cNvPr>
            <p:cNvSpPr/>
            <p:nvPr/>
          </p:nvSpPr>
          <p:spPr>
            <a:xfrm>
              <a:off x="1673485" y="10758"/>
              <a:ext cx="3205645" cy="6440401"/>
            </a:xfrm>
            <a:custGeom>
              <a:avLst/>
              <a:gdLst>
                <a:gd name="connsiteX0" fmla="*/ 0 w 3110087"/>
                <a:gd name="connsiteY0" fmla="*/ 0 h 6400801"/>
                <a:gd name="connsiteX1" fmla="*/ 96819 w 3110087"/>
                <a:gd name="connsiteY1" fmla="*/ 75303 h 6400801"/>
                <a:gd name="connsiteX2" fmla="*/ 129092 w 3110087"/>
                <a:gd name="connsiteY2" fmla="*/ 96818 h 6400801"/>
                <a:gd name="connsiteX3" fmla="*/ 161365 w 3110087"/>
                <a:gd name="connsiteY3" fmla="*/ 129091 h 6400801"/>
                <a:gd name="connsiteX4" fmla="*/ 193638 w 3110087"/>
                <a:gd name="connsiteY4" fmla="*/ 139849 h 6400801"/>
                <a:gd name="connsiteX5" fmla="*/ 225911 w 3110087"/>
                <a:gd name="connsiteY5" fmla="*/ 161364 h 6400801"/>
                <a:gd name="connsiteX6" fmla="*/ 301215 w 3110087"/>
                <a:gd name="connsiteY6" fmla="*/ 215153 h 6400801"/>
                <a:gd name="connsiteX7" fmla="*/ 387276 w 3110087"/>
                <a:gd name="connsiteY7" fmla="*/ 247426 h 6400801"/>
                <a:gd name="connsiteX8" fmla="*/ 494852 w 3110087"/>
                <a:gd name="connsiteY8" fmla="*/ 290456 h 6400801"/>
                <a:gd name="connsiteX9" fmla="*/ 580913 w 3110087"/>
                <a:gd name="connsiteY9" fmla="*/ 311971 h 6400801"/>
                <a:gd name="connsiteX10" fmla="*/ 645459 w 3110087"/>
                <a:gd name="connsiteY10" fmla="*/ 322729 h 6400801"/>
                <a:gd name="connsiteX11" fmla="*/ 720763 w 3110087"/>
                <a:gd name="connsiteY11" fmla="*/ 355002 h 6400801"/>
                <a:gd name="connsiteX12" fmla="*/ 742278 w 3110087"/>
                <a:gd name="connsiteY12" fmla="*/ 387275 h 6400801"/>
                <a:gd name="connsiteX13" fmla="*/ 806824 w 3110087"/>
                <a:gd name="connsiteY13" fmla="*/ 419548 h 6400801"/>
                <a:gd name="connsiteX14" fmla="*/ 849855 w 3110087"/>
                <a:gd name="connsiteY14" fmla="*/ 441063 h 6400801"/>
                <a:gd name="connsiteX15" fmla="*/ 914400 w 3110087"/>
                <a:gd name="connsiteY15" fmla="*/ 473336 h 6400801"/>
                <a:gd name="connsiteX16" fmla="*/ 978946 w 3110087"/>
                <a:gd name="connsiteY16" fmla="*/ 516367 h 6400801"/>
                <a:gd name="connsiteX17" fmla="*/ 1065008 w 3110087"/>
                <a:gd name="connsiteY17" fmla="*/ 580913 h 6400801"/>
                <a:gd name="connsiteX18" fmla="*/ 1140311 w 3110087"/>
                <a:gd name="connsiteY18" fmla="*/ 613186 h 6400801"/>
                <a:gd name="connsiteX19" fmla="*/ 1194099 w 3110087"/>
                <a:gd name="connsiteY19" fmla="*/ 656216 h 6400801"/>
                <a:gd name="connsiteX20" fmla="*/ 1215615 w 3110087"/>
                <a:gd name="connsiteY20" fmla="*/ 677731 h 6400801"/>
                <a:gd name="connsiteX21" fmla="*/ 1312433 w 3110087"/>
                <a:gd name="connsiteY21" fmla="*/ 710004 h 6400801"/>
                <a:gd name="connsiteX22" fmla="*/ 1376979 w 3110087"/>
                <a:gd name="connsiteY22" fmla="*/ 742277 h 6400801"/>
                <a:gd name="connsiteX23" fmla="*/ 1441525 w 3110087"/>
                <a:gd name="connsiteY23" fmla="*/ 774550 h 6400801"/>
                <a:gd name="connsiteX24" fmla="*/ 1463040 w 3110087"/>
                <a:gd name="connsiteY24" fmla="*/ 806823 h 6400801"/>
                <a:gd name="connsiteX25" fmla="*/ 1527586 w 3110087"/>
                <a:gd name="connsiteY25" fmla="*/ 828338 h 6400801"/>
                <a:gd name="connsiteX26" fmla="*/ 1635163 w 3110087"/>
                <a:gd name="connsiteY26" fmla="*/ 849854 h 6400801"/>
                <a:gd name="connsiteX27" fmla="*/ 1688951 w 3110087"/>
                <a:gd name="connsiteY27" fmla="*/ 860611 h 6400801"/>
                <a:gd name="connsiteX28" fmla="*/ 1871831 w 3110087"/>
                <a:gd name="connsiteY28" fmla="*/ 871369 h 6400801"/>
                <a:gd name="connsiteX29" fmla="*/ 2000923 w 3110087"/>
                <a:gd name="connsiteY29" fmla="*/ 903642 h 6400801"/>
                <a:gd name="connsiteX30" fmla="*/ 2043953 w 3110087"/>
                <a:gd name="connsiteY30" fmla="*/ 914400 h 6400801"/>
                <a:gd name="connsiteX31" fmla="*/ 2130015 w 3110087"/>
                <a:gd name="connsiteY31" fmla="*/ 946673 h 6400801"/>
                <a:gd name="connsiteX32" fmla="*/ 2302137 w 3110087"/>
                <a:gd name="connsiteY32" fmla="*/ 968188 h 6400801"/>
                <a:gd name="connsiteX33" fmla="*/ 2366683 w 3110087"/>
                <a:gd name="connsiteY33" fmla="*/ 989703 h 6400801"/>
                <a:gd name="connsiteX34" fmla="*/ 2431229 w 3110087"/>
                <a:gd name="connsiteY34" fmla="*/ 1054249 h 6400801"/>
                <a:gd name="connsiteX35" fmla="*/ 2463502 w 3110087"/>
                <a:gd name="connsiteY35" fmla="*/ 1075764 h 6400801"/>
                <a:gd name="connsiteX36" fmla="*/ 2485017 w 3110087"/>
                <a:gd name="connsiteY36" fmla="*/ 1108037 h 6400801"/>
                <a:gd name="connsiteX37" fmla="*/ 2528048 w 3110087"/>
                <a:gd name="connsiteY37" fmla="*/ 1161826 h 6400801"/>
                <a:gd name="connsiteX38" fmla="*/ 2549563 w 3110087"/>
                <a:gd name="connsiteY38" fmla="*/ 1226371 h 6400801"/>
                <a:gd name="connsiteX39" fmla="*/ 2592593 w 3110087"/>
                <a:gd name="connsiteY39" fmla="*/ 1290917 h 6400801"/>
                <a:gd name="connsiteX40" fmla="*/ 2614109 w 3110087"/>
                <a:gd name="connsiteY40" fmla="*/ 1312433 h 6400801"/>
                <a:gd name="connsiteX41" fmla="*/ 2635624 w 3110087"/>
                <a:gd name="connsiteY41" fmla="*/ 1344706 h 6400801"/>
                <a:gd name="connsiteX42" fmla="*/ 2689412 w 3110087"/>
                <a:gd name="connsiteY42" fmla="*/ 1398494 h 6400801"/>
                <a:gd name="connsiteX43" fmla="*/ 2721685 w 3110087"/>
                <a:gd name="connsiteY43" fmla="*/ 1463040 h 6400801"/>
                <a:gd name="connsiteX44" fmla="*/ 2753958 w 3110087"/>
                <a:gd name="connsiteY44" fmla="*/ 1484555 h 6400801"/>
                <a:gd name="connsiteX45" fmla="*/ 2796989 w 3110087"/>
                <a:gd name="connsiteY45" fmla="*/ 1538343 h 6400801"/>
                <a:gd name="connsiteX46" fmla="*/ 2829262 w 3110087"/>
                <a:gd name="connsiteY46" fmla="*/ 1549101 h 6400801"/>
                <a:gd name="connsiteX47" fmla="*/ 2861535 w 3110087"/>
                <a:gd name="connsiteY47" fmla="*/ 1602889 h 6400801"/>
                <a:gd name="connsiteX48" fmla="*/ 2893808 w 3110087"/>
                <a:gd name="connsiteY48" fmla="*/ 1656677 h 6400801"/>
                <a:gd name="connsiteX49" fmla="*/ 2926080 w 3110087"/>
                <a:gd name="connsiteY49" fmla="*/ 1785769 h 6400801"/>
                <a:gd name="connsiteX50" fmla="*/ 2947596 w 3110087"/>
                <a:gd name="connsiteY50" fmla="*/ 1850315 h 6400801"/>
                <a:gd name="connsiteX51" fmla="*/ 2969111 w 3110087"/>
                <a:gd name="connsiteY51" fmla="*/ 1914861 h 6400801"/>
                <a:gd name="connsiteX52" fmla="*/ 3001384 w 3110087"/>
                <a:gd name="connsiteY52" fmla="*/ 1947134 h 6400801"/>
                <a:gd name="connsiteX53" fmla="*/ 3055172 w 3110087"/>
                <a:gd name="connsiteY53" fmla="*/ 1990164 h 6400801"/>
                <a:gd name="connsiteX54" fmla="*/ 3065930 w 3110087"/>
                <a:gd name="connsiteY54" fmla="*/ 2022437 h 6400801"/>
                <a:gd name="connsiteX55" fmla="*/ 3087445 w 3110087"/>
                <a:gd name="connsiteY55" fmla="*/ 2043953 h 6400801"/>
                <a:gd name="connsiteX56" fmla="*/ 3098203 w 3110087"/>
                <a:gd name="connsiteY56" fmla="*/ 2086983 h 6400801"/>
                <a:gd name="connsiteX57" fmla="*/ 3098203 w 3110087"/>
                <a:gd name="connsiteY57" fmla="*/ 2302136 h 6400801"/>
                <a:gd name="connsiteX58" fmla="*/ 3076688 w 3110087"/>
                <a:gd name="connsiteY58" fmla="*/ 2355924 h 6400801"/>
                <a:gd name="connsiteX59" fmla="*/ 3055172 w 3110087"/>
                <a:gd name="connsiteY59" fmla="*/ 2420470 h 6400801"/>
                <a:gd name="connsiteX60" fmla="*/ 3044415 w 3110087"/>
                <a:gd name="connsiteY60" fmla="*/ 2764715 h 6400801"/>
                <a:gd name="connsiteX61" fmla="*/ 3033657 w 3110087"/>
                <a:gd name="connsiteY61" fmla="*/ 2807746 h 6400801"/>
                <a:gd name="connsiteX62" fmla="*/ 3012142 w 3110087"/>
                <a:gd name="connsiteY62" fmla="*/ 2850776 h 6400801"/>
                <a:gd name="connsiteX63" fmla="*/ 2990626 w 3110087"/>
                <a:gd name="connsiteY63" fmla="*/ 2947595 h 6400801"/>
                <a:gd name="connsiteX64" fmla="*/ 2979869 w 3110087"/>
                <a:gd name="connsiteY64" fmla="*/ 2979868 h 6400801"/>
                <a:gd name="connsiteX65" fmla="*/ 2969111 w 3110087"/>
                <a:gd name="connsiteY65" fmla="*/ 3044414 h 6400801"/>
                <a:gd name="connsiteX66" fmla="*/ 2947596 w 3110087"/>
                <a:gd name="connsiteY66" fmla="*/ 3130475 h 6400801"/>
                <a:gd name="connsiteX67" fmla="*/ 2936838 w 3110087"/>
                <a:gd name="connsiteY67" fmla="*/ 3227294 h 6400801"/>
                <a:gd name="connsiteX68" fmla="*/ 2926080 w 3110087"/>
                <a:gd name="connsiteY68" fmla="*/ 3281082 h 6400801"/>
                <a:gd name="connsiteX69" fmla="*/ 2904565 w 3110087"/>
                <a:gd name="connsiteY69" fmla="*/ 3345628 h 6400801"/>
                <a:gd name="connsiteX70" fmla="*/ 2926080 w 3110087"/>
                <a:gd name="connsiteY70" fmla="*/ 3786691 h 6400801"/>
                <a:gd name="connsiteX71" fmla="*/ 2947596 w 3110087"/>
                <a:gd name="connsiteY71" fmla="*/ 3861995 h 6400801"/>
                <a:gd name="connsiteX72" fmla="*/ 2936838 w 3110087"/>
                <a:gd name="connsiteY72" fmla="*/ 4001844 h 6400801"/>
                <a:gd name="connsiteX73" fmla="*/ 2893808 w 3110087"/>
                <a:gd name="connsiteY73" fmla="*/ 4098663 h 6400801"/>
                <a:gd name="connsiteX74" fmla="*/ 2861535 w 3110087"/>
                <a:gd name="connsiteY74" fmla="*/ 4163209 h 6400801"/>
                <a:gd name="connsiteX75" fmla="*/ 2850777 w 3110087"/>
                <a:gd name="connsiteY75" fmla="*/ 4206240 h 6400801"/>
                <a:gd name="connsiteX76" fmla="*/ 2829262 w 3110087"/>
                <a:gd name="connsiteY76" fmla="*/ 4270786 h 6400801"/>
                <a:gd name="connsiteX77" fmla="*/ 2818504 w 3110087"/>
                <a:gd name="connsiteY77" fmla="*/ 4356847 h 6400801"/>
                <a:gd name="connsiteX78" fmla="*/ 2807746 w 3110087"/>
                <a:gd name="connsiteY78" fmla="*/ 4389120 h 6400801"/>
                <a:gd name="connsiteX79" fmla="*/ 2818504 w 3110087"/>
                <a:gd name="connsiteY79" fmla="*/ 4442908 h 6400801"/>
                <a:gd name="connsiteX80" fmla="*/ 2840019 w 3110087"/>
                <a:gd name="connsiteY80" fmla="*/ 4507454 h 6400801"/>
                <a:gd name="connsiteX81" fmla="*/ 2829262 w 3110087"/>
                <a:gd name="connsiteY81" fmla="*/ 4658061 h 6400801"/>
                <a:gd name="connsiteX82" fmla="*/ 2818504 w 3110087"/>
                <a:gd name="connsiteY82" fmla="*/ 4690334 h 6400801"/>
                <a:gd name="connsiteX83" fmla="*/ 2796989 w 3110087"/>
                <a:gd name="connsiteY83" fmla="*/ 4776395 h 6400801"/>
                <a:gd name="connsiteX84" fmla="*/ 2786231 w 3110087"/>
                <a:gd name="connsiteY84" fmla="*/ 4840941 h 6400801"/>
                <a:gd name="connsiteX85" fmla="*/ 2764716 w 3110087"/>
                <a:gd name="connsiteY85" fmla="*/ 4905487 h 6400801"/>
                <a:gd name="connsiteX86" fmla="*/ 2743200 w 3110087"/>
                <a:gd name="connsiteY86" fmla="*/ 5034578 h 6400801"/>
                <a:gd name="connsiteX87" fmla="*/ 2710928 w 3110087"/>
                <a:gd name="connsiteY87" fmla="*/ 5314277 h 6400801"/>
                <a:gd name="connsiteX88" fmla="*/ 2689412 w 3110087"/>
                <a:gd name="connsiteY88" fmla="*/ 5346550 h 6400801"/>
                <a:gd name="connsiteX89" fmla="*/ 2678655 w 3110087"/>
                <a:gd name="connsiteY89" fmla="*/ 5378823 h 6400801"/>
                <a:gd name="connsiteX90" fmla="*/ 2667897 w 3110087"/>
                <a:gd name="connsiteY90" fmla="*/ 5432611 h 6400801"/>
                <a:gd name="connsiteX91" fmla="*/ 2646382 w 3110087"/>
                <a:gd name="connsiteY91" fmla="*/ 5464884 h 6400801"/>
                <a:gd name="connsiteX92" fmla="*/ 2624866 w 3110087"/>
                <a:gd name="connsiteY92" fmla="*/ 5572461 h 6400801"/>
                <a:gd name="connsiteX93" fmla="*/ 2635624 w 3110087"/>
                <a:gd name="connsiteY93" fmla="*/ 5604734 h 6400801"/>
                <a:gd name="connsiteX94" fmla="*/ 2646382 w 3110087"/>
                <a:gd name="connsiteY94" fmla="*/ 5647764 h 6400801"/>
                <a:gd name="connsiteX95" fmla="*/ 2689412 w 3110087"/>
                <a:gd name="connsiteY95" fmla="*/ 5701553 h 6400801"/>
                <a:gd name="connsiteX96" fmla="*/ 2710928 w 3110087"/>
                <a:gd name="connsiteY96" fmla="*/ 5766098 h 6400801"/>
                <a:gd name="connsiteX97" fmla="*/ 2721685 w 3110087"/>
                <a:gd name="connsiteY97" fmla="*/ 5798371 h 6400801"/>
                <a:gd name="connsiteX98" fmla="*/ 2743200 w 3110087"/>
                <a:gd name="connsiteY98" fmla="*/ 5841402 h 6400801"/>
                <a:gd name="connsiteX99" fmla="*/ 2764716 w 3110087"/>
                <a:gd name="connsiteY99" fmla="*/ 5905948 h 6400801"/>
                <a:gd name="connsiteX100" fmla="*/ 2753958 w 3110087"/>
                <a:gd name="connsiteY100" fmla="*/ 5948978 h 6400801"/>
                <a:gd name="connsiteX101" fmla="*/ 2700170 w 3110087"/>
                <a:gd name="connsiteY101" fmla="*/ 6002767 h 6400801"/>
                <a:gd name="connsiteX102" fmla="*/ 2657139 w 3110087"/>
                <a:gd name="connsiteY102" fmla="*/ 6056555 h 6400801"/>
                <a:gd name="connsiteX103" fmla="*/ 2646382 w 3110087"/>
                <a:gd name="connsiteY103" fmla="*/ 6088828 h 6400801"/>
                <a:gd name="connsiteX104" fmla="*/ 2624866 w 3110087"/>
                <a:gd name="connsiteY104" fmla="*/ 6002767 h 6400801"/>
                <a:gd name="connsiteX105" fmla="*/ 2614109 w 3110087"/>
                <a:gd name="connsiteY105" fmla="*/ 5970494 h 6400801"/>
                <a:gd name="connsiteX106" fmla="*/ 2624866 w 3110087"/>
                <a:gd name="connsiteY106" fmla="*/ 5895190 h 6400801"/>
                <a:gd name="connsiteX107" fmla="*/ 2646382 w 3110087"/>
                <a:gd name="connsiteY107" fmla="*/ 5927463 h 6400801"/>
                <a:gd name="connsiteX108" fmla="*/ 2657139 w 3110087"/>
                <a:gd name="connsiteY108" fmla="*/ 6013524 h 6400801"/>
                <a:gd name="connsiteX109" fmla="*/ 2667897 w 3110087"/>
                <a:gd name="connsiteY109" fmla="*/ 6045797 h 6400801"/>
                <a:gd name="connsiteX110" fmla="*/ 2689412 w 3110087"/>
                <a:gd name="connsiteY110" fmla="*/ 6400800 h 640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3110087" h="6400801">
                  <a:moveTo>
                    <a:pt x="0" y="0"/>
                  </a:moveTo>
                  <a:cubicBezTo>
                    <a:pt x="163135" y="108755"/>
                    <a:pt x="-4296" y="-8959"/>
                    <a:pt x="96819" y="75303"/>
                  </a:cubicBezTo>
                  <a:cubicBezTo>
                    <a:pt x="106751" y="83580"/>
                    <a:pt x="119160" y="88541"/>
                    <a:pt x="129092" y="96818"/>
                  </a:cubicBezTo>
                  <a:cubicBezTo>
                    <a:pt x="140779" y="106557"/>
                    <a:pt x="148707" y="120652"/>
                    <a:pt x="161365" y="129091"/>
                  </a:cubicBezTo>
                  <a:cubicBezTo>
                    <a:pt x="170800" y="135381"/>
                    <a:pt x="183496" y="134778"/>
                    <a:pt x="193638" y="139849"/>
                  </a:cubicBezTo>
                  <a:cubicBezTo>
                    <a:pt x="205202" y="145631"/>
                    <a:pt x="215390" y="153849"/>
                    <a:pt x="225911" y="161364"/>
                  </a:cubicBezTo>
                  <a:cubicBezTo>
                    <a:pt x="237275" y="169481"/>
                    <a:pt x="284318" y="206704"/>
                    <a:pt x="301215" y="215153"/>
                  </a:cubicBezTo>
                  <a:cubicBezTo>
                    <a:pt x="390344" y="259718"/>
                    <a:pt x="322113" y="219499"/>
                    <a:pt x="387276" y="247426"/>
                  </a:cubicBezTo>
                  <a:cubicBezTo>
                    <a:pt x="449597" y="274135"/>
                    <a:pt x="416498" y="270868"/>
                    <a:pt x="494852" y="290456"/>
                  </a:cubicBezTo>
                  <a:cubicBezTo>
                    <a:pt x="523539" y="297628"/>
                    <a:pt x="551745" y="307110"/>
                    <a:pt x="580913" y="311971"/>
                  </a:cubicBezTo>
                  <a:cubicBezTo>
                    <a:pt x="602428" y="315557"/>
                    <a:pt x="624166" y="317997"/>
                    <a:pt x="645459" y="322729"/>
                  </a:cubicBezTo>
                  <a:cubicBezTo>
                    <a:pt x="673949" y="329060"/>
                    <a:pt x="694455" y="341848"/>
                    <a:pt x="720763" y="355002"/>
                  </a:cubicBezTo>
                  <a:cubicBezTo>
                    <a:pt x="727935" y="365760"/>
                    <a:pt x="733136" y="378133"/>
                    <a:pt x="742278" y="387275"/>
                  </a:cubicBezTo>
                  <a:cubicBezTo>
                    <a:pt x="768118" y="413115"/>
                    <a:pt x="776203" y="406425"/>
                    <a:pt x="806824" y="419548"/>
                  </a:cubicBezTo>
                  <a:cubicBezTo>
                    <a:pt x="821564" y="425865"/>
                    <a:pt x="835931" y="433107"/>
                    <a:pt x="849855" y="441063"/>
                  </a:cubicBezTo>
                  <a:cubicBezTo>
                    <a:pt x="908249" y="474430"/>
                    <a:pt x="855229" y="453611"/>
                    <a:pt x="914400" y="473336"/>
                  </a:cubicBezTo>
                  <a:cubicBezTo>
                    <a:pt x="963733" y="522666"/>
                    <a:pt x="900792" y="464264"/>
                    <a:pt x="978946" y="516367"/>
                  </a:cubicBezTo>
                  <a:cubicBezTo>
                    <a:pt x="1029913" y="550345"/>
                    <a:pt x="963556" y="547097"/>
                    <a:pt x="1065008" y="580913"/>
                  </a:cubicBezTo>
                  <a:cubicBezTo>
                    <a:pt x="1112494" y="596741"/>
                    <a:pt x="1087138" y="586599"/>
                    <a:pt x="1140311" y="613186"/>
                  </a:cubicBezTo>
                  <a:cubicBezTo>
                    <a:pt x="1183161" y="677460"/>
                    <a:pt x="1136365" y="621576"/>
                    <a:pt x="1194099" y="656216"/>
                  </a:cubicBezTo>
                  <a:cubicBezTo>
                    <a:pt x="1202796" y="661434"/>
                    <a:pt x="1207176" y="672105"/>
                    <a:pt x="1215615" y="677731"/>
                  </a:cubicBezTo>
                  <a:cubicBezTo>
                    <a:pt x="1253793" y="703183"/>
                    <a:pt x="1267098" y="700937"/>
                    <a:pt x="1312433" y="710004"/>
                  </a:cubicBezTo>
                  <a:cubicBezTo>
                    <a:pt x="1404924" y="771666"/>
                    <a:pt x="1287901" y="697738"/>
                    <a:pt x="1376979" y="742277"/>
                  </a:cubicBezTo>
                  <a:cubicBezTo>
                    <a:pt x="1460395" y="783985"/>
                    <a:pt x="1360406" y="747512"/>
                    <a:pt x="1441525" y="774550"/>
                  </a:cubicBezTo>
                  <a:cubicBezTo>
                    <a:pt x="1448697" y="785308"/>
                    <a:pt x="1452076" y="799971"/>
                    <a:pt x="1463040" y="806823"/>
                  </a:cubicBezTo>
                  <a:cubicBezTo>
                    <a:pt x="1482272" y="818843"/>
                    <a:pt x="1505584" y="822837"/>
                    <a:pt x="1527586" y="828338"/>
                  </a:cubicBezTo>
                  <a:cubicBezTo>
                    <a:pt x="1603690" y="847364"/>
                    <a:pt x="1538459" y="832272"/>
                    <a:pt x="1635163" y="849854"/>
                  </a:cubicBezTo>
                  <a:cubicBezTo>
                    <a:pt x="1653152" y="853125"/>
                    <a:pt x="1670742" y="858956"/>
                    <a:pt x="1688951" y="860611"/>
                  </a:cubicBezTo>
                  <a:cubicBezTo>
                    <a:pt x="1749766" y="866140"/>
                    <a:pt x="1810871" y="867783"/>
                    <a:pt x="1871831" y="871369"/>
                  </a:cubicBezTo>
                  <a:lnTo>
                    <a:pt x="2000923" y="903642"/>
                  </a:lnTo>
                  <a:cubicBezTo>
                    <a:pt x="2015266" y="907228"/>
                    <a:pt x="2030729" y="907788"/>
                    <a:pt x="2043953" y="914400"/>
                  </a:cubicBezTo>
                  <a:cubicBezTo>
                    <a:pt x="2082050" y="933448"/>
                    <a:pt x="2088167" y="940396"/>
                    <a:pt x="2130015" y="946673"/>
                  </a:cubicBezTo>
                  <a:cubicBezTo>
                    <a:pt x="2187196" y="955250"/>
                    <a:pt x="2244763" y="961016"/>
                    <a:pt x="2302137" y="968188"/>
                  </a:cubicBezTo>
                  <a:cubicBezTo>
                    <a:pt x="2323652" y="975360"/>
                    <a:pt x="2347813" y="977123"/>
                    <a:pt x="2366683" y="989703"/>
                  </a:cubicBezTo>
                  <a:cubicBezTo>
                    <a:pt x="2392000" y="1006581"/>
                    <a:pt x="2405912" y="1037371"/>
                    <a:pt x="2431229" y="1054249"/>
                  </a:cubicBezTo>
                  <a:lnTo>
                    <a:pt x="2463502" y="1075764"/>
                  </a:lnTo>
                  <a:cubicBezTo>
                    <a:pt x="2470674" y="1086522"/>
                    <a:pt x="2476940" y="1097941"/>
                    <a:pt x="2485017" y="1108037"/>
                  </a:cubicBezTo>
                  <a:cubicBezTo>
                    <a:pt x="2546340" y="1184693"/>
                    <a:pt x="2461815" y="1062479"/>
                    <a:pt x="2528048" y="1161826"/>
                  </a:cubicBezTo>
                  <a:cubicBezTo>
                    <a:pt x="2535220" y="1183341"/>
                    <a:pt x="2533527" y="1210334"/>
                    <a:pt x="2549563" y="1226371"/>
                  </a:cubicBezTo>
                  <a:cubicBezTo>
                    <a:pt x="2598896" y="1275706"/>
                    <a:pt x="2540488" y="1212760"/>
                    <a:pt x="2592593" y="1290917"/>
                  </a:cubicBezTo>
                  <a:cubicBezTo>
                    <a:pt x="2598219" y="1299356"/>
                    <a:pt x="2607773" y="1304513"/>
                    <a:pt x="2614109" y="1312433"/>
                  </a:cubicBezTo>
                  <a:cubicBezTo>
                    <a:pt x="2622186" y="1322529"/>
                    <a:pt x="2627110" y="1334976"/>
                    <a:pt x="2635624" y="1344706"/>
                  </a:cubicBezTo>
                  <a:cubicBezTo>
                    <a:pt x="2652321" y="1363788"/>
                    <a:pt x="2689412" y="1398494"/>
                    <a:pt x="2689412" y="1398494"/>
                  </a:cubicBezTo>
                  <a:cubicBezTo>
                    <a:pt x="2698161" y="1424741"/>
                    <a:pt x="2700832" y="1442187"/>
                    <a:pt x="2721685" y="1463040"/>
                  </a:cubicBezTo>
                  <a:cubicBezTo>
                    <a:pt x="2730827" y="1472182"/>
                    <a:pt x="2743200" y="1477383"/>
                    <a:pt x="2753958" y="1484555"/>
                  </a:cubicBezTo>
                  <a:cubicBezTo>
                    <a:pt x="2763732" y="1499216"/>
                    <a:pt x="2779955" y="1528123"/>
                    <a:pt x="2796989" y="1538343"/>
                  </a:cubicBezTo>
                  <a:cubicBezTo>
                    <a:pt x="2806713" y="1544177"/>
                    <a:pt x="2818504" y="1545515"/>
                    <a:pt x="2829262" y="1549101"/>
                  </a:cubicBezTo>
                  <a:cubicBezTo>
                    <a:pt x="2859735" y="1640525"/>
                    <a:pt x="2817235" y="1529056"/>
                    <a:pt x="2861535" y="1602889"/>
                  </a:cubicBezTo>
                  <a:cubicBezTo>
                    <a:pt x="2903430" y="1672714"/>
                    <a:pt x="2839291" y="1602163"/>
                    <a:pt x="2893808" y="1656677"/>
                  </a:cubicBezTo>
                  <a:cubicBezTo>
                    <a:pt x="2952349" y="1832304"/>
                    <a:pt x="2882618" y="1611920"/>
                    <a:pt x="2926080" y="1785769"/>
                  </a:cubicBezTo>
                  <a:cubicBezTo>
                    <a:pt x="2931581" y="1807771"/>
                    <a:pt x="2940424" y="1828800"/>
                    <a:pt x="2947596" y="1850315"/>
                  </a:cubicBezTo>
                  <a:lnTo>
                    <a:pt x="2969111" y="1914861"/>
                  </a:lnTo>
                  <a:cubicBezTo>
                    <a:pt x="2979869" y="1925619"/>
                    <a:pt x="2991645" y="1935447"/>
                    <a:pt x="3001384" y="1947134"/>
                  </a:cubicBezTo>
                  <a:cubicBezTo>
                    <a:pt x="3038814" y="1992050"/>
                    <a:pt x="3002192" y="1972505"/>
                    <a:pt x="3055172" y="1990164"/>
                  </a:cubicBezTo>
                  <a:cubicBezTo>
                    <a:pt x="3058758" y="2000922"/>
                    <a:pt x="3060096" y="2012713"/>
                    <a:pt x="3065930" y="2022437"/>
                  </a:cubicBezTo>
                  <a:cubicBezTo>
                    <a:pt x="3071148" y="2031134"/>
                    <a:pt x="3082909" y="2034881"/>
                    <a:pt x="3087445" y="2043953"/>
                  </a:cubicBezTo>
                  <a:cubicBezTo>
                    <a:pt x="3094057" y="2057177"/>
                    <a:pt x="3094617" y="2072640"/>
                    <a:pt x="3098203" y="2086983"/>
                  </a:cubicBezTo>
                  <a:cubicBezTo>
                    <a:pt x="3110233" y="2183227"/>
                    <a:pt x="3117458" y="2193018"/>
                    <a:pt x="3098203" y="2302136"/>
                  </a:cubicBezTo>
                  <a:cubicBezTo>
                    <a:pt x="3094847" y="2321153"/>
                    <a:pt x="3083287" y="2337776"/>
                    <a:pt x="3076688" y="2355924"/>
                  </a:cubicBezTo>
                  <a:cubicBezTo>
                    <a:pt x="3068937" y="2377238"/>
                    <a:pt x="3055172" y="2420470"/>
                    <a:pt x="3055172" y="2420470"/>
                  </a:cubicBezTo>
                  <a:cubicBezTo>
                    <a:pt x="3051586" y="2535218"/>
                    <a:pt x="3050783" y="2650087"/>
                    <a:pt x="3044415" y="2764715"/>
                  </a:cubicBezTo>
                  <a:cubicBezTo>
                    <a:pt x="3043595" y="2779477"/>
                    <a:pt x="3038848" y="2793902"/>
                    <a:pt x="3033657" y="2807746"/>
                  </a:cubicBezTo>
                  <a:cubicBezTo>
                    <a:pt x="3028026" y="2822761"/>
                    <a:pt x="3019314" y="2836433"/>
                    <a:pt x="3012142" y="2850776"/>
                  </a:cubicBezTo>
                  <a:cubicBezTo>
                    <a:pt x="3004746" y="2887754"/>
                    <a:pt x="3000755" y="2912142"/>
                    <a:pt x="2990626" y="2947595"/>
                  </a:cubicBezTo>
                  <a:cubicBezTo>
                    <a:pt x="2987511" y="2958498"/>
                    <a:pt x="2982329" y="2968799"/>
                    <a:pt x="2979869" y="2979868"/>
                  </a:cubicBezTo>
                  <a:cubicBezTo>
                    <a:pt x="2975137" y="3001161"/>
                    <a:pt x="2973843" y="3023121"/>
                    <a:pt x="2969111" y="3044414"/>
                  </a:cubicBezTo>
                  <a:cubicBezTo>
                    <a:pt x="2949087" y="3134519"/>
                    <a:pt x="2966194" y="3000287"/>
                    <a:pt x="2947596" y="3130475"/>
                  </a:cubicBezTo>
                  <a:cubicBezTo>
                    <a:pt x="2943004" y="3162620"/>
                    <a:pt x="2941430" y="3195149"/>
                    <a:pt x="2936838" y="3227294"/>
                  </a:cubicBezTo>
                  <a:cubicBezTo>
                    <a:pt x="2934252" y="3245395"/>
                    <a:pt x="2930891" y="3263442"/>
                    <a:pt x="2926080" y="3281082"/>
                  </a:cubicBezTo>
                  <a:cubicBezTo>
                    <a:pt x="2920113" y="3302962"/>
                    <a:pt x="2904565" y="3345628"/>
                    <a:pt x="2904565" y="3345628"/>
                  </a:cubicBezTo>
                  <a:cubicBezTo>
                    <a:pt x="2959298" y="3509822"/>
                    <a:pt x="2904583" y="3335240"/>
                    <a:pt x="2926080" y="3786691"/>
                  </a:cubicBezTo>
                  <a:cubicBezTo>
                    <a:pt x="2926830" y="3802451"/>
                    <a:pt x="2941947" y="3845049"/>
                    <a:pt x="2947596" y="3861995"/>
                  </a:cubicBezTo>
                  <a:cubicBezTo>
                    <a:pt x="2944010" y="3908611"/>
                    <a:pt x="2944130" y="3955662"/>
                    <a:pt x="2936838" y="4001844"/>
                  </a:cubicBezTo>
                  <a:cubicBezTo>
                    <a:pt x="2924029" y="4082969"/>
                    <a:pt x="2920609" y="4045061"/>
                    <a:pt x="2893808" y="4098663"/>
                  </a:cubicBezTo>
                  <a:cubicBezTo>
                    <a:pt x="2849269" y="4187740"/>
                    <a:pt x="2923194" y="4070719"/>
                    <a:pt x="2861535" y="4163209"/>
                  </a:cubicBezTo>
                  <a:cubicBezTo>
                    <a:pt x="2857949" y="4177553"/>
                    <a:pt x="2855025" y="4192078"/>
                    <a:pt x="2850777" y="4206240"/>
                  </a:cubicBezTo>
                  <a:cubicBezTo>
                    <a:pt x="2844260" y="4227963"/>
                    <a:pt x="2829262" y="4270786"/>
                    <a:pt x="2829262" y="4270786"/>
                  </a:cubicBezTo>
                  <a:cubicBezTo>
                    <a:pt x="2825676" y="4299473"/>
                    <a:pt x="2823676" y="4328403"/>
                    <a:pt x="2818504" y="4356847"/>
                  </a:cubicBezTo>
                  <a:cubicBezTo>
                    <a:pt x="2816475" y="4368004"/>
                    <a:pt x="2807746" y="4377780"/>
                    <a:pt x="2807746" y="4389120"/>
                  </a:cubicBezTo>
                  <a:cubicBezTo>
                    <a:pt x="2807746" y="4407404"/>
                    <a:pt x="2813693" y="4425268"/>
                    <a:pt x="2818504" y="4442908"/>
                  </a:cubicBezTo>
                  <a:cubicBezTo>
                    <a:pt x="2824471" y="4464788"/>
                    <a:pt x="2840019" y="4507454"/>
                    <a:pt x="2840019" y="4507454"/>
                  </a:cubicBezTo>
                  <a:cubicBezTo>
                    <a:pt x="2836433" y="4557656"/>
                    <a:pt x="2835143" y="4608075"/>
                    <a:pt x="2829262" y="4658061"/>
                  </a:cubicBezTo>
                  <a:cubicBezTo>
                    <a:pt x="2827937" y="4669323"/>
                    <a:pt x="2821488" y="4679394"/>
                    <a:pt x="2818504" y="4690334"/>
                  </a:cubicBezTo>
                  <a:cubicBezTo>
                    <a:pt x="2810724" y="4718862"/>
                    <a:pt x="2801850" y="4747227"/>
                    <a:pt x="2796989" y="4776395"/>
                  </a:cubicBezTo>
                  <a:cubicBezTo>
                    <a:pt x="2793403" y="4797910"/>
                    <a:pt x="2791521" y="4819780"/>
                    <a:pt x="2786231" y="4840941"/>
                  </a:cubicBezTo>
                  <a:cubicBezTo>
                    <a:pt x="2780731" y="4862943"/>
                    <a:pt x="2768445" y="4883116"/>
                    <a:pt x="2764716" y="4905487"/>
                  </a:cubicBezTo>
                  <a:lnTo>
                    <a:pt x="2743200" y="5034578"/>
                  </a:lnTo>
                  <a:cubicBezTo>
                    <a:pt x="2742663" y="5045314"/>
                    <a:pt x="2751565" y="5253324"/>
                    <a:pt x="2710928" y="5314277"/>
                  </a:cubicBezTo>
                  <a:lnTo>
                    <a:pt x="2689412" y="5346550"/>
                  </a:lnTo>
                  <a:cubicBezTo>
                    <a:pt x="2685826" y="5357308"/>
                    <a:pt x="2681405" y="5367822"/>
                    <a:pt x="2678655" y="5378823"/>
                  </a:cubicBezTo>
                  <a:cubicBezTo>
                    <a:pt x="2674220" y="5396562"/>
                    <a:pt x="2674317" y="5415491"/>
                    <a:pt x="2667897" y="5432611"/>
                  </a:cubicBezTo>
                  <a:cubicBezTo>
                    <a:pt x="2663357" y="5444717"/>
                    <a:pt x="2653554" y="5454126"/>
                    <a:pt x="2646382" y="5464884"/>
                  </a:cubicBezTo>
                  <a:cubicBezTo>
                    <a:pt x="2639210" y="5500743"/>
                    <a:pt x="2613301" y="5537769"/>
                    <a:pt x="2624866" y="5572461"/>
                  </a:cubicBezTo>
                  <a:cubicBezTo>
                    <a:pt x="2628452" y="5583219"/>
                    <a:pt x="2632509" y="5593831"/>
                    <a:pt x="2635624" y="5604734"/>
                  </a:cubicBezTo>
                  <a:cubicBezTo>
                    <a:pt x="2639686" y="5618950"/>
                    <a:pt x="2640558" y="5634175"/>
                    <a:pt x="2646382" y="5647764"/>
                  </a:cubicBezTo>
                  <a:cubicBezTo>
                    <a:pt x="2656560" y="5671512"/>
                    <a:pt x="2672062" y="5684202"/>
                    <a:pt x="2689412" y="5701553"/>
                  </a:cubicBezTo>
                  <a:lnTo>
                    <a:pt x="2710928" y="5766098"/>
                  </a:lnTo>
                  <a:cubicBezTo>
                    <a:pt x="2714514" y="5776856"/>
                    <a:pt x="2716614" y="5788229"/>
                    <a:pt x="2721685" y="5798371"/>
                  </a:cubicBezTo>
                  <a:cubicBezTo>
                    <a:pt x="2728857" y="5812715"/>
                    <a:pt x="2737244" y="5826512"/>
                    <a:pt x="2743200" y="5841402"/>
                  </a:cubicBezTo>
                  <a:cubicBezTo>
                    <a:pt x="2751623" y="5862459"/>
                    <a:pt x="2764716" y="5905948"/>
                    <a:pt x="2764716" y="5905948"/>
                  </a:cubicBezTo>
                  <a:cubicBezTo>
                    <a:pt x="2761130" y="5920291"/>
                    <a:pt x="2762159" y="5936676"/>
                    <a:pt x="2753958" y="5948978"/>
                  </a:cubicBezTo>
                  <a:cubicBezTo>
                    <a:pt x="2739893" y="5970076"/>
                    <a:pt x="2714235" y="5981669"/>
                    <a:pt x="2700170" y="6002767"/>
                  </a:cubicBezTo>
                  <a:cubicBezTo>
                    <a:pt x="2673029" y="6043479"/>
                    <a:pt x="2687797" y="6025898"/>
                    <a:pt x="2657139" y="6056555"/>
                  </a:cubicBezTo>
                  <a:cubicBezTo>
                    <a:pt x="2631189" y="6160355"/>
                    <a:pt x="2629825" y="6171612"/>
                    <a:pt x="2646382" y="6088828"/>
                  </a:cubicBezTo>
                  <a:cubicBezTo>
                    <a:pt x="2639210" y="6060141"/>
                    <a:pt x="2632646" y="6031295"/>
                    <a:pt x="2624866" y="6002767"/>
                  </a:cubicBezTo>
                  <a:cubicBezTo>
                    <a:pt x="2621882" y="5991827"/>
                    <a:pt x="2614109" y="5981834"/>
                    <a:pt x="2614109" y="5970494"/>
                  </a:cubicBezTo>
                  <a:cubicBezTo>
                    <a:pt x="2614109" y="5945138"/>
                    <a:pt x="2621280" y="5920291"/>
                    <a:pt x="2624866" y="5895190"/>
                  </a:cubicBezTo>
                  <a:cubicBezTo>
                    <a:pt x="2632038" y="5905948"/>
                    <a:pt x="2642980" y="5914989"/>
                    <a:pt x="2646382" y="5927463"/>
                  </a:cubicBezTo>
                  <a:cubicBezTo>
                    <a:pt x="2653989" y="5955355"/>
                    <a:pt x="2651967" y="5985080"/>
                    <a:pt x="2657139" y="6013524"/>
                  </a:cubicBezTo>
                  <a:cubicBezTo>
                    <a:pt x="2659167" y="6024681"/>
                    <a:pt x="2664311" y="6035039"/>
                    <a:pt x="2667897" y="6045797"/>
                  </a:cubicBezTo>
                  <a:cubicBezTo>
                    <a:pt x="2678764" y="6404384"/>
                    <a:pt x="2560266" y="6400800"/>
                    <a:pt x="2689412" y="6400800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37" name="Freeform 128">
              <a:extLst>
                <a:ext uri="{FF2B5EF4-FFF2-40B4-BE49-F238E27FC236}">
                  <a16:creationId xmlns:a16="http://schemas.microsoft.com/office/drawing/2014/main" id="{19ED316B-EEFE-1BF7-C599-EF5F66158D0C}"/>
                </a:ext>
              </a:extLst>
            </p:cNvPr>
            <p:cNvSpPr/>
            <p:nvPr/>
          </p:nvSpPr>
          <p:spPr>
            <a:xfrm>
              <a:off x="4873692" y="1290918"/>
              <a:ext cx="4545300" cy="770163"/>
            </a:xfrm>
            <a:custGeom>
              <a:avLst/>
              <a:gdLst>
                <a:gd name="connsiteX0" fmla="*/ 4647303 w 4647303"/>
                <a:gd name="connsiteY0" fmla="*/ 0 h 796066"/>
                <a:gd name="connsiteX1" fmla="*/ 4485939 w 4647303"/>
                <a:gd name="connsiteY1" fmla="*/ 43030 h 796066"/>
                <a:gd name="connsiteX2" fmla="*/ 4453666 w 4647303"/>
                <a:gd name="connsiteY2" fmla="*/ 53788 h 796066"/>
                <a:gd name="connsiteX3" fmla="*/ 4324574 w 4647303"/>
                <a:gd name="connsiteY3" fmla="*/ 75303 h 796066"/>
                <a:gd name="connsiteX4" fmla="*/ 4270786 w 4647303"/>
                <a:gd name="connsiteY4" fmla="*/ 129091 h 796066"/>
                <a:gd name="connsiteX5" fmla="*/ 4260028 w 4647303"/>
                <a:gd name="connsiteY5" fmla="*/ 161364 h 796066"/>
                <a:gd name="connsiteX6" fmla="*/ 4184725 w 4647303"/>
                <a:gd name="connsiteY6" fmla="*/ 215153 h 796066"/>
                <a:gd name="connsiteX7" fmla="*/ 4141694 w 4647303"/>
                <a:gd name="connsiteY7" fmla="*/ 225910 h 796066"/>
                <a:gd name="connsiteX8" fmla="*/ 3926541 w 4647303"/>
                <a:gd name="connsiteY8" fmla="*/ 236668 h 796066"/>
                <a:gd name="connsiteX9" fmla="*/ 3711388 w 4647303"/>
                <a:gd name="connsiteY9" fmla="*/ 258183 h 796066"/>
                <a:gd name="connsiteX10" fmla="*/ 3603812 w 4647303"/>
                <a:gd name="connsiteY10" fmla="*/ 279698 h 796066"/>
                <a:gd name="connsiteX11" fmla="*/ 3539266 w 4647303"/>
                <a:gd name="connsiteY11" fmla="*/ 290456 h 796066"/>
                <a:gd name="connsiteX12" fmla="*/ 3453205 w 4647303"/>
                <a:gd name="connsiteY12" fmla="*/ 311971 h 796066"/>
                <a:gd name="connsiteX13" fmla="*/ 3313355 w 4647303"/>
                <a:gd name="connsiteY13" fmla="*/ 322729 h 796066"/>
                <a:gd name="connsiteX14" fmla="*/ 3205779 w 4647303"/>
                <a:gd name="connsiteY14" fmla="*/ 344244 h 796066"/>
                <a:gd name="connsiteX15" fmla="*/ 3076687 w 4647303"/>
                <a:gd name="connsiteY15" fmla="*/ 365760 h 796066"/>
                <a:gd name="connsiteX16" fmla="*/ 3033656 w 4647303"/>
                <a:gd name="connsiteY16" fmla="*/ 376517 h 796066"/>
                <a:gd name="connsiteX17" fmla="*/ 2732442 w 4647303"/>
                <a:gd name="connsiteY17" fmla="*/ 387275 h 796066"/>
                <a:gd name="connsiteX18" fmla="*/ 2689412 w 4647303"/>
                <a:gd name="connsiteY18" fmla="*/ 398033 h 796066"/>
                <a:gd name="connsiteX19" fmla="*/ 2657139 w 4647303"/>
                <a:gd name="connsiteY19" fmla="*/ 419548 h 796066"/>
                <a:gd name="connsiteX20" fmla="*/ 2624866 w 4647303"/>
                <a:gd name="connsiteY20" fmla="*/ 430306 h 796066"/>
                <a:gd name="connsiteX21" fmla="*/ 2603350 w 4647303"/>
                <a:gd name="connsiteY21" fmla="*/ 451821 h 796066"/>
                <a:gd name="connsiteX22" fmla="*/ 2495774 w 4647303"/>
                <a:gd name="connsiteY22" fmla="*/ 484094 h 796066"/>
                <a:gd name="connsiteX23" fmla="*/ 1861073 w 4647303"/>
                <a:gd name="connsiteY23" fmla="*/ 462578 h 796066"/>
                <a:gd name="connsiteX24" fmla="*/ 1796527 w 4647303"/>
                <a:gd name="connsiteY24" fmla="*/ 441063 h 796066"/>
                <a:gd name="connsiteX25" fmla="*/ 1742739 w 4647303"/>
                <a:gd name="connsiteY25" fmla="*/ 430306 h 796066"/>
                <a:gd name="connsiteX26" fmla="*/ 1699708 w 4647303"/>
                <a:gd name="connsiteY26" fmla="*/ 419548 h 796066"/>
                <a:gd name="connsiteX27" fmla="*/ 1635162 w 4647303"/>
                <a:gd name="connsiteY27" fmla="*/ 430306 h 796066"/>
                <a:gd name="connsiteX28" fmla="*/ 1602889 w 4647303"/>
                <a:gd name="connsiteY28" fmla="*/ 441063 h 796066"/>
                <a:gd name="connsiteX29" fmla="*/ 1559859 w 4647303"/>
                <a:gd name="connsiteY29" fmla="*/ 451821 h 796066"/>
                <a:gd name="connsiteX30" fmla="*/ 1484555 w 4647303"/>
                <a:gd name="connsiteY30" fmla="*/ 505609 h 796066"/>
                <a:gd name="connsiteX31" fmla="*/ 1452282 w 4647303"/>
                <a:gd name="connsiteY31" fmla="*/ 537882 h 796066"/>
                <a:gd name="connsiteX32" fmla="*/ 1420009 w 4647303"/>
                <a:gd name="connsiteY32" fmla="*/ 559397 h 796066"/>
                <a:gd name="connsiteX33" fmla="*/ 1344706 w 4647303"/>
                <a:gd name="connsiteY33" fmla="*/ 580913 h 796066"/>
                <a:gd name="connsiteX34" fmla="*/ 1129553 w 4647303"/>
                <a:gd name="connsiteY34" fmla="*/ 559397 h 796066"/>
                <a:gd name="connsiteX35" fmla="*/ 1021976 w 4647303"/>
                <a:gd name="connsiteY35" fmla="*/ 537882 h 796066"/>
                <a:gd name="connsiteX36" fmla="*/ 860612 w 4647303"/>
                <a:gd name="connsiteY36" fmla="*/ 516367 h 796066"/>
                <a:gd name="connsiteX37" fmla="*/ 634701 w 4647303"/>
                <a:gd name="connsiteY37" fmla="*/ 527124 h 796066"/>
                <a:gd name="connsiteX38" fmla="*/ 559397 w 4647303"/>
                <a:gd name="connsiteY38" fmla="*/ 548640 h 796066"/>
                <a:gd name="connsiteX39" fmla="*/ 451821 w 4647303"/>
                <a:gd name="connsiteY39" fmla="*/ 559397 h 796066"/>
                <a:gd name="connsiteX40" fmla="*/ 355002 w 4647303"/>
                <a:gd name="connsiteY40" fmla="*/ 580913 h 796066"/>
                <a:gd name="connsiteX41" fmla="*/ 290456 w 4647303"/>
                <a:gd name="connsiteY41" fmla="*/ 591670 h 796066"/>
                <a:gd name="connsiteX42" fmla="*/ 258183 w 4647303"/>
                <a:gd name="connsiteY42" fmla="*/ 602428 h 796066"/>
                <a:gd name="connsiteX43" fmla="*/ 182880 w 4647303"/>
                <a:gd name="connsiteY43" fmla="*/ 623943 h 796066"/>
                <a:gd name="connsiteX44" fmla="*/ 86061 w 4647303"/>
                <a:gd name="connsiteY44" fmla="*/ 688489 h 796066"/>
                <a:gd name="connsiteX45" fmla="*/ 53788 w 4647303"/>
                <a:gd name="connsiteY45" fmla="*/ 710004 h 796066"/>
                <a:gd name="connsiteX46" fmla="*/ 21515 w 4647303"/>
                <a:gd name="connsiteY46" fmla="*/ 763793 h 796066"/>
                <a:gd name="connsiteX47" fmla="*/ 0 w 4647303"/>
                <a:gd name="connsiteY47" fmla="*/ 796066 h 79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647303" h="796066">
                  <a:moveTo>
                    <a:pt x="4647303" y="0"/>
                  </a:moveTo>
                  <a:cubicBezTo>
                    <a:pt x="4529792" y="39171"/>
                    <a:pt x="4584041" y="26681"/>
                    <a:pt x="4485939" y="43030"/>
                  </a:cubicBezTo>
                  <a:cubicBezTo>
                    <a:pt x="4475181" y="46616"/>
                    <a:pt x="4464851" y="51924"/>
                    <a:pt x="4453666" y="53788"/>
                  </a:cubicBezTo>
                  <a:cubicBezTo>
                    <a:pt x="4309540" y="77810"/>
                    <a:pt x="4400237" y="50084"/>
                    <a:pt x="4324574" y="75303"/>
                  </a:cubicBezTo>
                  <a:cubicBezTo>
                    <a:pt x="4292300" y="96818"/>
                    <a:pt x="4288716" y="93232"/>
                    <a:pt x="4270786" y="129091"/>
                  </a:cubicBezTo>
                  <a:cubicBezTo>
                    <a:pt x="4265715" y="139233"/>
                    <a:pt x="4266619" y="152137"/>
                    <a:pt x="4260028" y="161364"/>
                  </a:cubicBezTo>
                  <a:cubicBezTo>
                    <a:pt x="4231244" y="201661"/>
                    <a:pt x="4223795" y="203990"/>
                    <a:pt x="4184725" y="215153"/>
                  </a:cubicBezTo>
                  <a:cubicBezTo>
                    <a:pt x="4170509" y="219215"/>
                    <a:pt x="4156428" y="224682"/>
                    <a:pt x="4141694" y="225910"/>
                  </a:cubicBezTo>
                  <a:cubicBezTo>
                    <a:pt x="4070135" y="231873"/>
                    <a:pt x="3998259" y="233082"/>
                    <a:pt x="3926541" y="236668"/>
                  </a:cubicBezTo>
                  <a:cubicBezTo>
                    <a:pt x="3854823" y="243840"/>
                    <a:pt x="3782483" y="246334"/>
                    <a:pt x="3711388" y="258183"/>
                  </a:cubicBezTo>
                  <a:cubicBezTo>
                    <a:pt x="3490204" y="295048"/>
                    <a:pt x="3764291" y="247603"/>
                    <a:pt x="3603812" y="279698"/>
                  </a:cubicBezTo>
                  <a:cubicBezTo>
                    <a:pt x="3582423" y="283976"/>
                    <a:pt x="3560594" y="285886"/>
                    <a:pt x="3539266" y="290456"/>
                  </a:cubicBezTo>
                  <a:cubicBezTo>
                    <a:pt x="3510353" y="296652"/>
                    <a:pt x="3482688" y="309703"/>
                    <a:pt x="3453205" y="311971"/>
                  </a:cubicBezTo>
                  <a:lnTo>
                    <a:pt x="3313355" y="322729"/>
                  </a:lnTo>
                  <a:cubicBezTo>
                    <a:pt x="3277496" y="329901"/>
                    <a:pt x="3241850" y="338232"/>
                    <a:pt x="3205779" y="344244"/>
                  </a:cubicBezTo>
                  <a:cubicBezTo>
                    <a:pt x="3162748" y="351416"/>
                    <a:pt x="3119009" y="355180"/>
                    <a:pt x="3076687" y="365760"/>
                  </a:cubicBezTo>
                  <a:cubicBezTo>
                    <a:pt x="3062343" y="369346"/>
                    <a:pt x="3048412" y="375595"/>
                    <a:pt x="3033656" y="376517"/>
                  </a:cubicBezTo>
                  <a:cubicBezTo>
                    <a:pt x="2933383" y="382784"/>
                    <a:pt x="2832847" y="383689"/>
                    <a:pt x="2732442" y="387275"/>
                  </a:cubicBezTo>
                  <a:cubicBezTo>
                    <a:pt x="2718099" y="390861"/>
                    <a:pt x="2703001" y="392209"/>
                    <a:pt x="2689412" y="398033"/>
                  </a:cubicBezTo>
                  <a:cubicBezTo>
                    <a:pt x="2677528" y="403126"/>
                    <a:pt x="2668703" y="413766"/>
                    <a:pt x="2657139" y="419548"/>
                  </a:cubicBezTo>
                  <a:cubicBezTo>
                    <a:pt x="2646997" y="424619"/>
                    <a:pt x="2635624" y="426720"/>
                    <a:pt x="2624866" y="430306"/>
                  </a:cubicBezTo>
                  <a:cubicBezTo>
                    <a:pt x="2617694" y="437478"/>
                    <a:pt x="2612422" y="447285"/>
                    <a:pt x="2603350" y="451821"/>
                  </a:cubicBezTo>
                  <a:cubicBezTo>
                    <a:pt x="2577160" y="464916"/>
                    <a:pt x="2526657" y="476373"/>
                    <a:pt x="2495774" y="484094"/>
                  </a:cubicBezTo>
                  <a:cubicBezTo>
                    <a:pt x="2284207" y="476922"/>
                    <a:pt x="2072362" y="475581"/>
                    <a:pt x="1861073" y="462578"/>
                  </a:cubicBezTo>
                  <a:cubicBezTo>
                    <a:pt x="1838437" y="461185"/>
                    <a:pt x="1818407" y="447030"/>
                    <a:pt x="1796527" y="441063"/>
                  </a:cubicBezTo>
                  <a:cubicBezTo>
                    <a:pt x="1778887" y="436252"/>
                    <a:pt x="1760588" y="434272"/>
                    <a:pt x="1742739" y="430306"/>
                  </a:cubicBezTo>
                  <a:cubicBezTo>
                    <a:pt x="1728306" y="427099"/>
                    <a:pt x="1714052" y="423134"/>
                    <a:pt x="1699708" y="419548"/>
                  </a:cubicBezTo>
                  <a:cubicBezTo>
                    <a:pt x="1678193" y="423134"/>
                    <a:pt x="1656455" y="425574"/>
                    <a:pt x="1635162" y="430306"/>
                  </a:cubicBezTo>
                  <a:cubicBezTo>
                    <a:pt x="1624093" y="432766"/>
                    <a:pt x="1613792" y="437948"/>
                    <a:pt x="1602889" y="441063"/>
                  </a:cubicBezTo>
                  <a:cubicBezTo>
                    <a:pt x="1588673" y="445125"/>
                    <a:pt x="1574202" y="448235"/>
                    <a:pt x="1559859" y="451821"/>
                  </a:cubicBezTo>
                  <a:cubicBezTo>
                    <a:pt x="1475948" y="535732"/>
                    <a:pt x="1583672" y="434812"/>
                    <a:pt x="1484555" y="505609"/>
                  </a:cubicBezTo>
                  <a:cubicBezTo>
                    <a:pt x="1472175" y="514452"/>
                    <a:pt x="1463969" y="528143"/>
                    <a:pt x="1452282" y="537882"/>
                  </a:cubicBezTo>
                  <a:cubicBezTo>
                    <a:pt x="1442350" y="546159"/>
                    <a:pt x="1431573" y="553615"/>
                    <a:pt x="1420009" y="559397"/>
                  </a:cubicBezTo>
                  <a:cubicBezTo>
                    <a:pt x="1404576" y="567114"/>
                    <a:pt x="1358494" y="577466"/>
                    <a:pt x="1344706" y="580913"/>
                  </a:cubicBezTo>
                  <a:cubicBezTo>
                    <a:pt x="1283060" y="575776"/>
                    <a:pt x="1194013" y="570140"/>
                    <a:pt x="1129553" y="559397"/>
                  </a:cubicBezTo>
                  <a:cubicBezTo>
                    <a:pt x="990626" y="536243"/>
                    <a:pt x="1211362" y="561556"/>
                    <a:pt x="1021976" y="537882"/>
                  </a:cubicBezTo>
                  <a:cubicBezTo>
                    <a:pt x="854273" y="516918"/>
                    <a:pt x="971013" y="538446"/>
                    <a:pt x="860612" y="516367"/>
                  </a:cubicBezTo>
                  <a:cubicBezTo>
                    <a:pt x="785308" y="519953"/>
                    <a:pt x="709850" y="521112"/>
                    <a:pt x="634701" y="527124"/>
                  </a:cubicBezTo>
                  <a:cubicBezTo>
                    <a:pt x="558324" y="533234"/>
                    <a:pt x="622834" y="538881"/>
                    <a:pt x="559397" y="548640"/>
                  </a:cubicBezTo>
                  <a:cubicBezTo>
                    <a:pt x="523779" y="554120"/>
                    <a:pt x="487580" y="554927"/>
                    <a:pt x="451821" y="559397"/>
                  </a:cubicBezTo>
                  <a:cubicBezTo>
                    <a:pt x="292099" y="579362"/>
                    <a:pt x="451632" y="559440"/>
                    <a:pt x="355002" y="580913"/>
                  </a:cubicBezTo>
                  <a:cubicBezTo>
                    <a:pt x="333709" y="585645"/>
                    <a:pt x="311971" y="588084"/>
                    <a:pt x="290456" y="591670"/>
                  </a:cubicBezTo>
                  <a:cubicBezTo>
                    <a:pt x="279698" y="595256"/>
                    <a:pt x="269086" y="599313"/>
                    <a:pt x="258183" y="602428"/>
                  </a:cubicBezTo>
                  <a:cubicBezTo>
                    <a:pt x="163602" y="629452"/>
                    <a:pt x="260280" y="598145"/>
                    <a:pt x="182880" y="623943"/>
                  </a:cubicBezTo>
                  <a:lnTo>
                    <a:pt x="86061" y="688489"/>
                  </a:lnTo>
                  <a:lnTo>
                    <a:pt x="53788" y="710004"/>
                  </a:lnTo>
                  <a:cubicBezTo>
                    <a:pt x="35105" y="766050"/>
                    <a:pt x="55267" y="721601"/>
                    <a:pt x="21515" y="763793"/>
                  </a:cubicBezTo>
                  <a:cubicBezTo>
                    <a:pt x="13438" y="773889"/>
                    <a:pt x="0" y="796066"/>
                    <a:pt x="0" y="796066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38" name="Freeform 129">
              <a:extLst>
                <a:ext uri="{FF2B5EF4-FFF2-40B4-BE49-F238E27FC236}">
                  <a16:creationId xmlns:a16="http://schemas.microsoft.com/office/drawing/2014/main" id="{C0F7C519-00C1-FF23-A4DA-7E160F27F581}"/>
                </a:ext>
              </a:extLst>
            </p:cNvPr>
            <p:cNvSpPr/>
            <p:nvPr/>
          </p:nvSpPr>
          <p:spPr>
            <a:xfrm>
              <a:off x="307265" y="3912300"/>
              <a:ext cx="9111727" cy="2647976"/>
            </a:xfrm>
            <a:custGeom>
              <a:avLst/>
              <a:gdLst>
                <a:gd name="connsiteX0" fmla="*/ 0 w 9111727"/>
                <a:gd name="connsiteY0" fmla="*/ 0 h 2710927"/>
                <a:gd name="connsiteX1" fmla="*/ 10758 w 9111727"/>
                <a:gd name="connsiteY1" fmla="*/ 64546 h 2710927"/>
                <a:gd name="connsiteX2" fmla="*/ 75304 w 9111727"/>
                <a:gd name="connsiteY2" fmla="*/ 86061 h 2710927"/>
                <a:gd name="connsiteX3" fmla="*/ 602429 w 9111727"/>
                <a:gd name="connsiteY3" fmla="*/ 86061 h 2710927"/>
                <a:gd name="connsiteX4" fmla="*/ 720763 w 9111727"/>
                <a:gd name="connsiteY4" fmla="*/ 107576 h 2710927"/>
                <a:gd name="connsiteX5" fmla="*/ 753036 w 9111727"/>
                <a:gd name="connsiteY5" fmla="*/ 118334 h 2710927"/>
                <a:gd name="connsiteX6" fmla="*/ 871370 w 9111727"/>
                <a:gd name="connsiteY6" fmla="*/ 129091 h 2710927"/>
                <a:gd name="connsiteX7" fmla="*/ 978946 w 9111727"/>
                <a:gd name="connsiteY7" fmla="*/ 139849 h 2710927"/>
                <a:gd name="connsiteX8" fmla="*/ 1075765 w 9111727"/>
                <a:gd name="connsiteY8" fmla="*/ 172122 h 2710927"/>
                <a:gd name="connsiteX9" fmla="*/ 1108038 w 9111727"/>
                <a:gd name="connsiteY9" fmla="*/ 182880 h 2710927"/>
                <a:gd name="connsiteX10" fmla="*/ 1269403 w 9111727"/>
                <a:gd name="connsiteY10" fmla="*/ 193637 h 2710927"/>
                <a:gd name="connsiteX11" fmla="*/ 1280160 w 9111727"/>
                <a:gd name="connsiteY11" fmla="*/ 236668 h 2710927"/>
                <a:gd name="connsiteX12" fmla="*/ 1301676 w 9111727"/>
                <a:gd name="connsiteY12" fmla="*/ 258183 h 2710927"/>
                <a:gd name="connsiteX13" fmla="*/ 1366221 w 9111727"/>
                <a:gd name="connsiteY13" fmla="*/ 301214 h 2710927"/>
                <a:gd name="connsiteX14" fmla="*/ 1387737 w 9111727"/>
                <a:gd name="connsiteY14" fmla="*/ 322729 h 2710927"/>
                <a:gd name="connsiteX15" fmla="*/ 1495313 w 9111727"/>
                <a:gd name="connsiteY15" fmla="*/ 355002 h 2710927"/>
                <a:gd name="connsiteX16" fmla="*/ 1570617 w 9111727"/>
                <a:gd name="connsiteY16" fmla="*/ 376517 h 2710927"/>
                <a:gd name="connsiteX17" fmla="*/ 1656678 w 9111727"/>
                <a:gd name="connsiteY17" fmla="*/ 387275 h 2710927"/>
                <a:gd name="connsiteX18" fmla="*/ 1699709 w 9111727"/>
                <a:gd name="connsiteY18" fmla="*/ 419548 h 2710927"/>
                <a:gd name="connsiteX19" fmla="*/ 1742739 w 9111727"/>
                <a:gd name="connsiteY19" fmla="*/ 484094 h 2710927"/>
                <a:gd name="connsiteX20" fmla="*/ 1764254 w 9111727"/>
                <a:gd name="connsiteY20" fmla="*/ 516367 h 2710927"/>
                <a:gd name="connsiteX21" fmla="*/ 1828800 w 9111727"/>
                <a:gd name="connsiteY21" fmla="*/ 602428 h 2710927"/>
                <a:gd name="connsiteX22" fmla="*/ 1882589 w 9111727"/>
                <a:gd name="connsiteY22" fmla="*/ 688489 h 2710927"/>
                <a:gd name="connsiteX23" fmla="*/ 1904104 w 9111727"/>
                <a:gd name="connsiteY23" fmla="*/ 774550 h 2710927"/>
                <a:gd name="connsiteX24" fmla="*/ 1914861 w 9111727"/>
                <a:gd name="connsiteY24" fmla="*/ 806823 h 2710927"/>
                <a:gd name="connsiteX25" fmla="*/ 1936377 w 9111727"/>
                <a:gd name="connsiteY25" fmla="*/ 828338 h 2710927"/>
                <a:gd name="connsiteX26" fmla="*/ 1947134 w 9111727"/>
                <a:gd name="connsiteY26" fmla="*/ 860611 h 2710927"/>
                <a:gd name="connsiteX27" fmla="*/ 1968650 w 9111727"/>
                <a:gd name="connsiteY27" fmla="*/ 882127 h 2710927"/>
                <a:gd name="connsiteX28" fmla="*/ 1990165 w 9111727"/>
                <a:gd name="connsiteY28" fmla="*/ 914400 h 2710927"/>
                <a:gd name="connsiteX29" fmla="*/ 2000923 w 9111727"/>
                <a:gd name="connsiteY29" fmla="*/ 946673 h 2710927"/>
                <a:gd name="connsiteX30" fmla="*/ 2033196 w 9111727"/>
                <a:gd name="connsiteY30" fmla="*/ 1011218 h 2710927"/>
                <a:gd name="connsiteX31" fmla="*/ 2043953 w 9111727"/>
                <a:gd name="connsiteY31" fmla="*/ 1129553 h 2710927"/>
                <a:gd name="connsiteX32" fmla="*/ 2065469 w 9111727"/>
                <a:gd name="connsiteY32" fmla="*/ 1226371 h 2710927"/>
                <a:gd name="connsiteX33" fmla="*/ 2108499 w 9111727"/>
                <a:gd name="connsiteY33" fmla="*/ 1312433 h 2710927"/>
                <a:gd name="connsiteX34" fmla="*/ 2151530 w 9111727"/>
                <a:gd name="connsiteY34" fmla="*/ 1430767 h 2710927"/>
                <a:gd name="connsiteX35" fmla="*/ 2194560 w 9111727"/>
                <a:gd name="connsiteY35" fmla="*/ 1602889 h 2710927"/>
                <a:gd name="connsiteX36" fmla="*/ 2237591 w 9111727"/>
                <a:gd name="connsiteY36" fmla="*/ 1688950 h 2710927"/>
                <a:gd name="connsiteX37" fmla="*/ 2259106 w 9111727"/>
                <a:gd name="connsiteY37" fmla="*/ 1721223 h 2710927"/>
                <a:gd name="connsiteX38" fmla="*/ 2280621 w 9111727"/>
                <a:gd name="connsiteY38" fmla="*/ 1796527 h 2710927"/>
                <a:gd name="connsiteX39" fmla="*/ 2302137 w 9111727"/>
                <a:gd name="connsiteY39" fmla="*/ 1828800 h 2710927"/>
                <a:gd name="connsiteX40" fmla="*/ 2323652 w 9111727"/>
                <a:gd name="connsiteY40" fmla="*/ 1871830 h 2710927"/>
                <a:gd name="connsiteX41" fmla="*/ 2345167 w 9111727"/>
                <a:gd name="connsiteY41" fmla="*/ 1904103 h 2710927"/>
                <a:gd name="connsiteX42" fmla="*/ 2355925 w 9111727"/>
                <a:gd name="connsiteY42" fmla="*/ 1936376 h 2710927"/>
                <a:gd name="connsiteX43" fmla="*/ 2388198 w 9111727"/>
                <a:gd name="connsiteY43" fmla="*/ 1968649 h 2710927"/>
                <a:gd name="connsiteX44" fmla="*/ 2452744 w 9111727"/>
                <a:gd name="connsiteY44" fmla="*/ 2043953 h 2710927"/>
                <a:gd name="connsiteX45" fmla="*/ 2485017 w 9111727"/>
                <a:gd name="connsiteY45" fmla="*/ 2097741 h 2710927"/>
                <a:gd name="connsiteX46" fmla="*/ 2528047 w 9111727"/>
                <a:gd name="connsiteY46" fmla="*/ 2162287 h 2710927"/>
                <a:gd name="connsiteX47" fmla="*/ 2549563 w 9111727"/>
                <a:gd name="connsiteY47" fmla="*/ 2183802 h 2710927"/>
                <a:gd name="connsiteX48" fmla="*/ 2571078 w 9111727"/>
                <a:gd name="connsiteY48" fmla="*/ 2216075 h 2710927"/>
                <a:gd name="connsiteX49" fmla="*/ 2603351 w 9111727"/>
                <a:gd name="connsiteY49" fmla="*/ 2226833 h 2710927"/>
                <a:gd name="connsiteX50" fmla="*/ 2667897 w 9111727"/>
                <a:gd name="connsiteY50" fmla="*/ 2291378 h 2710927"/>
                <a:gd name="connsiteX51" fmla="*/ 2721685 w 9111727"/>
                <a:gd name="connsiteY51" fmla="*/ 2334409 h 2710927"/>
                <a:gd name="connsiteX52" fmla="*/ 2753958 w 9111727"/>
                <a:gd name="connsiteY52" fmla="*/ 2345167 h 2710927"/>
                <a:gd name="connsiteX53" fmla="*/ 2786231 w 9111727"/>
                <a:gd name="connsiteY53" fmla="*/ 2377440 h 2710927"/>
                <a:gd name="connsiteX54" fmla="*/ 2840019 w 9111727"/>
                <a:gd name="connsiteY54" fmla="*/ 2388197 h 2710927"/>
                <a:gd name="connsiteX55" fmla="*/ 3033657 w 9111727"/>
                <a:gd name="connsiteY55" fmla="*/ 2398955 h 2710927"/>
                <a:gd name="connsiteX56" fmla="*/ 3689873 w 9111727"/>
                <a:gd name="connsiteY56" fmla="*/ 2398955 h 2710927"/>
                <a:gd name="connsiteX57" fmla="*/ 3732904 w 9111727"/>
                <a:gd name="connsiteY57" fmla="*/ 2441986 h 2710927"/>
                <a:gd name="connsiteX58" fmla="*/ 3765177 w 9111727"/>
                <a:gd name="connsiteY58" fmla="*/ 2452743 h 2710927"/>
                <a:gd name="connsiteX59" fmla="*/ 3786692 w 9111727"/>
                <a:gd name="connsiteY59" fmla="*/ 2485016 h 2710927"/>
                <a:gd name="connsiteX60" fmla="*/ 3818965 w 9111727"/>
                <a:gd name="connsiteY60" fmla="*/ 2495774 h 2710927"/>
                <a:gd name="connsiteX61" fmla="*/ 3883511 w 9111727"/>
                <a:gd name="connsiteY61" fmla="*/ 2528047 h 2710927"/>
                <a:gd name="connsiteX62" fmla="*/ 3948057 w 9111727"/>
                <a:gd name="connsiteY62" fmla="*/ 2581835 h 2710927"/>
                <a:gd name="connsiteX63" fmla="*/ 4012603 w 9111727"/>
                <a:gd name="connsiteY63" fmla="*/ 2603350 h 2710927"/>
                <a:gd name="connsiteX64" fmla="*/ 4044876 w 9111727"/>
                <a:gd name="connsiteY64" fmla="*/ 2614108 h 2710927"/>
                <a:gd name="connsiteX65" fmla="*/ 4077149 w 9111727"/>
                <a:gd name="connsiteY65" fmla="*/ 2624866 h 2710927"/>
                <a:gd name="connsiteX66" fmla="*/ 4109421 w 9111727"/>
                <a:gd name="connsiteY66" fmla="*/ 2635623 h 2710927"/>
                <a:gd name="connsiteX67" fmla="*/ 4625789 w 9111727"/>
                <a:gd name="connsiteY67" fmla="*/ 2667896 h 2710927"/>
                <a:gd name="connsiteX68" fmla="*/ 4776396 w 9111727"/>
                <a:gd name="connsiteY68" fmla="*/ 2689411 h 2710927"/>
                <a:gd name="connsiteX69" fmla="*/ 4883972 w 9111727"/>
                <a:gd name="connsiteY69" fmla="*/ 2710927 h 2710927"/>
                <a:gd name="connsiteX70" fmla="*/ 5249732 w 9111727"/>
                <a:gd name="connsiteY70" fmla="*/ 2700169 h 2710927"/>
                <a:gd name="connsiteX71" fmla="*/ 5314278 w 9111727"/>
                <a:gd name="connsiteY71" fmla="*/ 2689411 h 2710927"/>
                <a:gd name="connsiteX72" fmla="*/ 5486400 w 9111727"/>
                <a:gd name="connsiteY72" fmla="*/ 2678654 h 2710927"/>
                <a:gd name="connsiteX73" fmla="*/ 5572461 w 9111727"/>
                <a:gd name="connsiteY73" fmla="*/ 2667896 h 2710927"/>
                <a:gd name="connsiteX74" fmla="*/ 5852160 w 9111727"/>
                <a:gd name="connsiteY74" fmla="*/ 2678654 h 2710927"/>
                <a:gd name="connsiteX75" fmla="*/ 5905949 w 9111727"/>
                <a:gd name="connsiteY75" fmla="*/ 2689411 h 2710927"/>
                <a:gd name="connsiteX76" fmla="*/ 6045798 w 9111727"/>
                <a:gd name="connsiteY76" fmla="*/ 2710927 h 2710927"/>
                <a:gd name="connsiteX77" fmla="*/ 6325497 w 9111727"/>
                <a:gd name="connsiteY77" fmla="*/ 2700169 h 2710927"/>
                <a:gd name="connsiteX78" fmla="*/ 6400800 w 9111727"/>
                <a:gd name="connsiteY78" fmla="*/ 2689411 h 2710927"/>
                <a:gd name="connsiteX79" fmla="*/ 6529892 w 9111727"/>
                <a:gd name="connsiteY79" fmla="*/ 2678654 h 2710927"/>
                <a:gd name="connsiteX80" fmla="*/ 6562165 w 9111727"/>
                <a:gd name="connsiteY80" fmla="*/ 2667896 h 2710927"/>
                <a:gd name="connsiteX81" fmla="*/ 6702014 w 9111727"/>
                <a:gd name="connsiteY81" fmla="*/ 2646381 h 2710927"/>
                <a:gd name="connsiteX82" fmla="*/ 6831106 w 9111727"/>
                <a:gd name="connsiteY82" fmla="*/ 2624866 h 2710927"/>
                <a:gd name="connsiteX83" fmla="*/ 6874137 w 9111727"/>
                <a:gd name="connsiteY83" fmla="*/ 2614108 h 2710927"/>
                <a:gd name="connsiteX84" fmla="*/ 6938683 w 9111727"/>
                <a:gd name="connsiteY84" fmla="*/ 2592593 h 2710927"/>
                <a:gd name="connsiteX85" fmla="*/ 7132320 w 9111727"/>
                <a:gd name="connsiteY85" fmla="*/ 2581835 h 2710927"/>
                <a:gd name="connsiteX86" fmla="*/ 7293685 w 9111727"/>
                <a:gd name="connsiteY86" fmla="*/ 2592593 h 2710927"/>
                <a:gd name="connsiteX87" fmla="*/ 7347473 w 9111727"/>
                <a:gd name="connsiteY87" fmla="*/ 2603350 h 2710927"/>
                <a:gd name="connsiteX88" fmla="*/ 7713233 w 9111727"/>
                <a:gd name="connsiteY88" fmla="*/ 2592593 h 2710927"/>
                <a:gd name="connsiteX89" fmla="*/ 7777779 w 9111727"/>
                <a:gd name="connsiteY89" fmla="*/ 2571077 h 2710927"/>
                <a:gd name="connsiteX90" fmla="*/ 8035963 w 9111727"/>
                <a:gd name="connsiteY90" fmla="*/ 2549562 h 2710927"/>
                <a:gd name="connsiteX91" fmla="*/ 8713694 w 9111727"/>
                <a:gd name="connsiteY91" fmla="*/ 2528047 h 2710927"/>
                <a:gd name="connsiteX92" fmla="*/ 8735210 w 9111727"/>
                <a:gd name="connsiteY92" fmla="*/ 2506531 h 2710927"/>
                <a:gd name="connsiteX93" fmla="*/ 8799756 w 9111727"/>
                <a:gd name="connsiteY93" fmla="*/ 2485016 h 2710927"/>
                <a:gd name="connsiteX94" fmla="*/ 8832029 w 9111727"/>
                <a:gd name="connsiteY94" fmla="*/ 2474258 h 2710927"/>
                <a:gd name="connsiteX95" fmla="*/ 8864301 w 9111727"/>
                <a:gd name="connsiteY95" fmla="*/ 2463501 h 2710927"/>
                <a:gd name="connsiteX96" fmla="*/ 8928847 w 9111727"/>
                <a:gd name="connsiteY96" fmla="*/ 2431228 h 2710927"/>
                <a:gd name="connsiteX97" fmla="*/ 8993393 w 9111727"/>
                <a:gd name="connsiteY97" fmla="*/ 2409713 h 2710927"/>
                <a:gd name="connsiteX98" fmla="*/ 9057939 w 9111727"/>
                <a:gd name="connsiteY98" fmla="*/ 2398955 h 2710927"/>
                <a:gd name="connsiteX99" fmla="*/ 9111727 w 9111727"/>
                <a:gd name="connsiteY99" fmla="*/ 2377440 h 271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11727" h="2710927">
                  <a:moveTo>
                    <a:pt x="0" y="0"/>
                  </a:moveTo>
                  <a:cubicBezTo>
                    <a:pt x="3586" y="21515"/>
                    <a:pt x="-3605" y="48131"/>
                    <a:pt x="10758" y="64546"/>
                  </a:cubicBezTo>
                  <a:cubicBezTo>
                    <a:pt x="25692" y="81614"/>
                    <a:pt x="75304" y="86061"/>
                    <a:pt x="75304" y="86061"/>
                  </a:cubicBezTo>
                  <a:cubicBezTo>
                    <a:pt x="292307" y="55059"/>
                    <a:pt x="169436" y="68388"/>
                    <a:pt x="602429" y="86061"/>
                  </a:cubicBezTo>
                  <a:cubicBezTo>
                    <a:pt x="637983" y="87512"/>
                    <a:pt x="684846" y="97314"/>
                    <a:pt x="720763" y="107576"/>
                  </a:cubicBezTo>
                  <a:cubicBezTo>
                    <a:pt x="731666" y="110691"/>
                    <a:pt x="741810" y="116730"/>
                    <a:pt x="753036" y="118334"/>
                  </a:cubicBezTo>
                  <a:cubicBezTo>
                    <a:pt x="792245" y="123935"/>
                    <a:pt x="831941" y="125336"/>
                    <a:pt x="871370" y="129091"/>
                  </a:cubicBezTo>
                  <a:lnTo>
                    <a:pt x="978946" y="139849"/>
                  </a:lnTo>
                  <a:lnTo>
                    <a:pt x="1075765" y="172122"/>
                  </a:lnTo>
                  <a:cubicBezTo>
                    <a:pt x="1086523" y="175708"/>
                    <a:pt x="1096724" y="182126"/>
                    <a:pt x="1108038" y="182880"/>
                  </a:cubicBezTo>
                  <a:lnTo>
                    <a:pt x="1269403" y="193637"/>
                  </a:lnTo>
                  <a:cubicBezTo>
                    <a:pt x="1272989" y="207981"/>
                    <a:pt x="1273548" y="223444"/>
                    <a:pt x="1280160" y="236668"/>
                  </a:cubicBezTo>
                  <a:cubicBezTo>
                    <a:pt x="1284696" y="245740"/>
                    <a:pt x="1293562" y="252097"/>
                    <a:pt x="1301676" y="258183"/>
                  </a:cubicBezTo>
                  <a:cubicBezTo>
                    <a:pt x="1322362" y="273698"/>
                    <a:pt x="1347936" y="282930"/>
                    <a:pt x="1366221" y="301214"/>
                  </a:cubicBezTo>
                  <a:cubicBezTo>
                    <a:pt x="1373393" y="308386"/>
                    <a:pt x="1378665" y="318193"/>
                    <a:pt x="1387737" y="322729"/>
                  </a:cubicBezTo>
                  <a:cubicBezTo>
                    <a:pt x="1421821" y="339771"/>
                    <a:pt x="1459284" y="344707"/>
                    <a:pt x="1495313" y="355002"/>
                  </a:cubicBezTo>
                  <a:cubicBezTo>
                    <a:pt x="1531130" y="365236"/>
                    <a:pt x="1530253" y="369790"/>
                    <a:pt x="1570617" y="376517"/>
                  </a:cubicBezTo>
                  <a:cubicBezTo>
                    <a:pt x="1599134" y="381270"/>
                    <a:pt x="1627991" y="383689"/>
                    <a:pt x="1656678" y="387275"/>
                  </a:cubicBezTo>
                  <a:cubicBezTo>
                    <a:pt x="1671022" y="398033"/>
                    <a:pt x="1687797" y="406147"/>
                    <a:pt x="1699709" y="419548"/>
                  </a:cubicBezTo>
                  <a:cubicBezTo>
                    <a:pt x="1716888" y="438875"/>
                    <a:pt x="1728396" y="462579"/>
                    <a:pt x="1742739" y="484094"/>
                  </a:cubicBezTo>
                  <a:cubicBezTo>
                    <a:pt x="1749911" y="494852"/>
                    <a:pt x="1755112" y="507225"/>
                    <a:pt x="1764254" y="516367"/>
                  </a:cubicBezTo>
                  <a:cubicBezTo>
                    <a:pt x="1789742" y="541854"/>
                    <a:pt x="1816634" y="565931"/>
                    <a:pt x="1828800" y="602428"/>
                  </a:cubicBezTo>
                  <a:cubicBezTo>
                    <a:pt x="1854405" y="679240"/>
                    <a:pt x="1831446" y="654394"/>
                    <a:pt x="1882589" y="688489"/>
                  </a:cubicBezTo>
                  <a:cubicBezTo>
                    <a:pt x="1889761" y="717176"/>
                    <a:pt x="1894754" y="746497"/>
                    <a:pt x="1904104" y="774550"/>
                  </a:cubicBezTo>
                  <a:cubicBezTo>
                    <a:pt x="1907690" y="785308"/>
                    <a:pt x="1909027" y="797099"/>
                    <a:pt x="1914861" y="806823"/>
                  </a:cubicBezTo>
                  <a:cubicBezTo>
                    <a:pt x="1920079" y="815520"/>
                    <a:pt x="1929205" y="821166"/>
                    <a:pt x="1936377" y="828338"/>
                  </a:cubicBezTo>
                  <a:cubicBezTo>
                    <a:pt x="1939963" y="839096"/>
                    <a:pt x="1941300" y="850887"/>
                    <a:pt x="1947134" y="860611"/>
                  </a:cubicBezTo>
                  <a:cubicBezTo>
                    <a:pt x="1952352" y="869308"/>
                    <a:pt x="1962314" y="874207"/>
                    <a:pt x="1968650" y="882127"/>
                  </a:cubicBezTo>
                  <a:cubicBezTo>
                    <a:pt x="1976727" y="892223"/>
                    <a:pt x="1984383" y="902836"/>
                    <a:pt x="1990165" y="914400"/>
                  </a:cubicBezTo>
                  <a:cubicBezTo>
                    <a:pt x="1995236" y="924542"/>
                    <a:pt x="1995852" y="936531"/>
                    <a:pt x="2000923" y="946673"/>
                  </a:cubicBezTo>
                  <a:cubicBezTo>
                    <a:pt x="2042632" y="1030091"/>
                    <a:pt x="2006155" y="930099"/>
                    <a:pt x="2033196" y="1011218"/>
                  </a:cubicBezTo>
                  <a:cubicBezTo>
                    <a:pt x="2036782" y="1050663"/>
                    <a:pt x="2039040" y="1090251"/>
                    <a:pt x="2043953" y="1129553"/>
                  </a:cubicBezTo>
                  <a:cubicBezTo>
                    <a:pt x="2046147" y="1147103"/>
                    <a:pt x="2059546" y="1206628"/>
                    <a:pt x="2065469" y="1226371"/>
                  </a:cubicBezTo>
                  <a:cubicBezTo>
                    <a:pt x="2086660" y="1297008"/>
                    <a:pt x="2072527" y="1276459"/>
                    <a:pt x="2108499" y="1312433"/>
                  </a:cubicBezTo>
                  <a:cubicBezTo>
                    <a:pt x="2133150" y="1411037"/>
                    <a:pt x="2113611" y="1373891"/>
                    <a:pt x="2151530" y="1430767"/>
                  </a:cubicBezTo>
                  <a:cubicBezTo>
                    <a:pt x="2159713" y="1471680"/>
                    <a:pt x="2172508" y="1558785"/>
                    <a:pt x="2194560" y="1602889"/>
                  </a:cubicBezTo>
                  <a:cubicBezTo>
                    <a:pt x="2208904" y="1631576"/>
                    <a:pt x="2219800" y="1662263"/>
                    <a:pt x="2237591" y="1688950"/>
                  </a:cubicBezTo>
                  <a:cubicBezTo>
                    <a:pt x="2244763" y="1699708"/>
                    <a:pt x="2253324" y="1709659"/>
                    <a:pt x="2259106" y="1721223"/>
                  </a:cubicBezTo>
                  <a:cubicBezTo>
                    <a:pt x="2280049" y="1763108"/>
                    <a:pt x="2259931" y="1748250"/>
                    <a:pt x="2280621" y="1796527"/>
                  </a:cubicBezTo>
                  <a:cubicBezTo>
                    <a:pt x="2285714" y="1808411"/>
                    <a:pt x="2295722" y="1817574"/>
                    <a:pt x="2302137" y="1828800"/>
                  </a:cubicBezTo>
                  <a:cubicBezTo>
                    <a:pt x="2310093" y="1842723"/>
                    <a:pt x="2315696" y="1857907"/>
                    <a:pt x="2323652" y="1871830"/>
                  </a:cubicBezTo>
                  <a:cubicBezTo>
                    <a:pt x="2330067" y="1883056"/>
                    <a:pt x="2339385" y="1892539"/>
                    <a:pt x="2345167" y="1904103"/>
                  </a:cubicBezTo>
                  <a:cubicBezTo>
                    <a:pt x="2350238" y="1914245"/>
                    <a:pt x="2349635" y="1926941"/>
                    <a:pt x="2355925" y="1936376"/>
                  </a:cubicBezTo>
                  <a:cubicBezTo>
                    <a:pt x="2364364" y="1949034"/>
                    <a:pt x="2378297" y="1957098"/>
                    <a:pt x="2388198" y="1968649"/>
                  </a:cubicBezTo>
                  <a:cubicBezTo>
                    <a:pt x="2471000" y="2065252"/>
                    <a:pt x="2372663" y="1963872"/>
                    <a:pt x="2452744" y="2043953"/>
                  </a:cubicBezTo>
                  <a:cubicBezTo>
                    <a:pt x="2473312" y="2105662"/>
                    <a:pt x="2449576" y="2050486"/>
                    <a:pt x="2485017" y="2097741"/>
                  </a:cubicBezTo>
                  <a:cubicBezTo>
                    <a:pt x="2500532" y="2118427"/>
                    <a:pt x="2509762" y="2144003"/>
                    <a:pt x="2528047" y="2162287"/>
                  </a:cubicBezTo>
                  <a:cubicBezTo>
                    <a:pt x="2535219" y="2169459"/>
                    <a:pt x="2543227" y="2175882"/>
                    <a:pt x="2549563" y="2183802"/>
                  </a:cubicBezTo>
                  <a:cubicBezTo>
                    <a:pt x="2557640" y="2193898"/>
                    <a:pt x="2560982" y="2207998"/>
                    <a:pt x="2571078" y="2216075"/>
                  </a:cubicBezTo>
                  <a:cubicBezTo>
                    <a:pt x="2579933" y="2223159"/>
                    <a:pt x="2592593" y="2223247"/>
                    <a:pt x="2603351" y="2226833"/>
                  </a:cubicBezTo>
                  <a:lnTo>
                    <a:pt x="2667897" y="2291378"/>
                  </a:lnTo>
                  <a:cubicBezTo>
                    <a:pt x="2687912" y="2311393"/>
                    <a:pt x="2694539" y="2320836"/>
                    <a:pt x="2721685" y="2334409"/>
                  </a:cubicBezTo>
                  <a:cubicBezTo>
                    <a:pt x="2731827" y="2339480"/>
                    <a:pt x="2743200" y="2341581"/>
                    <a:pt x="2753958" y="2345167"/>
                  </a:cubicBezTo>
                  <a:cubicBezTo>
                    <a:pt x="2764716" y="2355925"/>
                    <a:pt x="2772623" y="2370636"/>
                    <a:pt x="2786231" y="2377440"/>
                  </a:cubicBezTo>
                  <a:cubicBezTo>
                    <a:pt x="2802585" y="2385617"/>
                    <a:pt x="2821803" y="2386613"/>
                    <a:pt x="2840019" y="2388197"/>
                  </a:cubicBezTo>
                  <a:cubicBezTo>
                    <a:pt x="2904422" y="2393797"/>
                    <a:pt x="2969111" y="2395369"/>
                    <a:pt x="3033657" y="2398955"/>
                  </a:cubicBezTo>
                  <a:cubicBezTo>
                    <a:pt x="3275457" y="2382834"/>
                    <a:pt x="3398795" y="2369847"/>
                    <a:pt x="3689873" y="2398955"/>
                  </a:cubicBezTo>
                  <a:cubicBezTo>
                    <a:pt x="3710057" y="2400973"/>
                    <a:pt x="3713660" y="2435572"/>
                    <a:pt x="3732904" y="2441986"/>
                  </a:cubicBezTo>
                  <a:lnTo>
                    <a:pt x="3765177" y="2452743"/>
                  </a:lnTo>
                  <a:cubicBezTo>
                    <a:pt x="3772349" y="2463501"/>
                    <a:pt x="3776596" y="2476939"/>
                    <a:pt x="3786692" y="2485016"/>
                  </a:cubicBezTo>
                  <a:cubicBezTo>
                    <a:pt x="3795547" y="2492100"/>
                    <a:pt x="3808823" y="2490703"/>
                    <a:pt x="3818965" y="2495774"/>
                  </a:cubicBezTo>
                  <a:cubicBezTo>
                    <a:pt x="3902381" y="2537482"/>
                    <a:pt x="3802392" y="2501006"/>
                    <a:pt x="3883511" y="2528047"/>
                  </a:cubicBezTo>
                  <a:cubicBezTo>
                    <a:pt x="3903778" y="2548314"/>
                    <a:pt x="3921098" y="2569853"/>
                    <a:pt x="3948057" y="2581835"/>
                  </a:cubicBezTo>
                  <a:cubicBezTo>
                    <a:pt x="3968781" y="2591046"/>
                    <a:pt x="3991088" y="2596178"/>
                    <a:pt x="4012603" y="2603350"/>
                  </a:cubicBezTo>
                  <a:lnTo>
                    <a:pt x="4044876" y="2614108"/>
                  </a:lnTo>
                  <a:lnTo>
                    <a:pt x="4077149" y="2624866"/>
                  </a:lnTo>
                  <a:lnTo>
                    <a:pt x="4109421" y="2635623"/>
                  </a:lnTo>
                  <a:cubicBezTo>
                    <a:pt x="4276974" y="2747323"/>
                    <a:pt x="4116508" y="2648677"/>
                    <a:pt x="4625789" y="2667896"/>
                  </a:cubicBezTo>
                  <a:cubicBezTo>
                    <a:pt x="4653566" y="2668944"/>
                    <a:pt x="4743636" y="2683269"/>
                    <a:pt x="4776396" y="2689411"/>
                  </a:cubicBezTo>
                  <a:cubicBezTo>
                    <a:pt x="4812339" y="2696150"/>
                    <a:pt x="4883972" y="2710927"/>
                    <a:pt x="4883972" y="2710927"/>
                  </a:cubicBezTo>
                  <a:cubicBezTo>
                    <a:pt x="5005892" y="2707341"/>
                    <a:pt x="5127911" y="2706260"/>
                    <a:pt x="5249732" y="2700169"/>
                  </a:cubicBezTo>
                  <a:cubicBezTo>
                    <a:pt x="5271517" y="2699080"/>
                    <a:pt x="5292555" y="2691386"/>
                    <a:pt x="5314278" y="2689411"/>
                  </a:cubicBezTo>
                  <a:cubicBezTo>
                    <a:pt x="5371528" y="2684207"/>
                    <a:pt x="5429026" y="2682240"/>
                    <a:pt x="5486400" y="2678654"/>
                  </a:cubicBezTo>
                  <a:cubicBezTo>
                    <a:pt x="5515087" y="2675068"/>
                    <a:pt x="5543551" y="2667896"/>
                    <a:pt x="5572461" y="2667896"/>
                  </a:cubicBezTo>
                  <a:cubicBezTo>
                    <a:pt x="5665763" y="2667896"/>
                    <a:pt x="5759052" y="2672647"/>
                    <a:pt x="5852160" y="2678654"/>
                  </a:cubicBezTo>
                  <a:cubicBezTo>
                    <a:pt x="5870407" y="2679831"/>
                    <a:pt x="5887877" y="2686631"/>
                    <a:pt x="5905949" y="2689411"/>
                  </a:cubicBezTo>
                  <a:cubicBezTo>
                    <a:pt x="6075250" y="2715457"/>
                    <a:pt x="5922490" y="2686265"/>
                    <a:pt x="6045798" y="2710927"/>
                  </a:cubicBezTo>
                  <a:cubicBezTo>
                    <a:pt x="6139031" y="2707341"/>
                    <a:pt x="6232366" y="2705813"/>
                    <a:pt x="6325497" y="2700169"/>
                  </a:cubicBezTo>
                  <a:cubicBezTo>
                    <a:pt x="6350806" y="2698635"/>
                    <a:pt x="6375583" y="2692065"/>
                    <a:pt x="6400800" y="2689411"/>
                  </a:cubicBezTo>
                  <a:cubicBezTo>
                    <a:pt x="6443743" y="2684891"/>
                    <a:pt x="6486861" y="2682240"/>
                    <a:pt x="6529892" y="2678654"/>
                  </a:cubicBezTo>
                  <a:cubicBezTo>
                    <a:pt x="6540650" y="2675068"/>
                    <a:pt x="6551095" y="2670356"/>
                    <a:pt x="6562165" y="2667896"/>
                  </a:cubicBezTo>
                  <a:cubicBezTo>
                    <a:pt x="6589042" y="2661923"/>
                    <a:pt x="6677982" y="2649814"/>
                    <a:pt x="6702014" y="2646381"/>
                  </a:cubicBezTo>
                  <a:cubicBezTo>
                    <a:pt x="6774080" y="2622358"/>
                    <a:pt x="6697281" y="2645454"/>
                    <a:pt x="6831106" y="2624866"/>
                  </a:cubicBezTo>
                  <a:cubicBezTo>
                    <a:pt x="6845719" y="2622618"/>
                    <a:pt x="6859975" y="2618356"/>
                    <a:pt x="6874137" y="2614108"/>
                  </a:cubicBezTo>
                  <a:cubicBezTo>
                    <a:pt x="6895860" y="2607591"/>
                    <a:pt x="6916039" y="2593851"/>
                    <a:pt x="6938683" y="2592593"/>
                  </a:cubicBezTo>
                  <a:lnTo>
                    <a:pt x="7132320" y="2581835"/>
                  </a:lnTo>
                  <a:cubicBezTo>
                    <a:pt x="7186108" y="2585421"/>
                    <a:pt x="7240045" y="2587229"/>
                    <a:pt x="7293685" y="2592593"/>
                  </a:cubicBezTo>
                  <a:cubicBezTo>
                    <a:pt x="7311879" y="2594412"/>
                    <a:pt x="7329189" y="2603350"/>
                    <a:pt x="7347473" y="2603350"/>
                  </a:cubicBezTo>
                  <a:cubicBezTo>
                    <a:pt x="7469446" y="2603350"/>
                    <a:pt x="7591313" y="2596179"/>
                    <a:pt x="7713233" y="2592593"/>
                  </a:cubicBezTo>
                  <a:cubicBezTo>
                    <a:pt x="7734748" y="2585421"/>
                    <a:pt x="7755178" y="2572960"/>
                    <a:pt x="7777779" y="2571077"/>
                  </a:cubicBezTo>
                  <a:lnTo>
                    <a:pt x="8035963" y="2549562"/>
                  </a:lnTo>
                  <a:cubicBezTo>
                    <a:pt x="8276228" y="2469471"/>
                    <a:pt x="7983783" y="2563365"/>
                    <a:pt x="8713694" y="2528047"/>
                  </a:cubicBezTo>
                  <a:cubicBezTo>
                    <a:pt x="8723825" y="2527557"/>
                    <a:pt x="8726138" y="2511067"/>
                    <a:pt x="8735210" y="2506531"/>
                  </a:cubicBezTo>
                  <a:cubicBezTo>
                    <a:pt x="8755495" y="2496389"/>
                    <a:pt x="8778241" y="2492188"/>
                    <a:pt x="8799756" y="2485016"/>
                  </a:cubicBezTo>
                  <a:lnTo>
                    <a:pt x="8832029" y="2474258"/>
                  </a:lnTo>
                  <a:lnTo>
                    <a:pt x="8864301" y="2463501"/>
                  </a:lnTo>
                  <a:cubicBezTo>
                    <a:pt x="8898862" y="2428942"/>
                    <a:pt x="8872201" y="2448222"/>
                    <a:pt x="8928847" y="2431228"/>
                  </a:cubicBezTo>
                  <a:cubicBezTo>
                    <a:pt x="8950570" y="2424711"/>
                    <a:pt x="8971022" y="2413442"/>
                    <a:pt x="8993393" y="2409713"/>
                  </a:cubicBezTo>
                  <a:cubicBezTo>
                    <a:pt x="9014908" y="2406127"/>
                    <a:pt x="9036646" y="2403687"/>
                    <a:pt x="9057939" y="2398955"/>
                  </a:cubicBezTo>
                  <a:cubicBezTo>
                    <a:pt x="9081865" y="2393638"/>
                    <a:pt x="9091350" y="2387628"/>
                    <a:pt x="9111727" y="2377440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39" name="Freeform 130">
              <a:extLst>
                <a:ext uri="{FF2B5EF4-FFF2-40B4-BE49-F238E27FC236}">
                  <a16:creationId xmlns:a16="http://schemas.microsoft.com/office/drawing/2014/main" id="{71B265C8-A34A-D8AB-687D-3D5B5C7C3DF9}"/>
                </a:ext>
              </a:extLst>
            </p:cNvPr>
            <p:cNvSpPr/>
            <p:nvPr/>
          </p:nvSpPr>
          <p:spPr>
            <a:xfrm>
              <a:off x="3796412" y="5284550"/>
              <a:ext cx="716455" cy="949202"/>
            </a:xfrm>
            <a:custGeom>
              <a:avLst/>
              <a:gdLst>
                <a:gd name="connsiteX0" fmla="*/ 699248 w 699248"/>
                <a:gd name="connsiteY0" fmla="*/ 0 h 989703"/>
                <a:gd name="connsiteX1" fmla="*/ 645459 w 699248"/>
                <a:gd name="connsiteY1" fmla="*/ 53788 h 989703"/>
                <a:gd name="connsiteX2" fmla="*/ 613186 w 699248"/>
                <a:gd name="connsiteY2" fmla="*/ 118334 h 989703"/>
                <a:gd name="connsiteX3" fmla="*/ 591671 w 699248"/>
                <a:gd name="connsiteY3" fmla="*/ 150607 h 989703"/>
                <a:gd name="connsiteX4" fmla="*/ 580913 w 699248"/>
                <a:gd name="connsiteY4" fmla="*/ 279699 h 989703"/>
                <a:gd name="connsiteX5" fmla="*/ 548640 w 699248"/>
                <a:gd name="connsiteY5" fmla="*/ 322729 h 989703"/>
                <a:gd name="connsiteX6" fmla="*/ 494852 w 699248"/>
                <a:gd name="connsiteY6" fmla="*/ 387275 h 989703"/>
                <a:gd name="connsiteX7" fmla="*/ 484095 w 699248"/>
                <a:gd name="connsiteY7" fmla="*/ 419548 h 989703"/>
                <a:gd name="connsiteX8" fmla="*/ 430306 w 699248"/>
                <a:gd name="connsiteY8" fmla="*/ 462579 h 989703"/>
                <a:gd name="connsiteX9" fmla="*/ 387276 w 699248"/>
                <a:gd name="connsiteY9" fmla="*/ 527124 h 989703"/>
                <a:gd name="connsiteX10" fmla="*/ 365760 w 699248"/>
                <a:gd name="connsiteY10" fmla="*/ 559397 h 989703"/>
                <a:gd name="connsiteX11" fmla="*/ 344245 w 699248"/>
                <a:gd name="connsiteY11" fmla="*/ 677731 h 989703"/>
                <a:gd name="connsiteX12" fmla="*/ 333488 w 699248"/>
                <a:gd name="connsiteY12" fmla="*/ 742277 h 989703"/>
                <a:gd name="connsiteX13" fmla="*/ 311972 w 699248"/>
                <a:gd name="connsiteY13" fmla="*/ 763793 h 989703"/>
                <a:gd name="connsiteX14" fmla="*/ 290457 w 699248"/>
                <a:gd name="connsiteY14" fmla="*/ 796066 h 989703"/>
                <a:gd name="connsiteX15" fmla="*/ 225911 w 699248"/>
                <a:gd name="connsiteY15" fmla="*/ 828339 h 989703"/>
                <a:gd name="connsiteX16" fmla="*/ 161365 w 699248"/>
                <a:gd name="connsiteY16" fmla="*/ 871369 h 989703"/>
                <a:gd name="connsiteX17" fmla="*/ 96819 w 699248"/>
                <a:gd name="connsiteY17" fmla="*/ 925157 h 989703"/>
                <a:gd name="connsiteX18" fmla="*/ 75304 w 699248"/>
                <a:gd name="connsiteY18" fmla="*/ 946673 h 989703"/>
                <a:gd name="connsiteX19" fmla="*/ 32273 w 699248"/>
                <a:gd name="connsiteY19" fmla="*/ 968188 h 989703"/>
                <a:gd name="connsiteX20" fmla="*/ 0 w 699248"/>
                <a:gd name="connsiteY20" fmla="*/ 989703 h 98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248" h="989703">
                  <a:moveTo>
                    <a:pt x="699248" y="0"/>
                  </a:moveTo>
                  <a:cubicBezTo>
                    <a:pt x="681318" y="17929"/>
                    <a:pt x="662156" y="34706"/>
                    <a:pt x="645459" y="53788"/>
                  </a:cubicBezTo>
                  <a:cubicBezTo>
                    <a:pt x="609493" y="94891"/>
                    <a:pt x="635190" y="74326"/>
                    <a:pt x="613186" y="118334"/>
                  </a:cubicBezTo>
                  <a:cubicBezTo>
                    <a:pt x="607404" y="129898"/>
                    <a:pt x="598843" y="139849"/>
                    <a:pt x="591671" y="150607"/>
                  </a:cubicBezTo>
                  <a:cubicBezTo>
                    <a:pt x="588085" y="193638"/>
                    <a:pt x="591386" y="237808"/>
                    <a:pt x="580913" y="279699"/>
                  </a:cubicBezTo>
                  <a:cubicBezTo>
                    <a:pt x="576564" y="297093"/>
                    <a:pt x="559061" y="308139"/>
                    <a:pt x="548640" y="322729"/>
                  </a:cubicBezTo>
                  <a:cubicBezTo>
                    <a:pt x="511196" y="375151"/>
                    <a:pt x="545081" y="337046"/>
                    <a:pt x="494852" y="387275"/>
                  </a:cubicBezTo>
                  <a:cubicBezTo>
                    <a:pt x="491266" y="398033"/>
                    <a:pt x="489929" y="409824"/>
                    <a:pt x="484095" y="419548"/>
                  </a:cubicBezTo>
                  <a:cubicBezTo>
                    <a:pt x="473877" y="436578"/>
                    <a:pt x="444961" y="452809"/>
                    <a:pt x="430306" y="462579"/>
                  </a:cubicBezTo>
                  <a:lnTo>
                    <a:pt x="387276" y="527124"/>
                  </a:lnTo>
                  <a:lnTo>
                    <a:pt x="365760" y="559397"/>
                  </a:lnTo>
                  <a:cubicBezTo>
                    <a:pt x="347356" y="633017"/>
                    <a:pt x="359662" y="577518"/>
                    <a:pt x="344245" y="677731"/>
                  </a:cubicBezTo>
                  <a:cubicBezTo>
                    <a:pt x="340928" y="699289"/>
                    <a:pt x="341147" y="721854"/>
                    <a:pt x="333488" y="742277"/>
                  </a:cubicBezTo>
                  <a:cubicBezTo>
                    <a:pt x="329927" y="751774"/>
                    <a:pt x="318308" y="755873"/>
                    <a:pt x="311972" y="763793"/>
                  </a:cubicBezTo>
                  <a:cubicBezTo>
                    <a:pt x="303895" y="773889"/>
                    <a:pt x="299599" y="786924"/>
                    <a:pt x="290457" y="796066"/>
                  </a:cubicBezTo>
                  <a:cubicBezTo>
                    <a:pt x="254642" y="831881"/>
                    <a:pt x="265281" y="806467"/>
                    <a:pt x="225911" y="828339"/>
                  </a:cubicBezTo>
                  <a:cubicBezTo>
                    <a:pt x="203307" y="840897"/>
                    <a:pt x="179649" y="853085"/>
                    <a:pt x="161365" y="871369"/>
                  </a:cubicBezTo>
                  <a:cubicBezTo>
                    <a:pt x="84695" y="948039"/>
                    <a:pt x="171711" y="865242"/>
                    <a:pt x="96819" y="925157"/>
                  </a:cubicBezTo>
                  <a:cubicBezTo>
                    <a:pt x="88899" y="931493"/>
                    <a:pt x="83743" y="941047"/>
                    <a:pt x="75304" y="946673"/>
                  </a:cubicBezTo>
                  <a:cubicBezTo>
                    <a:pt x="61961" y="955569"/>
                    <a:pt x="46197" y="960232"/>
                    <a:pt x="32273" y="968188"/>
                  </a:cubicBezTo>
                  <a:cubicBezTo>
                    <a:pt x="21047" y="974603"/>
                    <a:pt x="0" y="989703"/>
                    <a:pt x="0" y="989703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40" name="Freeform 131">
              <a:extLst>
                <a:ext uri="{FF2B5EF4-FFF2-40B4-BE49-F238E27FC236}">
                  <a16:creationId xmlns:a16="http://schemas.microsoft.com/office/drawing/2014/main" id="{04C8A28A-D978-6BB6-4C6A-23A14E19B234}"/>
                </a:ext>
              </a:extLst>
            </p:cNvPr>
            <p:cNvSpPr/>
            <p:nvPr/>
          </p:nvSpPr>
          <p:spPr>
            <a:xfrm>
              <a:off x="4405929" y="5292762"/>
              <a:ext cx="258183" cy="1215614"/>
            </a:xfrm>
            <a:custGeom>
              <a:avLst/>
              <a:gdLst>
                <a:gd name="connsiteX0" fmla="*/ 0 w 258183"/>
                <a:gd name="connsiteY0" fmla="*/ 0 h 1215614"/>
                <a:gd name="connsiteX1" fmla="*/ 53788 w 258183"/>
                <a:gd name="connsiteY1" fmla="*/ 53789 h 1215614"/>
                <a:gd name="connsiteX2" fmla="*/ 64546 w 258183"/>
                <a:gd name="connsiteY2" fmla="*/ 86062 h 1215614"/>
                <a:gd name="connsiteX3" fmla="*/ 86061 w 258183"/>
                <a:gd name="connsiteY3" fmla="*/ 118334 h 1215614"/>
                <a:gd name="connsiteX4" fmla="*/ 129092 w 258183"/>
                <a:gd name="connsiteY4" fmla="*/ 161365 h 1215614"/>
                <a:gd name="connsiteX5" fmla="*/ 161365 w 258183"/>
                <a:gd name="connsiteY5" fmla="*/ 537883 h 1215614"/>
                <a:gd name="connsiteX6" fmla="*/ 172122 w 258183"/>
                <a:gd name="connsiteY6" fmla="*/ 570156 h 1215614"/>
                <a:gd name="connsiteX7" fmla="*/ 182880 w 258183"/>
                <a:gd name="connsiteY7" fmla="*/ 634702 h 1215614"/>
                <a:gd name="connsiteX8" fmla="*/ 204395 w 258183"/>
                <a:gd name="connsiteY8" fmla="*/ 796066 h 1215614"/>
                <a:gd name="connsiteX9" fmla="*/ 215153 w 258183"/>
                <a:gd name="connsiteY9" fmla="*/ 989704 h 1215614"/>
                <a:gd name="connsiteX10" fmla="*/ 247426 w 258183"/>
                <a:gd name="connsiteY10" fmla="*/ 1086523 h 1215614"/>
                <a:gd name="connsiteX11" fmla="*/ 258183 w 258183"/>
                <a:gd name="connsiteY11" fmla="*/ 1118796 h 1215614"/>
                <a:gd name="connsiteX12" fmla="*/ 258183 w 258183"/>
                <a:gd name="connsiteY12" fmla="*/ 1215614 h 121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8183" h="1215614">
                  <a:moveTo>
                    <a:pt x="0" y="0"/>
                  </a:moveTo>
                  <a:cubicBezTo>
                    <a:pt x="17929" y="17930"/>
                    <a:pt x="38574" y="33504"/>
                    <a:pt x="53788" y="53789"/>
                  </a:cubicBezTo>
                  <a:cubicBezTo>
                    <a:pt x="60592" y="62861"/>
                    <a:pt x="59475" y="75920"/>
                    <a:pt x="64546" y="86062"/>
                  </a:cubicBezTo>
                  <a:cubicBezTo>
                    <a:pt x="70328" y="97626"/>
                    <a:pt x="77647" y="108518"/>
                    <a:pt x="86061" y="118334"/>
                  </a:cubicBezTo>
                  <a:cubicBezTo>
                    <a:pt x="99262" y="133735"/>
                    <a:pt x="129092" y="161365"/>
                    <a:pt x="129092" y="161365"/>
                  </a:cubicBezTo>
                  <a:cubicBezTo>
                    <a:pt x="186026" y="332169"/>
                    <a:pt x="138287" y="168630"/>
                    <a:pt x="161365" y="537883"/>
                  </a:cubicBezTo>
                  <a:cubicBezTo>
                    <a:pt x="162072" y="549200"/>
                    <a:pt x="169662" y="559087"/>
                    <a:pt x="172122" y="570156"/>
                  </a:cubicBezTo>
                  <a:cubicBezTo>
                    <a:pt x="176854" y="591449"/>
                    <a:pt x="179563" y="613144"/>
                    <a:pt x="182880" y="634702"/>
                  </a:cubicBezTo>
                  <a:cubicBezTo>
                    <a:pt x="192773" y="699005"/>
                    <a:pt x="196139" y="730018"/>
                    <a:pt x="204395" y="796066"/>
                  </a:cubicBezTo>
                  <a:cubicBezTo>
                    <a:pt x="207981" y="860612"/>
                    <a:pt x="207135" y="925558"/>
                    <a:pt x="215153" y="989704"/>
                  </a:cubicBezTo>
                  <a:cubicBezTo>
                    <a:pt x="215154" y="989712"/>
                    <a:pt x="242046" y="1070383"/>
                    <a:pt x="247426" y="1086523"/>
                  </a:cubicBezTo>
                  <a:cubicBezTo>
                    <a:pt x="251012" y="1097281"/>
                    <a:pt x="258183" y="1107456"/>
                    <a:pt x="258183" y="1118796"/>
                  </a:cubicBezTo>
                  <a:lnTo>
                    <a:pt x="258183" y="1215614"/>
                  </a:ln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41" name="Freeform 132">
              <a:extLst>
                <a:ext uri="{FF2B5EF4-FFF2-40B4-BE49-F238E27FC236}">
                  <a16:creationId xmlns:a16="http://schemas.microsoft.com/office/drawing/2014/main" id="{EEECA4DA-C47C-4CE5-E6A8-8450013671A0}"/>
                </a:ext>
              </a:extLst>
            </p:cNvPr>
            <p:cNvSpPr/>
            <p:nvPr/>
          </p:nvSpPr>
          <p:spPr>
            <a:xfrm>
              <a:off x="3147284" y="5044880"/>
              <a:ext cx="1356012" cy="1205955"/>
            </a:xfrm>
            <a:custGeom>
              <a:avLst/>
              <a:gdLst>
                <a:gd name="connsiteX0" fmla="*/ 1280160 w 1280160"/>
                <a:gd name="connsiteY0" fmla="*/ 0 h 1161826"/>
                <a:gd name="connsiteX1" fmla="*/ 1226372 w 1280160"/>
                <a:gd name="connsiteY1" fmla="*/ 21515 h 1161826"/>
                <a:gd name="connsiteX2" fmla="*/ 1194099 w 1280160"/>
                <a:gd name="connsiteY2" fmla="*/ 53788 h 1161826"/>
                <a:gd name="connsiteX3" fmla="*/ 1161826 w 1280160"/>
                <a:gd name="connsiteY3" fmla="*/ 75303 h 1161826"/>
                <a:gd name="connsiteX4" fmla="*/ 1075765 w 1280160"/>
                <a:gd name="connsiteY4" fmla="*/ 182880 h 1161826"/>
                <a:gd name="connsiteX5" fmla="*/ 1054250 w 1280160"/>
                <a:gd name="connsiteY5" fmla="*/ 215153 h 1161826"/>
                <a:gd name="connsiteX6" fmla="*/ 1021977 w 1280160"/>
                <a:gd name="connsiteY6" fmla="*/ 279699 h 1161826"/>
                <a:gd name="connsiteX7" fmla="*/ 1011219 w 1280160"/>
                <a:gd name="connsiteY7" fmla="*/ 311971 h 1161826"/>
                <a:gd name="connsiteX8" fmla="*/ 989704 w 1280160"/>
                <a:gd name="connsiteY8" fmla="*/ 333487 h 1161826"/>
                <a:gd name="connsiteX9" fmla="*/ 968188 w 1280160"/>
                <a:gd name="connsiteY9" fmla="*/ 365760 h 1161826"/>
                <a:gd name="connsiteX10" fmla="*/ 925158 w 1280160"/>
                <a:gd name="connsiteY10" fmla="*/ 387275 h 1161826"/>
                <a:gd name="connsiteX11" fmla="*/ 871370 w 1280160"/>
                <a:gd name="connsiteY11" fmla="*/ 430306 h 1161826"/>
                <a:gd name="connsiteX12" fmla="*/ 817581 w 1280160"/>
                <a:gd name="connsiteY12" fmla="*/ 484094 h 1161826"/>
                <a:gd name="connsiteX13" fmla="*/ 796066 w 1280160"/>
                <a:gd name="connsiteY13" fmla="*/ 516367 h 1161826"/>
                <a:gd name="connsiteX14" fmla="*/ 763793 w 1280160"/>
                <a:gd name="connsiteY14" fmla="*/ 527124 h 1161826"/>
                <a:gd name="connsiteX15" fmla="*/ 710005 w 1280160"/>
                <a:gd name="connsiteY15" fmla="*/ 580913 h 1161826"/>
                <a:gd name="connsiteX16" fmla="*/ 645459 w 1280160"/>
                <a:gd name="connsiteY16" fmla="*/ 634701 h 1161826"/>
                <a:gd name="connsiteX17" fmla="*/ 602428 w 1280160"/>
                <a:gd name="connsiteY17" fmla="*/ 731520 h 1161826"/>
                <a:gd name="connsiteX18" fmla="*/ 516367 w 1280160"/>
                <a:gd name="connsiteY18" fmla="*/ 828339 h 1161826"/>
                <a:gd name="connsiteX19" fmla="*/ 451821 w 1280160"/>
                <a:gd name="connsiteY19" fmla="*/ 871369 h 1161826"/>
                <a:gd name="connsiteX20" fmla="*/ 419548 w 1280160"/>
                <a:gd name="connsiteY20" fmla="*/ 892884 h 1161826"/>
                <a:gd name="connsiteX21" fmla="*/ 398033 w 1280160"/>
                <a:gd name="connsiteY21" fmla="*/ 914400 h 1161826"/>
                <a:gd name="connsiteX22" fmla="*/ 333487 w 1280160"/>
                <a:gd name="connsiteY22" fmla="*/ 935915 h 1161826"/>
                <a:gd name="connsiteX23" fmla="*/ 301214 w 1280160"/>
                <a:gd name="connsiteY23" fmla="*/ 946673 h 1161826"/>
                <a:gd name="connsiteX24" fmla="*/ 268941 w 1280160"/>
                <a:gd name="connsiteY24" fmla="*/ 957430 h 1161826"/>
                <a:gd name="connsiteX25" fmla="*/ 236668 w 1280160"/>
                <a:gd name="connsiteY25" fmla="*/ 978946 h 1161826"/>
                <a:gd name="connsiteX26" fmla="*/ 193638 w 1280160"/>
                <a:gd name="connsiteY26" fmla="*/ 1043491 h 1161826"/>
                <a:gd name="connsiteX27" fmla="*/ 129092 w 1280160"/>
                <a:gd name="connsiteY27" fmla="*/ 1075764 h 1161826"/>
                <a:gd name="connsiteX28" fmla="*/ 96819 w 1280160"/>
                <a:gd name="connsiteY28" fmla="*/ 1097280 h 1161826"/>
                <a:gd name="connsiteX29" fmla="*/ 53788 w 1280160"/>
                <a:gd name="connsiteY29" fmla="*/ 1108037 h 1161826"/>
                <a:gd name="connsiteX30" fmla="*/ 0 w 1280160"/>
                <a:gd name="connsiteY30" fmla="*/ 1161826 h 116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80160" h="1161826">
                  <a:moveTo>
                    <a:pt x="1280160" y="0"/>
                  </a:moveTo>
                  <a:cubicBezTo>
                    <a:pt x="1262231" y="7172"/>
                    <a:pt x="1242747" y="11280"/>
                    <a:pt x="1226372" y="21515"/>
                  </a:cubicBezTo>
                  <a:cubicBezTo>
                    <a:pt x="1213471" y="29578"/>
                    <a:pt x="1205786" y="44049"/>
                    <a:pt x="1194099" y="53788"/>
                  </a:cubicBezTo>
                  <a:cubicBezTo>
                    <a:pt x="1184167" y="62065"/>
                    <a:pt x="1171642" y="66889"/>
                    <a:pt x="1161826" y="75303"/>
                  </a:cubicBezTo>
                  <a:cubicBezTo>
                    <a:pt x="1114136" y="116180"/>
                    <a:pt x="1112678" y="127509"/>
                    <a:pt x="1075765" y="182880"/>
                  </a:cubicBezTo>
                  <a:cubicBezTo>
                    <a:pt x="1068593" y="193638"/>
                    <a:pt x="1058339" y="202887"/>
                    <a:pt x="1054250" y="215153"/>
                  </a:cubicBezTo>
                  <a:cubicBezTo>
                    <a:pt x="1027211" y="296269"/>
                    <a:pt x="1063684" y="196287"/>
                    <a:pt x="1021977" y="279699"/>
                  </a:cubicBezTo>
                  <a:cubicBezTo>
                    <a:pt x="1016906" y="289841"/>
                    <a:pt x="1017053" y="302248"/>
                    <a:pt x="1011219" y="311971"/>
                  </a:cubicBezTo>
                  <a:cubicBezTo>
                    <a:pt x="1006001" y="320668"/>
                    <a:pt x="996040" y="325567"/>
                    <a:pt x="989704" y="333487"/>
                  </a:cubicBezTo>
                  <a:cubicBezTo>
                    <a:pt x="981627" y="343583"/>
                    <a:pt x="978121" y="357483"/>
                    <a:pt x="968188" y="365760"/>
                  </a:cubicBezTo>
                  <a:cubicBezTo>
                    <a:pt x="955869" y="376026"/>
                    <a:pt x="939501" y="380103"/>
                    <a:pt x="925158" y="387275"/>
                  </a:cubicBezTo>
                  <a:cubicBezTo>
                    <a:pt x="869139" y="471301"/>
                    <a:pt x="940651" y="378345"/>
                    <a:pt x="871370" y="430306"/>
                  </a:cubicBezTo>
                  <a:cubicBezTo>
                    <a:pt x="851085" y="445520"/>
                    <a:pt x="831646" y="462996"/>
                    <a:pt x="817581" y="484094"/>
                  </a:cubicBezTo>
                  <a:cubicBezTo>
                    <a:pt x="810409" y="494852"/>
                    <a:pt x="806162" y="508290"/>
                    <a:pt x="796066" y="516367"/>
                  </a:cubicBezTo>
                  <a:cubicBezTo>
                    <a:pt x="787211" y="523451"/>
                    <a:pt x="774551" y="523538"/>
                    <a:pt x="763793" y="527124"/>
                  </a:cubicBezTo>
                  <a:cubicBezTo>
                    <a:pt x="745864" y="545054"/>
                    <a:pt x="731103" y="566848"/>
                    <a:pt x="710005" y="580913"/>
                  </a:cubicBezTo>
                  <a:cubicBezTo>
                    <a:pt x="678272" y="602068"/>
                    <a:pt x="671343" y="603639"/>
                    <a:pt x="645459" y="634701"/>
                  </a:cubicBezTo>
                  <a:cubicBezTo>
                    <a:pt x="572485" y="722271"/>
                    <a:pt x="696232" y="590812"/>
                    <a:pt x="602428" y="731520"/>
                  </a:cubicBezTo>
                  <a:cubicBezTo>
                    <a:pt x="576560" y="770323"/>
                    <a:pt x="560580" y="798864"/>
                    <a:pt x="516367" y="828339"/>
                  </a:cubicBezTo>
                  <a:lnTo>
                    <a:pt x="451821" y="871369"/>
                  </a:lnTo>
                  <a:cubicBezTo>
                    <a:pt x="441063" y="878541"/>
                    <a:pt x="428690" y="883742"/>
                    <a:pt x="419548" y="892884"/>
                  </a:cubicBezTo>
                  <a:cubicBezTo>
                    <a:pt x="412376" y="900056"/>
                    <a:pt x="407105" y="909864"/>
                    <a:pt x="398033" y="914400"/>
                  </a:cubicBezTo>
                  <a:cubicBezTo>
                    <a:pt x="377748" y="924543"/>
                    <a:pt x="355002" y="928743"/>
                    <a:pt x="333487" y="935915"/>
                  </a:cubicBezTo>
                  <a:lnTo>
                    <a:pt x="301214" y="946673"/>
                  </a:lnTo>
                  <a:lnTo>
                    <a:pt x="268941" y="957430"/>
                  </a:lnTo>
                  <a:cubicBezTo>
                    <a:pt x="258183" y="964602"/>
                    <a:pt x="245182" y="969216"/>
                    <a:pt x="236668" y="978946"/>
                  </a:cubicBezTo>
                  <a:cubicBezTo>
                    <a:pt x="219641" y="998406"/>
                    <a:pt x="215153" y="1029147"/>
                    <a:pt x="193638" y="1043491"/>
                  </a:cubicBezTo>
                  <a:cubicBezTo>
                    <a:pt x="151930" y="1071297"/>
                    <a:pt x="173631" y="1060919"/>
                    <a:pt x="129092" y="1075764"/>
                  </a:cubicBezTo>
                  <a:cubicBezTo>
                    <a:pt x="118334" y="1082936"/>
                    <a:pt x="108703" y="1092187"/>
                    <a:pt x="96819" y="1097280"/>
                  </a:cubicBezTo>
                  <a:cubicBezTo>
                    <a:pt x="83229" y="1103104"/>
                    <a:pt x="66090" y="1099836"/>
                    <a:pt x="53788" y="1108037"/>
                  </a:cubicBezTo>
                  <a:cubicBezTo>
                    <a:pt x="32690" y="1122102"/>
                    <a:pt x="0" y="1161826"/>
                    <a:pt x="0" y="1161826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1DE811C-BC09-67C3-443F-B31681D9C0D6}"/>
                </a:ext>
              </a:extLst>
            </p:cNvPr>
            <p:cNvSpPr txBox="1"/>
            <p:nvPr/>
          </p:nvSpPr>
          <p:spPr>
            <a:xfrm>
              <a:off x="6571301" y="4402604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78E71DD7-31BD-C2AA-135B-84A5EB7E0D2C}"/>
                </a:ext>
              </a:extLst>
            </p:cNvPr>
            <p:cNvSpPr txBox="1"/>
            <p:nvPr/>
          </p:nvSpPr>
          <p:spPr>
            <a:xfrm>
              <a:off x="3677863" y="2697180"/>
              <a:ext cx="29527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OB3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591E4AD1-4297-BA31-2374-CBA109F881FC}"/>
                </a:ext>
              </a:extLst>
            </p:cNvPr>
            <p:cNvSpPr txBox="1"/>
            <p:nvPr/>
          </p:nvSpPr>
          <p:spPr>
            <a:xfrm>
              <a:off x="4451234" y="3089241"/>
              <a:ext cx="287379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KGG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25692AF-1F1B-BE99-789D-FE5F9D0474FF}"/>
                </a:ext>
              </a:extLst>
            </p:cNvPr>
            <p:cNvSpPr txBox="1"/>
            <p:nvPr/>
          </p:nvSpPr>
          <p:spPr>
            <a:xfrm rot="1295605">
              <a:off x="3685747" y="2820914"/>
              <a:ext cx="27734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48”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EE684728-FB0F-BCDE-EBF3-AE3F9CF85456}"/>
                </a:ext>
              </a:extLst>
            </p:cNvPr>
            <p:cNvSpPr txBox="1"/>
            <p:nvPr/>
          </p:nvSpPr>
          <p:spPr>
            <a:xfrm rot="1410677">
              <a:off x="8324802" y="3475196"/>
              <a:ext cx="43152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24”X 75 Km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3EC00BA-3756-4856-8D15-72D6B80356F6}"/>
                </a:ext>
              </a:extLst>
            </p:cNvPr>
            <p:cNvSpPr txBox="1"/>
            <p:nvPr/>
          </p:nvSpPr>
          <p:spPr>
            <a:xfrm rot="19658503">
              <a:off x="6296529" y="579073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 X 124 Km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7249071-38A0-AB62-4BC1-55376318D17C}"/>
                </a:ext>
              </a:extLst>
            </p:cNvPr>
            <p:cNvSpPr txBox="1"/>
            <p:nvPr/>
          </p:nvSpPr>
          <p:spPr>
            <a:xfrm rot="19631737">
              <a:off x="5333816" y="1285672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 X 193 Km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7614D6A-5508-D6F7-EB6E-797A2A0AF1E7}"/>
                </a:ext>
              </a:extLst>
            </p:cNvPr>
            <p:cNvSpPr txBox="1"/>
            <p:nvPr/>
          </p:nvSpPr>
          <p:spPr>
            <a:xfrm rot="19676694">
              <a:off x="4677723" y="1586453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 X 200 Km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2CB4BB67-1713-E8D3-9CC3-AFA390944D02}"/>
                </a:ext>
              </a:extLst>
            </p:cNvPr>
            <p:cNvSpPr txBox="1"/>
            <p:nvPr/>
          </p:nvSpPr>
          <p:spPr>
            <a:xfrm rot="1100808">
              <a:off x="6559893" y="2835262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90 Km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27735F88-4789-33BD-EC0D-00C98DDA4665}"/>
                </a:ext>
              </a:extLst>
            </p:cNvPr>
            <p:cNvSpPr txBox="1"/>
            <p:nvPr/>
          </p:nvSpPr>
          <p:spPr>
            <a:xfrm rot="1270664">
              <a:off x="5180911" y="2385198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206 Km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425DFE9B-F52F-1BA7-C16C-E2D1249F8DB5}"/>
                </a:ext>
              </a:extLst>
            </p:cNvPr>
            <p:cNvSpPr txBox="1"/>
            <p:nvPr/>
          </p:nvSpPr>
          <p:spPr>
            <a:xfrm rot="1518546">
              <a:off x="7875022" y="3282980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2)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7CBCAF2F-BD54-89AC-F921-BCE162239D31}"/>
                </a:ext>
              </a:extLst>
            </p:cNvPr>
            <p:cNvSpPr txBox="1"/>
            <p:nvPr/>
          </p:nvSpPr>
          <p:spPr>
            <a:xfrm rot="940037">
              <a:off x="6102302" y="2696391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1)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AAE4C16-C012-97EB-C2D6-84B8BE013105}"/>
                </a:ext>
              </a:extLst>
            </p:cNvPr>
            <p:cNvSpPr txBox="1"/>
            <p:nvPr/>
          </p:nvSpPr>
          <p:spPr>
            <a:xfrm rot="1209865">
              <a:off x="4802271" y="2248540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1)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C36287D9-519F-D1D2-BC31-7F92DB339A1B}"/>
                </a:ext>
              </a:extLst>
            </p:cNvPr>
            <p:cNvSpPr txBox="1"/>
            <p:nvPr/>
          </p:nvSpPr>
          <p:spPr>
            <a:xfrm>
              <a:off x="5826101" y="3776772"/>
              <a:ext cx="54213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(Early Gas)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4086723E-9359-B2AD-CF81-FB4E967B801F}"/>
                </a:ext>
              </a:extLst>
            </p:cNvPr>
            <p:cNvSpPr txBox="1"/>
            <p:nvPr/>
          </p:nvSpPr>
          <p:spPr>
            <a:xfrm>
              <a:off x="5627042" y="5239091"/>
              <a:ext cx="54213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(Early Gas)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9E194166-852B-739D-F439-BC2FA0795995}"/>
                </a:ext>
              </a:extLst>
            </p:cNvPr>
            <p:cNvSpPr txBox="1"/>
            <p:nvPr/>
          </p:nvSpPr>
          <p:spPr>
            <a:xfrm>
              <a:off x="7411326" y="4429451"/>
              <a:ext cx="54213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(Early Gas)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FE3AC514-AB88-2DE2-FA31-D6A0796229FC}"/>
                </a:ext>
              </a:extLst>
            </p:cNvPr>
            <p:cNvSpPr txBox="1"/>
            <p:nvPr/>
          </p:nvSpPr>
          <p:spPr>
            <a:xfrm rot="5400000">
              <a:off x="8519521" y="5424109"/>
              <a:ext cx="54213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(Early Gas)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D91D6B54-E3B7-0736-148B-9D35DA154F24}"/>
                </a:ext>
              </a:extLst>
            </p:cNvPr>
            <p:cNvSpPr txBox="1"/>
            <p:nvPr/>
          </p:nvSpPr>
          <p:spPr>
            <a:xfrm rot="5400000">
              <a:off x="8561840" y="4970177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85 Km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CDAEC48-09A4-9C0E-B866-834132B1E3A7}"/>
                </a:ext>
              </a:extLst>
            </p:cNvPr>
            <p:cNvSpPr txBox="1"/>
            <p:nvPr/>
          </p:nvSpPr>
          <p:spPr>
            <a:xfrm>
              <a:off x="7897446" y="4427060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47 Km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7EB0F61F-8828-87C6-0557-2006DE12A2EF}"/>
                </a:ext>
              </a:extLst>
            </p:cNvPr>
            <p:cNvSpPr txBox="1"/>
            <p:nvPr/>
          </p:nvSpPr>
          <p:spPr>
            <a:xfrm rot="2826010">
              <a:off x="5952193" y="3968031"/>
              <a:ext cx="4138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40”/88 Km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1521255C-B825-E0E3-EE9A-4DC402D89A5C}"/>
                </a:ext>
              </a:extLst>
            </p:cNvPr>
            <p:cNvSpPr txBox="1"/>
            <p:nvPr/>
          </p:nvSpPr>
          <p:spPr>
            <a:xfrm>
              <a:off x="238707" y="4829363"/>
              <a:ext cx="7056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LEGEND 1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06924DF5-F45B-0372-7A6A-51655FFD3739}"/>
                </a:ext>
              </a:extLst>
            </p:cNvPr>
            <p:cNvSpPr/>
            <p:nvPr/>
          </p:nvSpPr>
          <p:spPr>
            <a:xfrm>
              <a:off x="352968" y="5046820"/>
              <a:ext cx="170363" cy="141276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2975EE84-EF5E-DD7E-7772-9944A0E324F0}"/>
                </a:ext>
              </a:extLst>
            </p:cNvPr>
            <p:cNvSpPr/>
            <p:nvPr/>
          </p:nvSpPr>
          <p:spPr>
            <a:xfrm>
              <a:off x="361950" y="5437081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AAB672F5-05C5-5452-EA24-9A96B0C1A1FE}"/>
                </a:ext>
              </a:extLst>
            </p:cNvPr>
            <p:cNvCxnSpPr/>
            <p:nvPr/>
          </p:nvCxnSpPr>
          <p:spPr>
            <a:xfrm flipH="1">
              <a:off x="426641" y="3555581"/>
              <a:ext cx="1" cy="33453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9DEE5A9E-C657-B92C-F35E-CA05A97E5E48}"/>
                </a:ext>
              </a:extLst>
            </p:cNvPr>
            <p:cNvSpPr txBox="1"/>
            <p:nvPr/>
          </p:nvSpPr>
          <p:spPr>
            <a:xfrm>
              <a:off x="230883" y="4230231"/>
              <a:ext cx="43633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WAGP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- Benin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- Togo,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- Ghana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1D4781B7-551C-3BD5-FEB3-54C21D25E99E}"/>
                </a:ext>
              </a:extLst>
            </p:cNvPr>
            <p:cNvSpPr txBox="1"/>
            <p:nvPr/>
          </p:nvSpPr>
          <p:spPr>
            <a:xfrm>
              <a:off x="8769653" y="4184943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2)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883F6C3D-3ED9-93E2-611C-930DA64867B9}"/>
                </a:ext>
              </a:extLst>
            </p:cNvPr>
            <p:cNvSpPr txBox="1"/>
            <p:nvPr/>
          </p:nvSpPr>
          <p:spPr>
            <a:xfrm>
              <a:off x="8978795" y="5737287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2)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68281198-2F4E-B90A-6CAF-9A24F8DA407C}"/>
                </a:ext>
              </a:extLst>
            </p:cNvPr>
            <p:cNvSpPr txBox="1"/>
            <p:nvPr/>
          </p:nvSpPr>
          <p:spPr>
            <a:xfrm rot="6334316">
              <a:off x="9041001" y="5294296"/>
              <a:ext cx="449433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18Km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53C4F569-35B7-1E97-F73F-EFF2FE236E6C}"/>
                </a:ext>
              </a:extLst>
            </p:cNvPr>
            <p:cNvSpPr txBox="1"/>
            <p:nvPr/>
          </p:nvSpPr>
          <p:spPr>
            <a:xfrm rot="18599045">
              <a:off x="8755249" y="5893774"/>
              <a:ext cx="43152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24”X 43 Km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298F49B5-C55D-AEA2-B766-3DBE60E3E6C5}"/>
                </a:ext>
              </a:extLst>
            </p:cNvPr>
            <p:cNvSpPr txBox="1"/>
            <p:nvPr/>
          </p:nvSpPr>
          <p:spPr>
            <a:xfrm>
              <a:off x="5803631" y="5343521"/>
              <a:ext cx="4138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20”/16 Km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E41B7EE-EA1C-95E4-FF6E-5D8619BBCDF5}"/>
                </a:ext>
              </a:extLst>
            </p:cNvPr>
            <p:cNvSpPr txBox="1"/>
            <p:nvPr/>
          </p:nvSpPr>
          <p:spPr>
            <a:xfrm>
              <a:off x="2556116" y="3492708"/>
              <a:ext cx="3113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ELP II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36”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A1AE109A-B404-F1DF-E2C6-C1EDAAECC817}"/>
                </a:ext>
              </a:extLst>
            </p:cNvPr>
            <p:cNvSpPr txBox="1"/>
            <p:nvPr/>
          </p:nvSpPr>
          <p:spPr>
            <a:xfrm>
              <a:off x="7128122" y="3447223"/>
              <a:ext cx="5100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1)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E3973C8-E20A-F6B4-BEBC-9EA4D6E6AE42}"/>
                </a:ext>
              </a:extLst>
            </p:cNvPr>
            <p:cNvSpPr txBox="1"/>
            <p:nvPr/>
          </p:nvSpPr>
          <p:spPr>
            <a:xfrm rot="18349256">
              <a:off x="6742511" y="3689666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110 Km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B47AD6F7-1B8C-FB60-E31F-9021D6A5BE95}"/>
                </a:ext>
              </a:extLst>
            </p:cNvPr>
            <p:cNvSpPr txBox="1"/>
            <p:nvPr/>
          </p:nvSpPr>
          <p:spPr>
            <a:xfrm rot="21089125">
              <a:off x="7115482" y="1414425"/>
              <a:ext cx="9333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05BD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River Benue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5BC8ABC8-A0A9-4403-BBCF-AB1A464F4913}"/>
                </a:ext>
              </a:extLst>
            </p:cNvPr>
            <p:cNvSpPr txBox="1"/>
            <p:nvPr/>
          </p:nvSpPr>
          <p:spPr>
            <a:xfrm rot="1175431">
              <a:off x="2777076" y="525043"/>
              <a:ext cx="8712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05BD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River Niger</a:t>
              </a:r>
            </a:p>
          </p:txBody>
        </p:sp>
        <p:sp>
          <p:nvSpPr>
            <p:cNvPr id="277" name="Trapezoid 276">
              <a:extLst>
                <a:ext uri="{FF2B5EF4-FFF2-40B4-BE49-F238E27FC236}">
                  <a16:creationId xmlns:a16="http://schemas.microsoft.com/office/drawing/2014/main" id="{CCE30B01-1988-CC42-BFBA-F777F3ABE6CF}"/>
                </a:ext>
              </a:extLst>
            </p:cNvPr>
            <p:cNvSpPr/>
            <p:nvPr/>
          </p:nvSpPr>
          <p:spPr>
            <a:xfrm rot="5400000">
              <a:off x="372881" y="6143291"/>
              <a:ext cx="159159" cy="181023"/>
            </a:xfrm>
            <a:prstGeom prst="trapezoid">
              <a:avLst/>
            </a:prstGeom>
            <a:solidFill>
              <a:srgbClr val="FFFF00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Trapezoid 277">
              <a:extLst>
                <a:ext uri="{FF2B5EF4-FFF2-40B4-BE49-F238E27FC236}">
                  <a16:creationId xmlns:a16="http://schemas.microsoft.com/office/drawing/2014/main" id="{E815C0A5-05D7-8FC7-7012-4BC5A9FB7E74}"/>
                </a:ext>
              </a:extLst>
            </p:cNvPr>
            <p:cNvSpPr/>
            <p:nvPr/>
          </p:nvSpPr>
          <p:spPr>
            <a:xfrm rot="5400000">
              <a:off x="4275520" y="2252930"/>
              <a:ext cx="180681" cy="167687"/>
            </a:xfrm>
            <a:prstGeom prst="trapezoid">
              <a:avLst/>
            </a:prstGeom>
            <a:solidFill>
              <a:srgbClr val="00B0F0"/>
            </a:solidFill>
            <a:ln w="9525" cap="flat" cmpd="sng" algn="ctr">
              <a:solidFill>
                <a:sysClr val="windowText" lastClr="000000"/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D674E4F0-E531-96AF-56E2-E9A8356097A9}"/>
                </a:ext>
              </a:extLst>
            </p:cNvPr>
            <p:cNvSpPr txBox="1"/>
            <p:nvPr/>
          </p:nvSpPr>
          <p:spPr>
            <a:xfrm>
              <a:off x="4214648" y="2229051"/>
              <a:ext cx="4248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134D1BC0-B45A-5DD1-3CAC-A5F485206718}"/>
                </a:ext>
              </a:extLst>
            </p:cNvPr>
            <p:cNvSpPr txBox="1"/>
            <p:nvPr/>
          </p:nvSpPr>
          <p:spPr>
            <a:xfrm>
              <a:off x="312364" y="6147913"/>
              <a:ext cx="24878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2B37CD1D-1AC0-267D-B99D-627F913D5E15}"/>
                </a:ext>
              </a:extLst>
            </p:cNvPr>
            <p:cNvSpPr/>
            <p:nvPr/>
          </p:nvSpPr>
          <p:spPr>
            <a:xfrm>
              <a:off x="3603230" y="4065042"/>
              <a:ext cx="247184" cy="19622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B71A7790-6D0D-36E8-9283-0A3E95B28B5D}"/>
                </a:ext>
              </a:extLst>
            </p:cNvPr>
            <p:cNvCxnSpPr/>
            <p:nvPr/>
          </p:nvCxnSpPr>
          <p:spPr>
            <a:xfrm flipH="1" flipV="1">
              <a:off x="3785337" y="4261271"/>
              <a:ext cx="0" cy="34698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66A5AED-E3D3-40AA-B382-A466E2A32918}"/>
                </a:ext>
              </a:extLst>
            </p:cNvPr>
            <p:cNvSpPr txBox="1"/>
            <p:nvPr/>
          </p:nvSpPr>
          <p:spPr>
            <a:xfrm>
              <a:off x="494146" y="5029200"/>
              <a:ext cx="72487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Gas Supply Plant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244441F1-CE6D-3301-CC3C-8AE9C8919838}"/>
                </a:ext>
              </a:extLst>
            </p:cNvPr>
            <p:cNvSpPr txBox="1"/>
            <p:nvPr/>
          </p:nvSpPr>
          <p:spPr>
            <a:xfrm>
              <a:off x="479367" y="5237026"/>
              <a:ext cx="103105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Proposed Fertilizer Plant 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28714D3-549C-E2BF-8AD1-52FF54B44F60}"/>
                </a:ext>
              </a:extLst>
            </p:cNvPr>
            <p:cNvSpPr txBox="1"/>
            <p:nvPr/>
          </p:nvSpPr>
          <p:spPr>
            <a:xfrm>
              <a:off x="481670" y="5414737"/>
              <a:ext cx="59503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Power Plant 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ECB7CB93-AA33-F13A-34DC-121FB25ED1D3}"/>
                </a:ext>
              </a:extLst>
            </p:cNvPr>
            <p:cNvSpPr txBox="1"/>
            <p:nvPr/>
          </p:nvSpPr>
          <p:spPr>
            <a:xfrm>
              <a:off x="473931" y="6135097"/>
              <a:ext cx="85792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Compressor Station 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0CF5802D-0654-078F-BCEB-D80A730DE265}"/>
                </a:ext>
              </a:extLst>
            </p:cNvPr>
            <p:cNvSpPr txBox="1"/>
            <p:nvPr/>
          </p:nvSpPr>
          <p:spPr>
            <a:xfrm>
              <a:off x="468643" y="6536080"/>
              <a:ext cx="18309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Compressor Station (Proposed TNGP Phase 2)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54EE6E68-4A86-D00E-3B5B-598593A9A9B5}"/>
                </a:ext>
              </a:extLst>
            </p:cNvPr>
            <p:cNvSpPr/>
            <p:nvPr/>
          </p:nvSpPr>
          <p:spPr>
            <a:xfrm>
              <a:off x="7740113" y="5551395"/>
              <a:ext cx="255620" cy="147503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7C65DA08-EDD1-ABD4-5102-47664D3FA611}"/>
                </a:ext>
              </a:extLst>
            </p:cNvPr>
            <p:cNvSpPr txBox="1"/>
            <p:nvPr/>
          </p:nvSpPr>
          <p:spPr>
            <a:xfrm>
              <a:off x="461981" y="5867400"/>
              <a:ext cx="1359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Other Gas Off takers with associated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Metering Stations (MS)</a:t>
              </a: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DD2E94A-552A-5943-B82B-6411CE27B54E}"/>
                </a:ext>
              </a:extLst>
            </p:cNvPr>
            <p:cNvSpPr/>
            <p:nvPr/>
          </p:nvSpPr>
          <p:spPr>
            <a:xfrm>
              <a:off x="352880" y="5669167"/>
              <a:ext cx="152398" cy="131607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1D54E189-ADED-CCB0-1D42-3F3EA9B20831}"/>
                </a:ext>
              </a:extLst>
            </p:cNvPr>
            <p:cNvSpPr txBox="1"/>
            <p:nvPr/>
          </p:nvSpPr>
          <p:spPr>
            <a:xfrm>
              <a:off x="472375" y="5634598"/>
              <a:ext cx="1127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Existing Node, MS, Terminal -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Gas Station (TGS)</a:t>
              </a:r>
            </a:p>
          </p:txBody>
        </p: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A465C8FC-95DF-3117-3B1D-E1F9512582C3}"/>
                </a:ext>
              </a:extLst>
            </p:cNvPr>
            <p:cNvCxnSpPr>
              <a:endCxn id="242" idx="1"/>
            </p:cNvCxnSpPr>
            <p:nvPr/>
          </p:nvCxnSpPr>
          <p:spPr>
            <a:xfrm>
              <a:off x="6252131" y="4241643"/>
              <a:ext cx="319170" cy="28407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6BCF66C6-3719-4EEF-7C0E-1B61EEBCA692}"/>
                </a:ext>
              </a:extLst>
            </p:cNvPr>
            <p:cNvSpPr txBox="1"/>
            <p:nvPr/>
          </p:nvSpPr>
          <p:spPr>
            <a:xfrm rot="1777260">
              <a:off x="2864247" y="1560283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 X 90 Km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E1BDFAC3-48C0-DF67-3C89-51A71213895C}"/>
                </a:ext>
              </a:extLst>
            </p:cNvPr>
            <p:cNvSpPr txBox="1"/>
            <p:nvPr/>
          </p:nvSpPr>
          <p:spPr>
            <a:xfrm>
              <a:off x="4828785" y="1692071"/>
              <a:ext cx="27283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AKK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F6FD178A-ACC0-93A1-EFEB-E7FC7E50983F}"/>
                </a:ext>
              </a:extLst>
            </p:cNvPr>
            <p:cNvSpPr txBox="1"/>
            <p:nvPr/>
          </p:nvSpPr>
          <p:spPr>
            <a:xfrm>
              <a:off x="5393525" y="1191169"/>
              <a:ext cx="27283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AKK</a:t>
              </a:r>
            </a:p>
          </p:txBody>
        </p:sp>
        <p:sp>
          <p:nvSpPr>
            <p:cNvPr id="296" name="Freeform 207">
              <a:extLst>
                <a:ext uri="{FF2B5EF4-FFF2-40B4-BE49-F238E27FC236}">
                  <a16:creationId xmlns:a16="http://schemas.microsoft.com/office/drawing/2014/main" id="{88F55A63-22D3-9DAB-49D2-42678182C166}"/>
                </a:ext>
              </a:extLst>
            </p:cNvPr>
            <p:cNvSpPr/>
            <p:nvPr/>
          </p:nvSpPr>
          <p:spPr>
            <a:xfrm>
              <a:off x="306326" y="0"/>
              <a:ext cx="457913" cy="3905250"/>
            </a:xfrm>
            <a:custGeom>
              <a:avLst/>
              <a:gdLst>
                <a:gd name="connsiteX0" fmla="*/ 0 w 478489"/>
                <a:gd name="connsiteY0" fmla="*/ 3905250 h 3905250"/>
                <a:gd name="connsiteX1" fmla="*/ 47625 w 478489"/>
                <a:gd name="connsiteY1" fmla="*/ 3829050 h 3905250"/>
                <a:gd name="connsiteX2" fmla="*/ 38100 w 478489"/>
                <a:gd name="connsiteY2" fmla="*/ 3781425 h 3905250"/>
                <a:gd name="connsiteX3" fmla="*/ 19050 w 478489"/>
                <a:gd name="connsiteY3" fmla="*/ 3724275 h 3905250"/>
                <a:gd name="connsiteX4" fmla="*/ 9525 w 478489"/>
                <a:gd name="connsiteY4" fmla="*/ 3695700 h 3905250"/>
                <a:gd name="connsiteX5" fmla="*/ 19050 w 478489"/>
                <a:gd name="connsiteY5" fmla="*/ 3590925 h 3905250"/>
                <a:gd name="connsiteX6" fmla="*/ 28575 w 478489"/>
                <a:gd name="connsiteY6" fmla="*/ 3552825 h 3905250"/>
                <a:gd name="connsiteX7" fmla="*/ 47625 w 478489"/>
                <a:gd name="connsiteY7" fmla="*/ 3400425 h 3905250"/>
                <a:gd name="connsiteX8" fmla="*/ 57150 w 478489"/>
                <a:gd name="connsiteY8" fmla="*/ 1981200 h 3905250"/>
                <a:gd name="connsiteX9" fmla="*/ 66675 w 478489"/>
                <a:gd name="connsiteY9" fmla="*/ 1914525 h 3905250"/>
                <a:gd name="connsiteX10" fmla="*/ 76200 w 478489"/>
                <a:gd name="connsiteY10" fmla="*/ 1114425 h 3905250"/>
                <a:gd name="connsiteX11" fmla="*/ 85725 w 478489"/>
                <a:gd name="connsiteY11" fmla="*/ 1085850 h 3905250"/>
                <a:gd name="connsiteX12" fmla="*/ 95250 w 478489"/>
                <a:gd name="connsiteY12" fmla="*/ 1038225 h 3905250"/>
                <a:gd name="connsiteX13" fmla="*/ 104775 w 478489"/>
                <a:gd name="connsiteY13" fmla="*/ 1009650 h 3905250"/>
                <a:gd name="connsiteX14" fmla="*/ 133350 w 478489"/>
                <a:gd name="connsiteY14" fmla="*/ 1000125 h 3905250"/>
                <a:gd name="connsiteX15" fmla="*/ 190500 w 478489"/>
                <a:gd name="connsiteY15" fmla="*/ 962025 h 3905250"/>
                <a:gd name="connsiteX16" fmla="*/ 219075 w 478489"/>
                <a:gd name="connsiteY16" fmla="*/ 942975 h 3905250"/>
                <a:gd name="connsiteX17" fmla="*/ 247650 w 478489"/>
                <a:gd name="connsiteY17" fmla="*/ 923925 h 3905250"/>
                <a:gd name="connsiteX18" fmla="*/ 314325 w 478489"/>
                <a:gd name="connsiteY18" fmla="*/ 904875 h 3905250"/>
                <a:gd name="connsiteX19" fmla="*/ 400050 w 478489"/>
                <a:gd name="connsiteY19" fmla="*/ 828675 h 3905250"/>
                <a:gd name="connsiteX20" fmla="*/ 419100 w 478489"/>
                <a:gd name="connsiteY20" fmla="*/ 800100 h 3905250"/>
                <a:gd name="connsiteX21" fmla="*/ 438150 w 478489"/>
                <a:gd name="connsiteY21" fmla="*/ 742950 h 3905250"/>
                <a:gd name="connsiteX22" fmla="*/ 447675 w 478489"/>
                <a:gd name="connsiteY22" fmla="*/ 0 h 390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8489" h="3905250">
                  <a:moveTo>
                    <a:pt x="0" y="3905250"/>
                  </a:moveTo>
                  <a:cubicBezTo>
                    <a:pt x="12068" y="3890165"/>
                    <a:pt x="47625" y="3856969"/>
                    <a:pt x="47625" y="3829050"/>
                  </a:cubicBezTo>
                  <a:cubicBezTo>
                    <a:pt x="47625" y="3812861"/>
                    <a:pt x="42360" y="3797044"/>
                    <a:pt x="38100" y="3781425"/>
                  </a:cubicBezTo>
                  <a:cubicBezTo>
                    <a:pt x="32816" y="3762052"/>
                    <a:pt x="25400" y="3743325"/>
                    <a:pt x="19050" y="3724275"/>
                  </a:cubicBezTo>
                  <a:lnTo>
                    <a:pt x="9525" y="3695700"/>
                  </a:lnTo>
                  <a:cubicBezTo>
                    <a:pt x="12700" y="3660775"/>
                    <a:pt x="14415" y="3625686"/>
                    <a:pt x="19050" y="3590925"/>
                  </a:cubicBezTo>
                  <a:cubicBezTo>
                    <a:pt x="20780" y="3577949"/>
                    <a:pt x="26233" y="3565705"/>
                    <a:pt x="28575" y="3552825"/>
                  </a:cubicBezTo>
                  <a:cubicBezTo>
                    <a:pt x="36341" y="3510110"/>
                    <a:pt x="43080" y="3441330"/>
                    <a:pt x="47625" y="3400425"/>
                  </a:cubicBezTo>
                  <a:cubicBezTo>
                    <a:pt x="50800" y="2927350"/>
                    <a:pt x="51085" y="2454247"/>
                    <a:pt x="57150" y="1981200"/>
                  </a:cubicBezTo>
                  <a:cubicBezTo>
                    <a:pt x="57438" y="1958751"/>
                    <a:pt x="66182" y="1936970"/>
                    <a:pt x="66675" y="1914525"/>
                  </a:cubicBezTo>
                  <a:cubicBezTo>
                    <a:pt x="72536" y="1647870"/>
                    <a:pt x="70070" y="1381073"/>
                    <a:pt x="76200" y="1114425"/>
                  </a:cubicBezTo>
                  <a:cubicBezTo>
                    <a:pt x="76431" y="1104387"/>
                    <a:pt x="83290" y="1095590"/>
                    <a:pt x="85725" y="1085850"/>
                  </a:cubicBezTo>
                  <a:cubicBezTo>
                    <a:pt x="89652" y="1070144"/>
                    <a:pt x="91323" y="1053931"/>
                    <a:pt x="95250" y="1038225"/>
                  </a:cubicBezTo>
                  <a:cubicBezTo>
                    <a:pt x="97685" y="1028485"/>
                    <a:pt x="97675" y="1016750"/>
                    <a:pt x="104775" y="1009650"/>
                  </a:cubicBezTo>
                  <a:cubicBezTo>
                    <a:pt x="111875" y="1002550"/>
                    <a:pt x="124573" y="1005001"/>
                    <a:pt x="133350" y="1000125"/>
                  </a:cubicBezTo>
                  <a:cubicBezTo>
                    <a:pt x="153364" y="989006"/>
                    <a:pt x="171450" y="974725"/>
                    <a:pt x="190500" y="962025"/>
                  </a:cubicBezTo>
                  <a:lnTo>
                    <a:pt x="219075" y="942975"/>
                  </a:lnTo>
                  <a:cubicBezTo>
                    <a:pt x="228600" y="936625"/>
                    <a:pt x="236544" y="926701"/>
                    <a:pt x="247650" y="923925"/>
                  </a:cubicBezTo>
                  <a:cubicBezTo>
                    <a:pt x="259857" y="920873"/>
                    <a:pt x="300660" y="911707"/>
                    <a:pt x="314325" y="904875"/>
                  </a:cubicBezTo>
                  <a:cubicBezTo>
                    <a:pt x="342956" y="890560"/>
                    <a:pt x="387428" y="847608"/>
                    <a:pt x="400050" y="828675"/>
                  </a:cubicBezTo>
                  <a:cubicBezTo>
                    <a:pt x="406400" y="819150"/>
                    <a:pt x="414451" y="810561"/>
                    <a:pt x="419100" y="800100"/>
                  </a:cubicBezTo>
                  <a:cubicBezTo>
                    <a:pt x="427255" y="781750"/>
                    <a:pt x="431800" y="762000"/>
                    <a:pt x="438150" y="742950"/>
                  </a:cubicBezTo>
                  <a:cubicBezTo>
                    <a:pt x="522977" y="488470"/>
                    <a:pt x="447675" y="724415"/>
                    <a:pt x="447675" y="0"/>
                  </a:cubicBezTo>
                </a:path>
              </a:pathLst>
            </a:custGeom>
            <a:noFill/>
            <a:ln w="25400" cap="flat" cmpd="sng" algn="ctr">
              <a:solidFill>
                <a:srgbClr val="1F05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C283B978-8574-16AF-F064-3F5676F4D6FC}"/>
                </a:ext>
              </a:extLst>
            </p:cNvPr>
            <p:cNvSpPr txBox="1"/>
            <p:nvPr/>
          </p:nvSpPr>
          <p:spPr>
            <a:xfrm rot="19073351">
              <a:off x="3229530" y="2223619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669121D2-3171-37DA-4E3E-9F4D8A3686D6}"/>
                </a:ext>
              </a:extLst>
            </p:cNvPr>
            <p:cNvSpPr txBox="1"/>
            <p:nvPr/>
          </p:nvSpPr>
          <p:spPr>
            <a:xfrm rot="18958368">
              <a:off x="3721949" y="1939218"/>
              <a:ext cx="28612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</a:t>
              </a:r>
            </a:p>
          </p:txBody>
        </p: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F65AF8F7-535E-6080-E09D-AB35EA209FBE}"/>
                </a:ext>
              </a:extLst>
            </p:cNvPr>
            <p:cNvCxnSpPr/>
            <p:nvPr/>
          </p:nvCxnSpPr>
          <p:spPr>
            <a:xfrm flipV="1">
              <a:off x="1053208" y="2517509"/>
              <a:ext cx="224706" cy="859491"/>
            </a:xfrm>
            <a:prstGeom prst="straightConnector1">
              <a:avLst/>
            </a:prstGeom>
            <a:noFill/>
            <a:ln w="15875" cap="flat" cmpd="sng" algn="ctr">
              <a:solidFill>
                <a:srgbClr val="F79646"/>
              </a:solidFill>
              <a:prstDash val="sysDash"/>
              <a:tailEnd type="triangle"/>
            </a:ln>
            <a:effectLst/>
          </p:spPr>
        </p:cxn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4C30ED92-2F30-721A-51CF-A445CA5BBC2A}"/>
                </a:ext>
              </a:extLst>
            </p:cNvPr>
            <p:cNvSpPr/>
            <p:nvPr/>
          </p:nvSpPr>
          <p:spPr>
            <a:xfrm>
              <a:off x="1205167" y="2400021"/>
              <a:ext cx="152398" cy="131607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020D6819-BAD0-B515-9E4D-CB6113CA2ED7}"/>
                </a:ext>
              </a:extLst>
            </p:cNvPr>
            <p:cNvSpPr/>
            <p:nvPr/>
          </p:nvSpPr>
          <p:spPr>
            <a:xfrm>
              <a:off x="1538007" y="1453555"/>
              <a:ext cx="152398" cy="131607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45F37831-5DC7-D6E9-E2C9-0F0B26C60C16}"/>
                </a:ext>
              </a:extLst>
            </p:cNvPr>
            <p:cNvSpPr/>
            <p:nvPr/>
          </p:nvSpPr>
          <p:spPr>
            <a:xfrm>
              <a:off x="2052357" y="417967"/>
              <a:ext cx="152398" cy="131607"/>
            </a:xfrm>
            <a:prstGeom prst="rect">
              <a:avLst/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B29E3A7B-B110-87CD-BAEB-42DDDA91A340}"/>
                </a:ext>
              </a:extLst>
            </p:cNvPr>
            <p:cNvCxnSpPr>
              <a:stCxn id="305" idx="1"/>
            </p:cNvCxnSpPr>
            <p:nvPr/>
          </p:nvCxnSpPr>
          <p:spPr>
            <a:xfrm flipV="1">
              <a:off x="1276800" y="1585164"/>
              <a:ext cx="285054" cy="873788"/>
            </a:xfrm>
            <a:prstGeom prst="straightConnector1">
              <a:avLst/>
            </a:prstGeom>
            <a:noFill/>
            <a:ln w="15875" cap="flat" cmpd="sng" algn="ctr">
              <a:solidFill>
                <a:srgbClr val="F79646"/>
              </a:solidFill>
              <a:prstDash val="sysDash"/>
              <a:tailEnd type="triangle"/>
            </a:ln>
            <a:effectLst/>
          </p:spPr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B146E160-0EE7-2F29-6B70-EB7106789BAC}"/>
                </a:ext>
              </a:extLst>
            </p:cNvPr>
            <p:cNvCxnSpPr>
              <a:stCxn id="301" idx="0"/>
              <a:endCxn id="302" idx="2"/>
            </p:cNvCxnSpPr>
            <p:nvPr/>
          </p:nvCxnSpPr>
          <p:spPr>
            <a:xfrm flipV="1">
              <a:off x="1614206" y="549574"/>
              <a:ext cx="514350" cy="903981"/>
            </a:xfrm>
            <a:prstGeom prst="straightConnector1">
              <a:avLst/>
            </a:prstGeom>
            <a:noFill/>
            <a:ln w="15875" cap="flat" cmpd="sng" algn="ctr">
              <a:solidFill>
                <a:srgbClr val="F79646"/>
              </a:solidFill>
              <a:prstDash val="sysDash"/>
              <a:tailEnd type="triangle"/>
            </a:ln>
            <a:effectLst/>
          </p:spPr>
        </p:cxn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521A7D8-7A22-0BEB-1884-8A95648F9373}"/>
                </a:ext>
              </a:extLst>
            </p:cNvPr>
            <p:cNvSpPr txBox="1"/>
            <p:nvPr/>
          </p:nvSpPr>
          <p:spPr>
            <a:xfrm>
              <a:off x="1276800" y="2366619"/>
              <a:ext cx="40748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Ibadan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8E155F54-2006-D419-CD18-9442670C7959}"/>
                </a:ext>
              </a:extLst>
            </p:cNvPr>
            <p:cNvSpPr txBox="1"/>
            <p:nvPr/>
          </p:nvSpPr>
          <p:spPr>
            <a:xfrm>
              <a:off x="1332850" y="1320389"/>
              <a:ext cx="35458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Ilorin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432B144-773B-90F3-8276-F68C11840FB2}"/>
                </a:ext>
              </a:extLst>
            </p:cNvPr>
            <p:cNvSpPr txBox="1"/>
            <p:nvPr/>
          </p:nvSpPr>
          <p:spPr>
            <a:xfrm>
              <a:off x="1947725" y="293717"/>
              <a:ext cx="37061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Jebba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88E44262-E00F-5DA8-70B9-02154503AEDF}"/>
                </a:ext>
              </a:extLst>
            </p:cNvPr>
            <p:cNvSpPr txBox="1"/>
            <p:nvPr/>
          </p:nvSpPr>
          <p:spPr>
            <a:xfrm rot="17642978">
              <a:off x="810325" y="1044135"/>
              <a:ext cx="130195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ELPS – Ibadan – Ilorin – </a:t>
              </a:r>
              <a:r>
                <a:rPr kumimoji="0" lang="en-US" sz="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Jebba</a:t>
              </a: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(EIIJ)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242ACFCC-38A4-2BD7-FAC2-7EF64E9FDB20}"/>
                </a:ext>
              </a:extLst>
            </p:cNvPr>
            <p:cNvSpPr txBox="1"/>
            <p:nvPr/>
          </p:nvSpPr>
          <p:spPr>
            <a:xfrm>
              <a:off x="1120566" y="2811439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</a:t>
              </a: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D03FBE4E-ADC3-11F8-8680-8FFF8A64C0AE}"/>
                </a:ext>
              </a:extLst>
            </p:cNvPr>
            <p:cNvSpPr txBox="1"/>
            <p:nvPr/>
          </p:nvSpPr>
          <p:spPr>
            <a:xfrm>
              <a:off x="1371218" y="1865254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51478F4-D7CC-A2CA-42B3-407152354DEF}"/>
                </a:ext>
              </a:extLst>
            </p:cNvPr>
            <p:cNvSpPr txBox="1"/>
            <p:nvPr/>
          </p:nvSpPr>
          <p:spPr>
            <a:xfrm>
              <a:off x="1673711" y="1138947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C91BFCB2-9D31-0C12-8DE6-63ACF3EA0E30}"/>
                </a:ext>
              </a:extLst>
            </p:cNvPr>
            <p:cNvSpPr/>
            <p:nvPr/>
          </p:nvSpPr>
          <p:spPr>
            <a:xfrm>
              <a:off x="1084816" y="3927668"/>
              <a:ext cx="123315" cy="88881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13" name="Straight Arrow Connector 312">
              <a:extLst>
                <a:ext uri="{FF2B5EF4-FFF2-40B4-BE49-F238E27FC236}">
                  <a16:creationId xmlns:a16="http://schemas.microsoft.com/office/drawing/2014/main" id="{3C4504AB-D9C9-2B57-1370-92B97888F1C6}"/>
                </a:ext>
              </a:extLst>
            </p:cNvPr>
            <p:cNvCxnSpPr/>
            <p:nvPr/>
          </p:nvCxnSpPr>
          <p:spPr>
            <a:xfrm flipH="1">
              <a:off x="1141647" y="3458885"/>
              <a:ext cx="128266" cy="47616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3CEFC52-F5CE-6E10-6BA6-83D93393F5EC}"/>
                </a:ext>
              </a:extLst>
            </p:cNvPr>
            <p:cNvSpPr txBox="1"/>
            <p:nvPr/>
          </p:nvSpPr>
          <p:spPr>
            <a:xfrm>
              <a:off x="1120577" y="3897615"/>
              <a:ext cx="37863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Lekki FTZ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6A0DC0A1-916E-7D7B-02E9-A48FA94E0B22}"/>
                </a:ext>
              </a:extLst>
            </p:cNvPr>
            <p:cNvSpPr txBox="1"/>
            <p:nvPr/>
          </p:nvSpPr>
          <p:spPr>
            <a:xfrm>
              <a:off x="6274822" y="6717452"/>
              <a:ext cx="27638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  <a:hlinkClick r:id="rId3"/>
                </a:rPr>
                <a:t>For value addition and comments, please contact: Isa.Muhammad@nnpcgroup.com</a:t>
              </a:r>
              <a:r>
                <a:rPr kumimoji="0" lang="en-US" sz="500" b="1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; </a:t>
              </a:r>
              <a:r>
                <a:rPr kumimoji="0" lang="en-US" sz="500" b="1" i="1" u="sng" strike="noStrike" kern="1200" cap="none" spc="0" normalizeH="0" baseline="0" noProof="0" dirty="0">
                  <a:ln>
                    <a:noFill/>
                  </a:ln>
                  <a:solidFill>
                    <a:srgbClr val="1F05BD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Rev </a:t>
              </a:r>
              <a:r>
                <a:rPr lang="en-US" sz="500" b="1" i="1" u="sng" dirty="0">
                  <a:solidFill>
                    <a:srgbClr val="1F05BD"/>
                  </a:solidFill>
                  <a:latin typeface="Calibri"/>
                  <a:cs typeface="Arial"/>
                  <a:sym typeface="Arial"/>
                </a:rPr>
                <a:t>3</a:t>
              </a:r>
              <a:r>
                <a:rPr kumimoji="0" lang="en-US" sz="500" b="1" i="1" u="sng" strike="noStrike" kern="1200" cap="none" spc="0" normalizeH="0" baseline="0" noProof="0" dirty="0">
                  <a:ln>
                    <a:noFill/>
                  </a:ln>
                  <a:solidFill>
                    <a:srgbClr val="1F05BD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_2026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9572825-F2BC-CE5B-52AD-C4790BD0DA2C}"/>
                </a:ext>
              </a:extLst>
            </p:cNvPr>
            <p:cNvSpPr txBox="1"/>
            <p:nvPr/>
          </p:nvSpPr>
          <p:spPr>
            <a:xfrm>
              <a:off x="2173451" y="3570728"/>
              <a:ext cx="36740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KP52.7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6351B188-967A-B34D-ACAC-94906F1327C3}"/>
                </a:ext>
              </a:extLst>
            </p:cNvPr>
            <p:cNvSpPr/>
            <p:nvPr/>
          </p:nvSpPr>
          <p:spPr>
            <a:xfrm>
              <a:off x="6595888" y="4412616"/>
              <a:ext cx="307856" cy="280401"/>
            </a:xfrm>
            <a:prstGeom prst="rect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64A5209E-51FE-93A6-C0C1-AFA78BD4B9DA}"/>
                </a:ext>
              </a:extLst>
            </p:cNvPr>
            <p:cNvSpPr txBox="1"/>
            <p:nvPr/>
          </p:nvSpPr>
          <p:spPr>
            <a:xfrm>
              <a:off x="1753906" y="3554540"/>
              <a:ext cx="28084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PS2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CD79926A-20BF-3B9E-7AB6-8C0A140B8516}"/>
                </a:ext>
              </a:extLst>
            </p:cNvPr>
            <p:cNvSpPr txBox="1"/>
            <p:nvPr/>
          </p:nvSpPr>
          <p:spPr>
            <a:xfrm>
              <a:off x="1137802" y="3605781"/>
              <a:ext cx="375424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 X 50 Km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A8E917C5-8A5F-F48D-04C0-5568675C4273}"/>
                </a:ext>
              </a:extLst>
            </p:cNvPr>
            <p:cNvSpPr txBox="1"/>
            <p:nvPr/>
          </p:nvSpPr>
          <p:spPr>
            <a:xfrm>
              <a:off x="9000567" y="5558048"/>
              <a:ext cx="257392" cy="153888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E02B5BFA-6B89-8520-5482-AD36A972546F}"/>
                </a:ext>
              </a:extLst>
            </p:cNvPr>
            <p:cNvSpPr txBox="1"/>
            <p:nvPr/>
          </p:nvSpPr>
          <p:spPr>
            <a:xfrm rot="5228436">
              <a:off x="8960727" y="4507578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38 Km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1E5D4B4E-149F-FE94-88AA-263E4BC8DCD5}"/>
                </a:ext>
              </a:extLst>
            </p:cNvPr>
            <p:cNvSpPr txBox="1"/>
            <p:nvPr/>
          </p:nvSpPr>
          <p:spPr>
            <a:xfrm>
              <a:off x="6560748" y="5254546"/>
              <a:ext cx="4138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20”/26 Km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14376EC-CA0E-4039-B784-503145BC9131}"/>
                </a:ext>
              </a:extLst>
            </p:cNvPr>
            <p:cNvSpPr txBox="1"/>
            <p:nvPr/>
          </p:nvSpPr>
          <p:spPr>
            <a:xfrm>
              <a:off x="8393512" y="1505103"/>
              <a:ext cx="49564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LEGEND 2</a:t>
              </a:r>
            </a:p>
          </p:txBody>
        </p: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5EA4D87C-2DE7-F544-D9F4-6221D560F7DF}"/>
                </a:ext>
              </a:extLst>
            </p:cNvPr>
            <p:cNvCxnSpPr/>
            <p:nvPr/>
          </p:nvCxnSpPr>
          <p:spPr>
            <a:xfrm flipV="1">
              <a:off x="7622774" y="1743872"/>
              <a:ext cx="213703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4D23BB8C-807C-1078-1C5D-A6A024F32162}"/>
                </a:ext>
              </a:extLst>
            </p:cNvPr>
            <p:cNvSpPr txBox="1"/>
            <p:nvPr/>
          </p:nvSpPr>
          <p:spPr>
            <a:xfrm>
              <a:off x="8032034" y="1654839"/>
              <a:ext cx="103906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Existing / proposed dry gas lines</a:t>
              </a:r>
            </a:p>
          </p:txBody>
        </p: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2FFA85AC-D3A5-80AB-D9EF-7E1A2A3D45DC}"/>
                </a:ext>
              </a:extLst>
            </p:cNvPr>
            <p:cNvCxnSpPr/>
            <p:nvPr/>
          </p:nvCxnSpPr>
          <p:spPr>
            <a:xfrm>
              <a:off x="7703715" y="1969070"/>
              <a:ext cx="379751" cy="0"/>
            </a:xfrm>
            <a:prstGeom prst="line">
              <a:avLst/>
            </a:prstGeom>
            <a:noFill/>
            <a:ln w="25400" cap="flat" cmpd="dbl" algn="ctr">
              <a:solidFill>
                <a:srgbClr val="FF0000"/>
              </a:solidFill>
              <a:prstDash val="sysDash"/>
              <a:tailEnd type="triangle"/>
            </a:ln>
            <a:effectLst/>
          </p:spPr>
        </p:cxn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4541B469-A698-BD84-71D5-E2E46FA79F9F}"/>
                </a:ext>
              </a:extLst>
            </p:cNvPr>
            <p:cNvSpPr txBox="1"/>
            <p:nvPr/>
          </p:nvSpPr>
          <p:spPr>
            <a:xfrm>
              <a:off x="8032015" y="1872079"/>
              <a:ext cx="80983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OB3 Pipeline (on-going)</a:t>
              </a:r>
            </a:p>
          </p:txBody>
        </p:sp>
        <p:cxnSp>
          <p:nvCxnSpPr>
            <p:cNvPr id="328" name="Straight Arrow Connector 327">
              <a:extLst>
                <a:ext uri="{FF2B5EF4-FFF2-40B4-BE49-F238E27FC236}">
                  <a16:creationId xmlns:a16="http://schemas.microsoft.com/office/drawing/2014/main" id="{5AE43C3B-40C1-51A0-875E-2F623E865671}"/>
                </a:ext>
              </a:extLst>
            </p:cNvPr>
            <p:cNvCxnSpPr/>
            <p:nvPr/>
          </p:nvCxnSpPr>
          <p:spPr>
            <a:xfrm flipH="1">
              <a:off x="7684150" y="2069997"/>
              <a:ext cx="39420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7030A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7EB0EEC4-75F3-557E-1EBF-ADBF3163C8B9}"/>
                </a:ext>
              </a:extLst>
            </p:cNvPr>
            <p:cNvSpPr txBox="1"/>
            <p:nvPr/>
          </p:nvSpPr>
          <p:spPr>
            <a:xfrm>
              <a:off x="8020308" y="1969297"/>
              <a:ext cx="13246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Trans Nigerian Gas Pipeline (TNGP)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(Early Gas Phase)</a:t>
              </a:r>
            </a:p>
          </p:txBody>
        </p:sp>
        <p:cxnSp>
          <p:nvCxnSpPr>
            <p:cNvPr id="330" name="Straight Arrow Connector 329">
              <a:extLst>
                <a:ext uri="{FF2B5EF4-FFF2-40B4-BE49-F238E27FC236}">
                  <a16:creationId xmlns:a16="http://schemas.microsoft.com/office/drawing/2014/main" id="{0A21AC74-21C8-740D-DA17-DB4B52703DFD}"/>
                </a:ext>
              </a:extLst>
            </p:cNvPr>
            <p:cNvCxnSpPr/>
            <p:nvPr/>
          </p:nvCxnSpPr>
          <p:spPr>
            <a:xfrm>
              <a:off x="7702502" y="2488713"/>
              <a:ext cx="393245" cy="2474"/>
            </a:xfrm>
            <a:prstGeom prst="straightConnector1">
              <a:avLst/>
            </a:prstGeom>
            <a:noFill/>
            <a:ln w="25400" cap="flat" cmpd="sng" algn="ctr">
              <a:solidFill>
                <a:srgbClr val="9BBB59">
                  <a:lumMod val="75000"/>
                </a:srgbClr>
              </a:solidFill>
              <a:prstDash val="sysDash"/>
              <a:tailEnd type="triangle"/>
            </a:ln>
            <a:effectLst/>
          </p:spPr>
        </p:cxn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7B01F656-0F22-1DD3-70DF-43B5548AA459}"/>
                </a:ext>
              </a:extLst>
            </p:cNvPr>
            <p:cNvSpPr txBox="1"/>
            <p:nvPr/>
          </p:nvSpPr>
          <p:spPr>
            <a:xfrm>
              <a:off x="8034433" y="2399714"/>
              <a:ext cx="2092239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Odidi – Warri   Expansion (OWEP) Pipeline &amp; Escravos – Odidi Pipeline</a:t>
              </a:r>
            </a:p>
          </p:txBody>
        </p: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8C90A50-F3FB-C581-D47B-D61A36983DC4}"/>
                </a:ext>
              </a:extLst>
            </p:cNvPr>
            <p:cNvCxnSpPr/>
            <p:nvPr/>
          </p:nvCxnSpPr>
          <p:spPr>
            <a:xfrm flipV="1">
              <a:off x="7695571" y="1857495"/>
              <a:ext cx="388371" cy="0"/>
            </a:xfrm>
            <a:prstGeom prst="line">
              <a:avLst/>
            </a:prstGeom>
            <a:noFill/>
            <a:ln w="22225" cap="flat" cmpd="dbl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8F25C668-094B-3FFA-C46D-4F1D0D441713}"/>
                </a:ext>
              </a:extLst>
            </p:cNvPr>
            <p:cNvSpPr txBox="1"/>
            <p:nvPr/>
          </p:nvSpPr>
          <p:spPr>
            <a:xfrm>
              <a:off x="8026604" y="1757883"/>
              <a:ext cx="805029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On-going ELP II section </a:t>
              </a:r>
            </a:p>
          </p:txBody>
        </p: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96FF57B0-042D-5CB4-C587-3F5E7AAD11DC}"/>
                </a:ext>
              </a:extLst>
            </p:cNvPr>
            <p:cNvCxnSpPr/>
            <p:nvPr/>
          </p:nvCxnSpPr>
          <p:spPr>
            <a:xfrm>
              <a:off x="7712965" y="2591037"/>
              <a:ext cx="381272" cy="7967"/>
            </a:xfrm>
            <a:prstGeom prst="straightConnector1">
              <a:avLst/>
            </a:prstGeom>
            <a:noFill/>
            <a:ln w="25400" cap="flat" cmpd="sng" algn="ctr">
              <a:solidFill>
                <a:srgbClr val="F79646"/>
              </a:solidFill>
              <a:prstDash val="sysDash"/>
              <a:tailEnd type="triangle"/>
            </a:ln>
            <a:effectLst/>
          </p:spPr>
        </p:cxn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55DC08A0-61EB-7E44-8EE4-0C48F3129FC6}"/>
                </a:ext>
              </a:extLst>
            </p:cNvPr>
            <p:cNvSpPr txBox="1"/>
            <p:nvPr/>
          </p:nvSpPr>
          <p:spPr>
            <a:xfrm>
              <a:off x="8037702" y="2509571"/>
              <a:ext cx="1010213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ELPS –Ibadan-Ilorin-Jebba (EIIJ)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B2D35AB-AD89-CB82-8D78-100F701F083C}"/>
                </a:ext>
              </a:extLst>
            </p:cNvPr>
            <p:cNvSpPr txBox="1"/>
            <p:nvPr/>
          </p:nvSpPr>
          <p:spPr>
            <a:xfrm>
              <a:off x="8034433" y="2751587"/>
              <a:ext cx="997389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Existing/proposed rich gas line</a:t>
              </a:r>
            </a:p>
          </p:txBody>
        </p: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D3D5DC10-21DC-96F3-5389-FB20DA37161E}"/>
                </a:ext>
              </a:extLst>
            </p:cNvPr>
            <p:cNvCxnSpPr/>
            <p:nvPr/>
          </p:nvCxnSpPr>
          <p:spPr>
            <a:xfrm>
              <a:off x="3075315" y="6317877"/>
              <a:ext cx="1706599" cy="347643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F7BC613-156A-F31A-BACC-A2AA9CB729BE}"/>
                </a:ext>
              </a:extLst>
            </p:cNvPr>
            <p:cNvSpPr/>
            <p:nvPr/>
          </p:nvSpPr>
          <p:spPr>
            <a:xfrm>
              <a:off x="3022993" y="6272582"/>
              <a:ext cx="60959" cy="66725"/>
            </a:xfrm>
            <a:prstGeom prst="rect">
              <a:avLst/>
            </a:prstGeom>
            <a:solidFill>
              <a:srgbClr val="00206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90076C15-CDB8-AC47-B506-138171EA48F0}"/>
                </a:ext>
              </a:extLst>
            </p:cNvPr>
            <p:cNvCxnSpPr/>
            <p:nvPr/>
          </p:nvCxnSpPr>
          <p:spPr>
            <a:xfrm flipH="1" flipV="1">
              <a:off x="2526743" y="5879473"/>
              <a:ext cx="502569" cy="412964"/>
            </a:xfrm>
            <a:prstGeom prst="straightConnector1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025473F4-0094-BE26-AAF6-418B9DCFD651}"/>
                </a:ext>
              </a:extLst>
            </p:cNvPr>
            <p:cNvSpPr/>
            <p:nvPr/>
          </p:nvSpPr>
          <p:spPr>
            <a:xfrm flipH="1" flipV="1">
              <a:off x="2480450" y="5850186"/>
              <a:ext cx="66583" cy="61781"/>
            </a:xfrm>
            <a:prstGeom prst="rect">
              <a:avLst/>
            </a:prstGeom>
            <a:solidFill>
              <a:srgbClr val="00206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FE86B755-1A53-B92B-3A59-8E83A3AC6D56}"/>
                </a:ext>
              </a:extLst>
            </p:cNvPr>
            <p:cNvSpPr/>
            <p:nvPr/>
          </p:nvSpPr>
          <p:spPr>
            <a:xfrm>
              <a:off x="2460802" y="6037191"/>
              <a:ext cx="60959" cy="66725"/>
            </a:xfrm>
            <a:prstGeom prst="rec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42" name="Straight Arrow Connector 341">
              <a:extLst>
                <a:ext uri="{FF2B5EF4-FFF2-40B4-BE49-F238E27FC236}">
                  <a16:creationId xmlns:a16="http://schemas.microsoft.com/office/drawing/2014/main" id="{05732391-FD57-0A56-F837-EE751458DE63}"/>
                </a:ext>
              </a:extLst>
            </p:cNvPr>
            <p:cNvCxnSpPr/>
            <p:nvPr/>
          </p:nvCxnSpPr>
          <p:spPr>
            <a:xfrm flipV="1">
              <a:off x="2480450" y="6088960"/>
              <a:ext cx="9944" cy="14967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20F2F858-533A-1CC3-02DB-11E8BCB38DAD}"/>
                </a:ext>
              </a:extLst>
            </p:cNvPr>
            <p:cNvCxnSpPr/>
            <p:nvPr/>
          </p:nvCxnSpPr>
          <p:spPr>
            <a:xfrm>
              <a:off x="2346823" y="6040250"/>
              <a:ext cx="144637" cy="311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cxnSp>
          <p:nvCxnSpPr>
            <p:cNvPr id="344" name="Straight Arrow Connector 343">
              <a:extLst>
                <a:ext uri="{FF2B5EF4-FFF2-40B4-BE49-F238E27FC236}">
                  <a16:creationId xmlns:a16="http://schemas.microsoft.com/office/drawing/2014/main" id="{8ABFD2A6-CE2F-5E29-F88B-FC2DBE40DD1B}"/>
                </a:ext>
              </a:extLst>
            </p:cNvPr>
            <p:cNvCxnSpPr>
              <a:endCxn id="340" idx="3"/>
            </p:cNvCxnSpPr>
            <p:nvPr/>
          </p:nvCxnSpPr>
          <p:spPr>
            <a:xfrm>
              <a:off x="2323210" y="5804269"/>
              <a:ext cx="157240" cy="7680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AF24FADA-BEA4-86BD-AB2A-0898464D7C2B}"/>
                </a:ext>
              </a:extLst>
            </p:cNvPr>
            <p:cNvCxnSpPr/>
            <p:nvPr/>
          </p:nvCxnSpPr>
          <p:spPr>
            <a:xfrm>
              <a:off x="3057863" y="6336139"/>
              <a:ext cx="25528" cy="6465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none"/>
            </a:ln>
            <a:effectLst/>
          </p:spPr>
        </p:cxn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D66AB522-C4AD-EC69-FE42-F08C9DA98126}"/>
                </a:ext>
              </a:extLst>
            </p:cNvPr>
            <p:cNvSpPr/>
            <p:nvPr/>
          </p:nvSpPr>
          <p:spPr>
            <a:xfrm>
              <a:off x="2235423" y="6188065"/>
              <a:ext cx="499998" cy="2261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0637CF4C-3C77-B3AB-2ECF-09BF0E82542A}"/>
                </a:ext>
              </a:extLst>
            </p:cNvPr>
            <p:cNvSpPr/>
            <p:nvPr/>
          </p:nvSpPr>
          <p:spPr>
            <a:xfrm>
              <a:off x="2736286" y="6368490"/>
              <a:ext cx="499998" cy="2261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077F5CE7-18DA-E7B3-8801-666FEC6008E1}"/>
                </a:ext>
              </a:extLst>
            </p:cNvPr>
            <p:cNvSpPr txBox="1"/>
            <p:nvPr/>
          </p:nvSpPr>
          <p:spPr>
            <a:xfrm>
              <a:off x="2301904" y="6144914"/>
              <a:ext cx="407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Bonga SW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14EBD3DD-76B1-1327-366C-DC36551301EB}"/>
                </a:ext>
              </a:extLst>
            </p:cNvPr>
            <p:cNvSpPr/>
            <p:nvPr/>
          </p:nvSpPr>
          <p:spPr>
            <a:xfrm>
              <a:off x="2034810" y="5927778"/>
              <a:ext cx="327913" cy="2261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CB2E324-4477-F24D-2F73-CC0766A5E6F6}"/>
                </a:ext>
              </a:extLst>
            </p:cNvPr>
            <p:cNvSpPr txBox="1"/>
            <p:nvPr/>
          </p:nvSpPr>
          <p:spPr>
            <a:xfrm>
              <a:off x="2002430" y="5928542"/>
              <a:ext cx="4075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Bonga</a:t>
              </a: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E60AC666-FAB2-38FA-2791-CC0833C4761D}"/>
                </a:ext>
              </a:extLst>
            </p:cNvPr>
            <p:cNvSpPr/>
            <p:nvPr/>
          </p:nvSpPr>
          <p:spPr>
            <a:xfrm>
              <a:off x="2000348" y="5632063"/>
              <a:ext cx="401482" cy="2261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601DC318-A590-72CD-F1B2-C7AB1A9F1AF7}"/>
                </a:ext>
              </a:extLst>
            </p:cNvPr>
            <p:cNvSpPr txBox="1"/>
            <p:nvPr/>
          </p:nvSpPr>
          <p:spPr>
            <a:xfrm>
              <a:off x="1995013" y="5642686"/>
              <a:ext cx="4075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EA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FA136A18-4724-DBD7-94D2-0D2592D54485}"/>
                </a:ext>
              </a:extLst>
            </p:cNvPr>
            <p:cNvSpPr txBox="1"/>
            <p:nvPr/>
          </p:nvSpPr>
          <p:spPr>
            <a:xfrm>
              <a:off x="2752095" y="6379099"/>
              <a:ext cx="48923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H Block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AC967854-E439-B457-07D9-F485FAB8EEF8}"/>
                </a:ext>
              </a:extLst>
            </p:cNvPr>
            <p:cNvSpPr/>
            <p:nvPr/>
          </p:nvSpPr>
          <p:spPr>
            <a:xfrm>
              <a:off x="361950" y="3886314"/>
              <a:ext cx="147324" cy="59170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8FDA877F-32DA-771C-090D-B38816F7EFA1}"/>
                </a:ext>
              </a:extLst>
            </p:cNvPr>
            <p:cNvCxnSpPr/>
            <p:nvPr/>
          </p:nvCxnSpPr>
          <p:spPr>
            <a:xfrm flipH="1">
              <a:off x="337253" y="3935562"/>
              <a:ext cx="69591" cy="33490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E994562A-5CC2-0C55-C11F-C4B49D978D33}"/>
                </a:ext>
              </a:extLst>
            </p:cNvPr>
            <p:cNvSpPr txBox="1"/>
            <p:nvPr/>
          </p:nvSpPr>
          <p:spPr>
            <a:xfrm>
              <a:off x="361949" y="3787701"/>
              <a:ext cx="35779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Badagry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C457EE6D-B53F-21E3-1D6C-FB26630B4C7D}"/>
                </a:ext>
              </a:extLst>
            </p:cNvPr>
            <p:cNvSpPr txBox="1"/>
            <p:nvPr/>
          </p:nvSpPr>
          <p:spPr>
            <a:xfrm>
              <a:off x="319044" y="3429015"/>
              <a:ext cx="31290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(Itoki)</a:t>
              </a:r>
            </a:p>
          </p:txBody>
        </p:sp>
        <p:sp>
          <p:nvSpPr>
            <p:cNvPr id="358" name="5-Point Star 574">
              <a:extLst>
                <a:ext uri="{FF2B5EF4-FFF2-40B4-BE49-F238E27FC236}">
                  <a16:creationId xmlns:a16="http://schemas.microsoft.com/office/drawing/2014/main" id="{289D343A-E0BD-6E24-ECE1-1025236FE4F7}"/>
                </a:ext>
              </a:extLst>
            </p:cNvPr>
            <p:cNvSpPr/>
            <p:nvPr/>
          </p:nvSpPr>
          <p:spPr>
            <a:xfrm>
              <a:off x="5742674" y="1436704"/>
              <a:ext cx="271337" cy="204626"/>
            </a:xfrm>
            <a:prstGeom prst="star5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7030A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59" name="5-Point Star 575">
              <a:extLst>
                <a:ext uri="{FF2B5EF4-FFF2-40B4-BE49-F238E27FC236}">
                  <a16:creationId xmlns:a16="http://schemas.microsoft.com/office/drawing/2014/main" id="{A07BD700-7D6F-9AC3-11AA-8E50ED9D65EA}"/>
                </a:ext>
              </a:extLst>
            </p:cNvPr>
            <p:cNvSpPr/>
            <p:nvPr/>
          </p:nvSpPr>
          <p:spPr>
            <a:xfrm>
              <a:off x="4550718" y="1132431"/>
              <a:ext cx="271337" cy="204626"/>
            </a:xfrm>
            <a:prstGeom prst="star5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7030A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60" name="Straight Arrow Connector 359">
              <a:extLst>
                <a:ext uri="{FF2B5EF4-FFF2-40B4-BE49-F238E27FC236}">
                  <a16:creationId xmlns:a16="http://schemas.microsoft.com/office/drawing/2014/main" id="{C8F9550F-663B-1194-DD9B-EBEEC6EA7F5B}"/>
                </a:ext>
              </a:extLst>
            </p:cNvPr>
            <p:cNvCxnSpPr>
              <a:endCxn id="149" idx="2"/>
            </p:cNvCxnSpPr>
            <p:nvPr/>
          </p:nvCxnSpPr>
          <p:spPr>
            <a:xfrm flipH="1" flipV="1">
              <a:off x="5004183" y="1302846"/>
              <a:ext cx="219643" cy="209568"/>
            </a:xfrm>
            <a:prstGeom prst="straightConnector1">
              <a:avLst/>
            </a:prstGeom>
            <a:noFill/>
            <a:ln w="19050" cap="flat" cmpd="dbl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0A72B9D0-5F6D-87DD-C1DA-E085E09A703F}"/>
                </a:ext>
              </a:extLst>
            </p:cNvPr>
            <p:cNvSpPr txBox="1"/>
            <p:nvPr/>
          </p:nvSpPr>
          <p:spPr>
            <a:xfrm>
              <a:off x="4903019" y="3765605"/>
              <a:ext cx="407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NAOC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sp>
          <p:nvSpPr>
            <p:cNvPr id="362" name="5-Point Star 582">
              <a:extLst>
                <a:ext uri="{FF2B5EF4-FFF2-40B4-BE49-F238E27FC236}">
                  <a16:creationId xmlns:a16="http://schemas.microsoft.com/office/drawing/2014/main" id="{1C281663-D95F-F8D5-01C0-7F9A17276F61}"/>
                </a:ext>
              </a:extLst>
            </p:cNvPr>
            <p:cNvSpPr/>
            <p:nvPr/>
          </p:nvSpPr>
          <p:spPr>
            <a:xfrm>
              <a:off x="295644" y="5230387"/>
              <a:ext cx="247330" cy="178131"/>
            </a:xfrm>
            <a:prstGeom prst="star5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7030A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A64E3C73-09B7-F5E3-A44C-921B54558359}"/>
                </a:ext>
              </a:extLst>
            </p:cNvPr>
            <p:cNvSpPr/>
            <p:nvPr/>
          </p:nvSpPr>
          <p:spPr>
            <a:xfrm>
              <a:off x="7770951" y="3007318"/>
              <a:ext cx="269125" cy="1310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AAEED550-E40E-2EDE-573C-CF07B99C12BA}"/>
                </a:ext>
              </a:extLst>
            </p:cNvPr>
            <p:cNvSpPr txBox="1"/>
            <p:nvPr/>
          </p:nvSpPr>
          <p:spPr>
            <a:xfrm>
              <a:off x="8024244" y="2974083"/>
              <a:ext cx="63190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Rich Gas Sources</a:t>
              </a:r>
            </a:p>
          </p:txBody>
        </p: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C45CEC1E-D79C-5E7A-289C-E7539C0D46E2}"/>
                </a:ext>
              </a:extLst>
            </p:cNvPr>
            <p:cNvCxnSpPr/>
            <p:nvPr/>
          </p:nvCxnSpPr>
          <p:spPr>
            <a:xfrm>
              <a:off x="7708329" y="2838724"/>
              <a:ext cx="182894" cy="1912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triangle"/>
            </a:ln>
            <a:effectLst/>
          </p:spPr>
        </p:cxn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646136DB-C566-7A4A-2305-8AF0F7C8FF60}"/>
                </a:ext>
              </a:extLst>
            </p:cNvPr>
            <p:cNvCxnSpPr/>
            <p:nvPr/>
          </p:nvCxnSpPr>
          <p:spPr>
            <a:xfrm flipV="1">
              <a:off x="7907150" y="2842064"/>
              <a:ext cx="186519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ysDash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92A75C85-4D75-0B1B-0F0A-784FD98E8499}"/>
                </a:ext>
              </a:extLst>
            </p:cNvPr>
            <p:cNvCxnSpPr/>
            <p:nvPr/>
          </p:nvCxnSpPr>
          <p:spPr>
            <a:xfrm>
              <a:off x="7875348" y="1743408"/>
              <a:ext cx="216910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0D8370AC-FE10-C78D-EC88-4E7281020D2D}"/>
                </a:ext>
              </a:extLst>
            </p:cNvPr>
            <p:cNvSpPr/>
            <p:nvPr/>
          </p:nvSpPr>
          <p:spPr>
            <a:xfrm>
              <a:off x="7842155" y="4159796"/>
              <a:ext cx="238300" cy="202950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9E7C73FD-68BC-D843-215E-437A1C2359FD}"/>
                </a:ext>
              </a:extLst>
            </p:cNvPr>
            <p:cNvSpPr txBox="1"/>
            <p:nvPr/>
          </p:nvSpPr>
          <p:spPr>
            <a:xfrm>
              <a:off x="7763641" y="4028955"/>
              <a:ext cx="3987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Imo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River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(OWAZA)</a:t>
              </a: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6ABF31FA-DD8D-585A-9FA3-913BB997F9D4}"/>
                </a:ext>
              </a:extLst>
            </p:cNvPr>
            <p:cNvCxnSpPr/>
            <p:nvPr/>
          </p:nvCxnSpPr>
          <p:spPr>
            <a:xfrm flipH="1" flipV="1">
              <a:off x="7700612" y="2372313"/>
              <a:ext cx="399750" cy="1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ysDash"/>
              <a:headEnd type="triangle"/>
              <a:tailEnd type="none"/>
            </a:ln>
            <a:effectLst/>
          </p:spPr>
        </p:cxn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9782ED66-B3D8-5F80-8A74-E4D62BED710D}"/>
                </a:ext>
              </a:extLst>
            </p:cNvPr>
            <p:cNvSpPr txBox="1"/>
            <p:nvPr/>
          </p:nvSpPr>
          <p:spPr>
            <a:xfrm>
              <a:off x="8037914" y="2286007"/>
              <a:ext cx="64793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TNGP (Phase 1/2)</a:t>
              </a: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8F471B90-385F-C5D2-A3E8-664A11107E1B}"/>
                </a:ext>
              </a:extLst>
            </p:cNvPr>
            <p:cNvSpPr/>
            <p:nvPr/>
          </p:nvSpPr>
          <p:spPr>
            <a:xfrm>
              <a:off x="3222635" y="2545232"/>
              <a:ext cx="252964" cy="297416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338798A-3EC0-7759-441B-946344C8824C}"/>
                </a:ext>
              </a:extLst>
            </p:cNvPr>
            <p:cNvSpPr txBox="1"/>
            <p:nvPr/>
          </p:nvSpPr>
          <p:spPr>
            <a:xfrm>
              <a:off x="3165591" y="2518324"/>
              <a:ext cx="34176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OB3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Oben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GTP</a:t>
              </a: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9B4C0649-BFDF-6637-50FA-CB4741EBD67A}"/>
                </a:ext>
              </a:extLst>
            </p:cNvPr>
            <p:cNvSpPr/>
            <p:nvPr/>
          </p:nvSpPr>
          <p:spPr>
            <a:xfrm>
              <a:off x="4156197" y="2998532"/>
              <a:ext cx="54730" cy="51355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75" name="Trapezoid 374">
              <a:extLst>
                <a:ext uri="{FF2B5EF4-FFF2-40B4-BE49-F238E27FC236}">
                  <a16:creationId xmlns:a16="http://schemas.microsoft.com/office/drawing/2014/main" id="{B1D0039E-C870-88E8-444E-8021A3ABEBC4}"/>
                </a:ext>
              </a:extLst>
            </p:cNvPr>
            <p:cNvSpPr/>
            <p:nvPr/>
          </p:nvSpPr>
          <p:spPr>
            <a:xfrm rot="5400000">
              <a:off x="347227" y="6584147"/>
              <a:ext cx="183209" cy="159236"/>
            </a:xfrm>
            <a:prstGeom prst="trapezoid">
              <a:avLst/>
            </a:prstGeom>
            <a:solidFill>
              <a:srgbClr val="00B0F0"/>
            </a:solidFill>
            <a:ln w="9525" cap="flat" cmpd="sng" algn="ctr">
              <a:solidFill>
                <a:sysClr val="windowText" lastClr="000000"/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2177F618-4D92-0822-66FB-859E29243C59}"/>
                </a:ext>
              </a:extLst>
            </p:cNvPr>
            <p:cNvSpPr txBox="1"/>
            <p:nvPr/>
          </p:nvSpPr>
          <p:spPr>
            <a:xfrm>
              <a:off x="289154" y="6538071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3F56799-B425-5297-F869-771561C5FBC0}"/>
                </a:ext>
              </a:extLst>
            </p:cNvPr>
            <p:cNvSpPr txBox="1"/>
            <p:nvPr/>
          </p:nvSpPr>
          <p:spPr>
            <a:xfrm>
              <a:off x="2732677" y="2698317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D2A29864-1A83-AFD1-3BDB-1EFC77875848}"/>
                </a:ext>
              </a:extLst>
            </p:cNvPr>
            <p:cNvSpPr txBox="1"/>
            <p:nvPr/>
          </p:nvSpPr>
          <p:spPr>
            <a:xfrm rot="706630">
              <a:off x="3536445" y="6331497"/>
              <a:ext cx="540533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GTS 3 (OGGS)</a:t>
              </a: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9541EAB-65E2-BB2D-AF9A-2A0C5435E352}"/>
                </a:ext>
              </a:extLst>
            </p:cNvPr>
            <p:cNvSpPr txBox="1"/>
            <p:nvPr/>
          </p:nvSpPr>
          <p:spPr>
            <a:xfrm>
              <a:off x="2905485" y="2937208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C7710ED0-42E7-174D-066F-520F68B28368}"/>
                </a:ext>
              </a:extLst>
            </p:cNvPr>
            <p:cNvCxnSpPr/>
            <p:nvPr/>
          </p:nvCxnSpPr>
          <p:spPr>
            <a:xfrm flipV="1">
              <a:off x="5301024" y="3626375"/>
              <a:ext cx="216636" cy="24939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5E540B80-E6B3-5481-7526-54AF1FC25569}"/>
                </a:ext>
              </a:extLst>
            </p:cNvPr>
            <p:cNvSpPr/>
            <p:nvPr/>
          </p:nvSpPr>
          <p:spPr>
            <a:xfrm>
              <a:off x="3296874" y="6559970"/>
              <a:ext cx="737916" cy="26941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82" name="Freeform 40">
              <a:extLst>
                <a:ext uri="{FF2B5EF4-FFF2-40B4-BE49-F238E27FC236}">
                  <a16:creationId xmlns:a16="http://schemas.microsoft.com/office/drawing/2014/main" id="{57A15DF3-93FB-1DD7-F198-E897BA7CB802}"/>
                </a:ext>
              </a:extLst>
            </p:cNvPr>
            <p:cNvSpPr/>
            <p:nvPr/>
          </p:nvSpPr>
          <p:spPr>
            <a:xfrm>
              <a:off x="1144444" y="4001129"/>
              <a:ext cx="2155684" cy="2769098"/>
            </a:xfrm>
            <a:custGeom>
              <a:avLst/>
              <a:gdLst>
                <a:gd name="connsiteX0" fmla="*/ 2560334 w 2560334"/>
                <a:gd name="connsiteY0" fmla="*/ 2798618 h 2798618"/>
                <a:gd name="connsiteX1" fmla="*/ 2527083 w 2560334"/>
                <a:gd name="connsiteY1" fmla="*/ 2776450 h 2798618"/>
                <a:gd name="connsiteX2" fmla="*/ 2510457 w 2560334"/>
                <a:gd name="connsiteY2" fmla="*/ 2770909 h 2798618"/>
                <a:gd name="connsiteX3" fmla="*/ 2471664 w 2560334"/>
                <a:gd name="connsiteY3" fmla="*/ 2759825 h 2798618"/>
                <a:gd name="connsiteX4" fmla="*/ 2455039 w 2560334"/>
                <a:gd name="connsiteY4" fmla="*/ 2748741 h 2798618"/>
                <a:gd name="connsiteX5" fmla="*/ 2211199 w 2560334"/>
                <a:gd name="connsiteY5" fmla="*/ 2732116 h 2798618"/>
                <a:gd name="connsiteX6" fmla="*/ 2172406 w 2560334"/>
                <a:gd name="connsiteY6" fmla="*/ 2726574 h 2798618"/>
                <a:gd name="connsiteX7" fmla="*/ 2144697 w 2560334"/>
                <a:gd name="connsiteY7" fmla="*/ 2721032 h 2798618"/>
                <a:gd name="connsiteX8" fmla="*/ 2105904 w 2560334"/>
                <a:gd name="connsiteY8" fmla="*/ 2715490 h 2798618"/>
                <a:gd name="connsiteX9" fmla="*/ 2067112 w 2560334"/>
                <a:gd name="connsiteY9" fmla="*/ 2704407 h 2798618"/>
                <a:gd name="connsiteX10" fmla="*/ 2017235 w 2560334"/>
                <a:gd name="connsiteY10" fmla="*/ 2698865 h 2798618"/>
                <a:gd name="connsiteX11" fmla="*/ 1939650 w 2560334"/>
                <a:gd name="connsiteY11" fmla="*/ 2687781 h 2798618"/>
                <a:gd name="connsiteX12" fmla="*/ 1878690 w 2560334"/>
                <a:gd name="connsiteY12" fmla="*/ 2676698 h 2798618"/>
                <a:gd name="connsiteX13" fmla="*/ 1806646 w 2560334"/>
                <a:gd name="connsiteY13" fmla="*/ 2665614 h 2798618"/>
                <a:gd name="connsiteX14" fmla="*/ 1751228 w 2560334"/>
                <a:gd name="connsiteY14" fmla="*/ 2654530 h 2798618"/>
                <a:gd name="connsiteX15" fmla="*/ 1712435 w 2560334"/>
                <a:gd name="connsiteY15" fmla="*/ 2643447 h 2798618"/>
                <a:gd name="connsiteX16" fmla="*/ 1695810 w 2560334"/>
                <a:gd name="connsiteY16" fmla="*/ 2637905 h 2798618"/>
                <a:gd name="connsiteX17" fmla="*/ 1668101 w 2560334"/>
                <a:gd name="connsiteY17" fmla="*/ 2632363 h 2798618"/>
                <a:gd name="connsiteX18" fmla="*/ 1651475 w 2560334"/>
                <a:gd name="connsiteY18" fmla="*/ 2626821 h 2798618"/>
                <a:gd name="connsiteX19" fmla="*/ 1634850 w 2560334"/>
                <a:gd name="connsiteY19" fmla="*/ 2615738 h 2798618"/>
                <a:gd name="connsiteX20" fmla="*/ 1579432 w 2560334"/>
                <a:gd name="connsiteY20" fmla="*/ 2610196 h 2798618"/>
                <a:gd name="connsiteX21" fmla="*/ 1562806 w 2560334"/>
                <a:gd name="connsiteY21" fmla="*/ 2604654 h 2798618"/>
                <a:gd name="connsiteX22" fmla="*/ 1507388 w 2560334"/>
                <a:gd name="connsiteY22" fmla="*/ 2593570 h 2798618"/>
                <a:gd name="connsiteX23" fmla="*/ 1468595 w 2560334"/>
                <a:gd name="connsiteY23" fmla="*/ 2576945 h 2798618"/>
                <a:gd name="connsiteX24" fmla="*/ 1413177 w 2560334"/>
                <a:gd name="connsiteY24" fmla="*/ 2560320 h 2798618"/>
                <a:gd name="connsiteX25" fmla="*/ 1374384 w 2560334"/>
                <a:gd name="connsiteY25" fmla="*/ 2543694 h 2798618"/>
                <a:gd name="connsiteX26" fmla="*/ 1357759 w 2560334"/>
                <a:gd name="connsiteY26" fmla="*/ 2532610 h 2798618"/>
                <a:gd name="connsiteX27" fmla="*/ 1346675 w 2560334"/>
                <a:gd name="connsiteY27" fmla="*/ 2515985 h 2798618"/>
                <a:gd name="connsiteX28" fmla="*/ 1330050 w 2560334"/>
                <a:gd name="connsiteY28" fmla="*/ 2510443 h 2798618"/>
                <a:gd name="connsiteX29" fmla="*/ 1291257 w 2560334"/>
                <a:gd name="connsiteY29" fmla="*/ 2482734 h 2798618"/>
                <a:gd name="connsiteX30" fmla="*/ 1274632 w 2560334"/>
                <a:gd name="connsiteY30" fmla="*/ 2466109 h 2798618"/>
                <a:gd name="connsiteX31" fmla="*/ 1241381 w 2560334"/>
                <a:gd name="connsiteY31" fmla="*/ 2443941 h 2798618"/>
                <a:gd name="connsiteX32" fmla="*/ 1208130 w 2560334"/>
                <a:gd name="connsiteY32" fmla="*/ 2421774 h 2798618"/>
                <a:gd name="connsiteX33" fmla="*/ 1158254 w 2560334"/>
                <a:gd name="connsiteY33" fmla="*/ 2382981 h 2798618"/>
                <a:gd name="connsiteX34" fmla="*/ 1141628 w 2560334"/>
                <a:gd name="connsiteY34" fmla="*/ 2371898 h 2798618"/>
                <a:gd name="connsiteX35" fmla="*/ 1108377 w 2560334"/>
                <a:gd name="connsiteY35" fmla="*/ 2338647 h 2798618"/>
                <a:gd name="connsiteX36" fmla="*/ 1091752 w 2560334"/>
                <a:gd name="connsiteY36" fmla="*/ 2333105 h 2798618"/>
                <a:gd name="connsiteX37" fmla="*/ 1075126 w 2560334"/>
                <a:gd name="connsiteY37" fmla="*/ 2316480 h 2798618"/>
                <a:gd name="connsiteX38" fmla="*/ 1052959 w 2560334"/>
                <a:gd name="connsiteY38" fmla="*/ 2283229 h 2798618"/>
                <a:gd name="connsiteX39" fmla="*/ 1019708 w 2560334"/>
                <a:gd name="connsiteY39" fmla="*/ 2249978 h 2798618"/>
                <a:gd name="connsiteX40" fmla="*/ 997541 w 2560334"/>
                <a:gd name="connsiteY40" fmla="*/ 2216727 h 2798618"/>
                <a:gd name="connsiteX41" fmla="*/ 986457 w 2560334"/>
                <a:gd name="connsiteY41" fmla="*/ 2200101 h 2798618"/>
                <a:gd name="connsiteX42" fmla="*/ 969832 w 2560334"/>
                <a:gd name="connsiteY42" fmla="*/ 2183476 h 2798618"/>
                <a:gd name="connsiteX43" fmla="*/ 936581 w 2560334"/>
                <a:gd name="connsiteY43" fmla="*/ 2133600 h 2798618"/>
                <a:gd name="connsiteX44" fmla="*/ 925497 w 2560334"/>
                <a:gd name="connsiteY44" fmla="*/ 2116974 h 2798618"/>
                <a:gd name="connsiteX45" fmla="*/ 908872 w 2560334"/>
                <a:gd name="connsiteY45" fmla="*/ 2100349 h 2798618"/>
                <a:gd name="connsiteX46" fmla="*/ 892246 w 2560334"/>
                <a:gd name="connsiteY46" fmla="*/ 2067098 h 2798618"/>
                <a:gd name="connsiteX47" fmla="*/ 864537 w 2560334"/>
                <a:gd name="connsiteY47" fmla="*/ 2033847 h 2798618"/>
                <a:gd name="connsiteX48" fmla="*/ 842370 w 2560334"/>
                <a:gd name="connsiteY48" fmla="*/ 2000596 h 2798618"/>
                <a:gd name="connsiteX49" fmla="*/ 831286 w 2560334"/>
                <a:gd name="connsiteY49" fmla="*/ 1978429 h 2798618"/>
                <a:gd name="connsiteX50" fmla="*/ 814661 w 2560334"/>
                <a:gd name="connsiteY50" fmla="*/ 1961803 h 2798618"/>
                <a:gd name="connsiteX51" fmla="*/ 786952 w 2560334"/>
                <a:gd name="connsiteY51" fmla="*/ 1911927 h 2798618"/>
                <a:gd name="connsiteX52" fmla="*/ 764784 w 2560334"/>
                <a:gd name="connsiteY52" fmla="*/ 1878676 h 2798618"/>
                <a:gd name="connsiteX53" fmla="*/ 748159 w 2560334"/>
                <a:gd name="connsiteY53" fmla="*/ 1856509 h 2798618"/>
                <a:gd name="connsiteX54" fmla="*/ 725992 w 2560334"/>
                <a:gd name="connsiteY54" fmla="*/ 1823258 h 2798618"/>
                <a:gd name="connsiteX55" fmla="*/ 698283 w 2560334"/>
                <a:gd name="connsiteY55" fmla="*/ 1790007 h 2798618"/>
                <a:gd name="connsiteX56" fmla="*/ 681657 w 2560334"/>
                <a:gd name="connsiteY56" fmla="*/ 1751214 h 2798618"/>
                <a:gd name="connsiteX57" fmla="*/ 670574 w 2560334"/>
                <a:gd name="connsiteY57" fmla="*/ 1717963 h 2798618"/>
                <a:gd name="connsiteX58" fmla="*/ 659490 w 2560334"/>
                <a:gd name="connsiteY58" fmla="*/ 1684712 h 2798618"/>
                <a:gd name="connsiteX59" fmla="*/ 648406 w 2560334"/>
                <a:gd name="connsiteY59" fmla="*/ 1629294 h 2798618"/>
                <a:gd name="connsiteX60" fmla="*/ 637323 w 2560334"/>
                <a:gd name="connsiteY60" fmla="*/ 1562792 h 2798618"/>
                <a:gd name="connsiteX61" fmla="*/ 626239 w 2560334"/>
                <a:gd name="connsiteY61" fmla="*/ 1540625 h 2798618"/>
                <a:gd name="connsiteX62" fmla="*/ 615155 w 2560334"/>
                <a:gd name="connsiteY62" fmla="*/ 1507374 h 2798618"/>
                <a:gd name="connsiteX63" fmla="*/ 598530 w 2560334"/>
                <a:gd name="connsiteY63" fmla="*/ 1474123 h 2798618"/>
                <a:gd name="connsiteX64" fmla="*/ 587446 w 2560334"/>
                <a:gd name="connsiteY64" fmla="*/ 1451956 h 2798618"/>
                <a:gd name="connsiteX65" fmla="*/ 581904 w 2560334"/>
                <a:gd name="connsiteY65" fmla="*/ 1429789 h 2798618"/>
                <a:gd name="connsiteX66" fmla="*/ 576363 w 2560334"/>
                <a:gd name="connsiteY66" fmla="*/ 1413163 h 2798618"/>
                <a:gd name="connsiteX67" fmla="*/ 570821 w 2560334"/>
                <a:gd name="connsiteY67" fmla="*/ 1390996 h 2798618"/>
                <a:gd name="connsiteX68" fmla="*/ 559737 w 2560334"/>
                <a:gd name="connsiteY68" fmla="*/ 1374370 h 2798618"/>
                <a:gd name="connsiteX69" fmla="*/ 537570 w 2560334"/>
                <a:gd name="connsiteY69" fmla="*/ 1307869 h 2798618"/>
                <a:gd name="connsiteX70" fmla="*/ 526486 w 2560334"/>
                <a:gd name="connsiteY70" fmla="*/ 1291243 h 2798618"/>
                <a:gd name="connsiteX71" fmla="*/ 520944 w 2560334"/>
                <a:gd name="connsiteY71" fmla="*/ 1263534 h 2798618"/>
                <a:gd name="connsiteX72" fmla="*/ 487694 w 2560334"/>
                <a:gd name="connsiteY72" fmla="*/ 1208116 h 2798618"/>
                <a:gd name="connsiteX73" fmla="*/ 459984 w 2560334"/>
                <a:gd name="connsiteY73" fmla="*/ 1180407 h 2798618"/>
                <a:gd name="connsiteX74" fmla="*/ 443359 w 2560334"/>
                <a:gd name="connsiteY74" fmla="*/ 1141614 h 2798618"/>
                <a:gd name="connsiteX75" fmla="*/ 432275 w 2560334"/>
                <a:gd name="connsiteY75" fmla="*/ 1119447 h 2798618"/>
                <a:gd name="connsiteX76" fmla="*/ 426734 w 2560334"/>
                <a:gd name="connsiteY76" fmla="*/ 1102821 h 2798618"/>
                <a:gd name="connsiteX77" fmla="*/ 415650 w 2560334"/>
                <a:gd name="connsiteY77" fmla="*/ 1080654 h 2798618"/>
                <a:gd name="connsiteX78" fmla="*/ 404566 w 2560334"/>
                <a:gd name="connsiteY78" fmla="*/ 1036320 h 2798618"/>
                <a:gd name="connsiteX79" fmla="*/ 393483 w 2560334"/>
                <a:gd name="connsiteY79" fmla="*/ 1008610 h 2798618"/>
                <a:gd name="connsiteX80" fmla="*/ 382399 w 2560334"/>
                <a:gd name="connsiteY80" fmla="*/ 986443 h 2798618"/>
                <a:gd name="connsiteX81" fmla="*/ 376857 w 2560334"/>
                <a:gd name="connsiteY81" fmla="*/ 964276 h 2798618"/>
                <a:gd name="connsiteX82" fmla="*/ 354690 w 2560334"/>
                <a:gd name="connsiteY82" fmla="*/ 925483 h 2798618"/>
                <a:gd name="connsiteX83" fmla="*/ 338064 w 2560334"/>
                <a:gd name="connsiteY83" fmla="*/ 881149 h 2798618"/>
                <a:gd name="connsiteX84" fmla="*/ 321439 w 2560334"/>
                <a:gd name="connsiteY84" fmla="*/ 842356 h 2798618"/>
                <a:gd name="connsiteX85" fmla="*/ 304814 w 2560334"/>
                <a:gd name="connsiteY85" fmla="*/ 798021 h 2798618"/>
                <a:gd name="connsiteX86" fmla="*/ 299272 w 2560334"/>
                <a:gd name="connsiteY86" fmla="*/ 775854 h 2798618"/>
                <a:gd name="connsiteX87" fmla="*/ 288188 w 2560334"/>
                <a:gd name="connsiteY87" fmla="*/ 753687 h 2798618"/>
                <a:gd name="connsiteX88" fmla="*/ 277104 w 2560334"/>
                <a:gd name="connsiteY88" fmla="*/ 720436 h 2798618"/>
                <a:gd name="connsiteX89" fmla="*/ 266021 w 2560334"/>
                <a:gd name="connsiteY89" fmla="*/ 698269 h 2798618"/>
                <a:gd name="connsiteX90" fmla="*/ 260479 w 2560334"/>
                <a:gd name="connsiteY90" fmla="*/ 676101 h 2798618"/>
                <a:gd name="connsiteX91" fmla="*/ 249395 w 2560334"/>
                <a:gd name="connsiteY91" fmla="*/ 653934 h 2798618"/>
                <a:gd name="connsiteX92" fmla="*/ 243854 w 2560334"/>
                <a:gd name="connsiteY92" fmla="*/ 637309 h 2798618"/>
                <a:gd name="connsiteX93" fmla="*/ 232770 w 2560334"/>
                <a:gd name="connsiteY93" fmla="*/ 620683 h 2798618"/>
                <a:gd name="connsiteX94" fmla="*/ 221686 w 2560334"/>
                <a:gd name="connsiteY94" fmla="*/ 581890 h 2798618"/>
                <a:gd name="connsiteX95" fmla="*/ 210603 w 2560334"/>
                <a:gd name="connsiteY95" fmla="*/ 548640 h 2798618"/>
                <a:gd name="connsiteX96" fmla="*/ 199519 w 2560334"/>
                <a:gd name="connsiteY96" fmla="*/ 515389 h 2798618"/>
                <a:gd name="connsiteX97" fmla="*/ 193977 w 2560334"/>
                <a:gd name="connsiteY97" fmla="*/ 498763 h 2798618"/>
                <a:gd name="connsiteX98" fmla="*/ 182894 w 2560334"/>
                <a:gd name="connsiteY98" fmla="*/ 482138 h 2798618"/>
                <a:gd name="connsiteX99" fmla="*/ 171810 w 2560334"/>
                <a:gd name="connsiteY99" fmla="*/ 443345 h 2798618"/>
                <a:gd name="connsiteX100" fmla="*/ 160726 w 2560334"/>
                <a:gd name="connsiteY100" fmla="*/ 426720 h 2798618"/>
                <a:gd name="connsiteX101" fmla="*/ 144101 w 2560334"/>
                <a:gd name="connsiteY101" fmla="*/ 376843 h 2798618"/>
                <a:gd name="connsiteX102" fmla="*/ 138559 w 2560334"/>
                <a:gd name="connsiteY102" fmla="*/ 360218 h 2798618"/>
                <a:gd name="connsiteX103" fmla="*/ 127475 w 2560334"/>
                <a:gd name="connsiteY103" fmla="*/ 343592 h 2798618"/>
                <a:gd name="connsiteX104" fmla="*/ 116392 w 2560334"/>
                <a:gd name="connsiteY104" fmla="*/ 304800 h 2798618"/>
                <a:gd name="connsiteX105" fmla="*/ 110850 w 2560334"/>
                <a:gd name="connsiteY105" fmla="*/ 288174 h 2798618"/>
                <a:gd name="connsiteX106" fmla="*/ 105308 w 2560334"/>
                <a:gd name="connsiteY106" fmla="*/ 266007 h 2798618"/>
                <a:gd name="connsiteX107" fmla="*/ 94224 w 2560334"/>
                <a:gd name="connsiteY107" fmla="*/ 249381 h 2798618"/>
                <a:gd name="connsiteX108" fmla="*/ 77599 w 2560334"/>
                <a:gd name="connsiteY108" fmla="*/ 210589 h 2798618"/>
                <a:gd name="connsiteX109" fmla="*/ 66515 w 2560334"/>
                <a:gd name="connsiteY109" fmla="*/ 171796 h 2798618"/>
                <a:gd name="connsiteX110" fmla="*/ 55432 w 2560334"/>
                <a:gd name="connsiteY110" fmla="*/ 155170 h 2798618"/>
                <a:gd name="connsiteX111" fmla="*/ 44348 w 2560334"/>
                <a:gd name="connsiteY111" fmla="*/ 121920 h 2798618"/>
                <a:gd name="connsiteX112" fmla="*/ 33264 w 2560334"/>
                <a:gd name="connsiteY112" fmla="*/ 88669 h 2798618"/>
                <a:gd name="connsiteX113" fmla="*/ 27723 w 2560334"/>
                <a:gd name="connsiteY113" fmla="*/ 72043 h 2798618"/>
                <a:gd name="connsiteX114" fmla="*/ 16639 w 2560334"/>
                <a:gd name="connsiteY114" fmla="*/ 55418 h 2798618"/>
                <a:gd name="connsiteX115" fmla="*/ 5555 w 2560334"/>
                <a:gd name="connsiteY115" fmla="*/ 22167 h 2798618"/>
                <a:gd name="connsiteX116" fmla="*/ 14 w 2560334"/>
                <a:gd name="connsiteY116" fmla="*/ 0 h 279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560334" h="2798618">
                  <a:moveTo>
                    <a:pt x="2560334" y="2798618"/>
                  </a:moveTo>
                  <a:cubicBezTo>
                    <a:pt x="2549250" y="2791229"/>
                    <a:pt x="2538728" y="2782919"/>
                    <a:pt x="2527083" y="2776450"/>
                  </a:cubicBezTo>
                  <a:cubicBezTo>
                    <a:pt x="2521976" y="2773613"/>
                    <a:pt x="2516074" y="2772514"/>
                    <a:pt x="2510457" y="2770909"/>
                  </a:cubicBezTo>
                  <a:cubicBezTo>
                    <a:pt x="2461772" y="2757000"/>
                    <a:pt x="2511508" y="2773106"/>
                    <a:pt x="2471664" y="2759825"/>
                  </a:cubicBezTo>
                  <a:cubicBezTo>
                    <a:pt x="2466122" y="2756130"/>
                    <a:pt x="2461298" y="2751017"/>
                    <a:pt x="2455039" y="2748741"/>
                  </a:cubicBezTo>
                  <a:cubicBezTo>
                    <a:pt x="2383005" y="2722547"/>
                    <a:pt x="2265030" y="2733611"/>
                    <a:pt x="2211199" y="2732116"/>
                  </a:cubicBezTo>
                  <a:cubicBezTo>
                    <a:pt x="2198268" y="2730269"/>
                    <a:pt x="2185291" y="2728721"/>
                    <a:pt x="2172406" y="2726574"/>
                  </a:cubicBezTo>
                  <a:cubicBezTo>
                    <a:pt x="2163115" y="2725025"/>
                    <a:pt x="2153988" y="2722581"/>
                    <a:pt x="2144697" y="2721032"/>
                  </a:cubicBezTo>
                  <a:cubicBezTo>
                    <a:pt x="2131812" y="2718885"/>
                    <a:pt x="2118835" y="2717337"/>
                    <a:pt x="2105904" y="2715490"/>
                  </a:cubicBezTo>
                  <a:cubicBezTo>
                    <a:pt x="2093493" y="2711353"/>
                    <a:pt x="2080030" y="2706394"/>
                    <a:pt x="2067112" y="2704407"/>
                  </a:cubicBezTo>
                  <a:cubicBezTo>
                    <a:pt x="2050579" y="2701863"/>
                    <a:pt x="2033822" y="2701029"/>
                    <a:pt x="2017235" y="2698865"/>
                  </a:cubicBezTo>
                  <a:cubicBezTo>
                    <a:pt x="1991330" y="2695486"/>
                    <a:pt x="1965267" y="2692904"/>
                    <a:pt x="1939650" y="2687781"/>
                  </a:cubicBezTo>
                  <a:cubicBezTo>
                    <a:pt x="1910836" y="2682019"/>
                    <a:pt x="1909406" y="2681424"/>
                    <a:pt x="1878690" y="2676698"/>
                  </a:cubicBezTo>
                  <a:cubicBezTo>
                    <a:pt x="1845675" y="2671619"/>
                    <a:pt x="1838242" y="2671539"/>
                    <a:pt x="1806646" y="2665614"/>
                  </a:cubicBezTo>
                  <a:cubicBezTo>
                    <a:pt x="1788130" y="2662142"/>
                    <a:pt x="1769100" y="2660487"/>
                    <a:pt x="1751228" y="2654530"/>
                  </a:cubicBezTo>
                  <a:cubicBezTo>
                    <a:pt x="1711348" y="2641238"/>
                    <a:pt x="1761171" y="2657372"/>
                    <a:pt x="1712435" y="2643447"/>
                  </a:cubicBezTo>
                  <a:cubicBezTo>
                    <a:pt x="1706818" y="2641842"/>
                    <a:pt x="1701477" y="2639322"/>
                    <a:pt x="1695810" y="2637905"/>
                  </a:cubicBezTo>
                  <a:cubicBezTo>
                    <a:pt x="1686672" y="2635620"/>
                    <a:pt x="1677239" y="2634648"/>
                    <a:pt x="1668101" y="2632363"/>
                  </a:cubicBezTo>
                  <a:cubicBezTo>
                    <a:pt x="1662434" y="2630946"/>
                    <a:pt x="1656700" y="2629433"/>
                    <a:pt x="1651475" y="2626821"/>
                  </a:cubicBezTo>
                  <a:cubicBezTo>
                    <a:pt x="1645518" y="2623843"/>
                    <a:pt x="1641340" y="2617236"/>
                    <a:pt x="1634850" y="2615738"/>
                  </a:cubicBezTo>
                  <a:cubicBezTo>
                    <a:pt x="1616761" y="2611564"/>
                    <a:pt x="1597905" y="2612043"/>
                    <a:pt x="1579432" y="2610196"/>
                  </a:cubicBezTo>
                  <a:cubicBezTo>
                    <a:pt x="1573890" y="2608349"/>
                    <a:pt x="1568509" y="2605921"/>
                    <a:pt x="1562806" y="2604654"/>
                  </a:cubicBezTo>
                  <a:cubicBezTo>
                    <a:pt x="1513797" y="2593763"/>
                    <a:pt x="1546045" y="2604614"/>
                    <a:pt x="1507388" y="2593570"/>
                  </a:cubicBezTo>
                  <a:cubicBezTo>
                    <a:pt x="1468854" y="2582561"/>
                    <a:pt x="1515889" y="2594681"/>
                    <a:pt x="1468595" y="2576945"/>
                  </a:cubicBezTo>
                  <a:cubicBezTo>
                    <a:pt x="1436785" y="2565016"/>
                    <a:pt x="1451059" y="2579262"/>
                    <a:pt x="1413177" y="2560320"/>
                  </a:cubicBezTo>
                  <a:cubicBezTo>
                    <a:pt x="1385785" y="2546623"/>
                    <a:pt x="1398847" y="2551848"/>
                    <a:pt x="1374384" y="2543694"/>
                  </a:cubicBezTo>
                  <a:cubicBezTo>
                    <a:pt x="1368842" y="2539999"/>
                    <a:pt x="1362469" y="2537320"/>
                    <a:pt x="1357759" y="2532610"/>
                  </a:cubicBezTo>
                  <a:cubicBezTo>
                    <a:pt x="1353049" y="2527900"/>
                    <a:pt x="1351876" y="2520146"/>
                    <a:pt x="1346675" y="2515985"/>
                  </a:cubicBezTo>
                  <a:cubicBezTo>
                    <a:pt x="1342114" y="2512336"/>
                    <a:pt x="1335592" y="2512290"/>
                    <a:pt x="1330050" y="2510443"/>
                  </a:cubicBezTo>
                  <a:cubicBezTo>
                    <a:pt x="1286818" y="2467214"/>
                    <a:pt x="1342321" y="2519209"/>
                    <a:pt x="1291257" y="2482734"/>
                  </a:cubicBezTo>
                  <a:cubicBezTo>
                    <a:pt x="1284880" y="2478179"/>
                    <a:pt x="1280818" y="2470921"/>
                    <a:pt x="1274632" y="2466109"/>
                  </a:cubicBezTo>
                  <a:cubicBezTo>
                    <a:pt x="1264117" y="2457931"/>
                    <a:pt x="1252465" y="2451330"/>
                    <a:pt x="1241381" y="2443941"/>
                  </a:cubicBezTo>
                  <a:cubicBezTo>
                    <a:pt x="1241373" y="2443936"/>
                    <a:pt x="1208137" y="2421781"/>
                    <a:pt x="1208130" y="2421774"/>
                  </a:cubicBezTo>
                  <a:cubicBezTo>
                    <a:pt x="1142584" y="2356228"/>
                    <a:pt x="1200245" y="2403976"/>
                    <a:pt x="1158254" y="2382981"/>
                  </a:cubicBezTo>
                  <a:cubicBezTo>
                    <a:pt x="1152297" y="2380002"/>
                    <a:pt x="1146606" y="2376323"/>
                    <a:pt x="1141628" y="2371898"/>
                  </a:cubicBezTo>
                  <a:cubicBezTo>
                    <a:pt x="1129912" y="2361484"/>
                    <a:pt x="1123247" y="2343604"/>
                    <a:pt x="1108377" y="2338647"/>
                  </a:cubicBezTo>
                  <a:lnTo>
                    <a:pt x="1091752" y="2333105"/>
                  </a:lnTo>
                  <a:cubicBezTo>
                    <a:pt x="1086210" y="2327563"/>
                    <a:pt x="1079938" y="2322666"/>
                    <a:pt x="1075126" y="2316480"/>
                  </a:cubicBezTo>
                  <a:cubicBezTo>
                    <a:pt x="1066948" y="2305965"/>
                    <a:pt x="1062378" y="2292648"/>
                    <a:pt x="1052959" y="2283229"/>
                  </a:cubicBezTo>
                  <a:cubicBezTo>
                    <a:pt x="1041875" y="2272145"/>
                    <a:pt x="1028403" y="2263020"/>
                    <a:pt x="1019708" y="2249978"/>
                  </a:cubicBezTo>
                  <a:lnTo>
                    <a:pt x="997541" y="2216727"/>
                  </a:lnTo>
                  <a:cubicBezTo>
                    <a:pt x="993846" y="2211185"/>
                    <a:pt x="991167" y="2204811"/>
                    <a:pt x="986457" y="2200101"/>
                  </a:cubicBezTo>
                  <a:cubicBezTo>
                    <a:pt x="980915" y="2194559"/>
                    <a:pt x="974644" y="2189662"/>
                    <a:pt x="969832" y="2183476"/>
                  </a:cubicBezTo>
                  <a:cubicBezTo>
                    <a:pt x="969820" y="2183461"/>
                    <a:pt x="942128" y="2141921"/>
                    <a:pt x="936581" y="2133600"/>
                  </a:cubicBezTo>
                  <a:cubicBezTo>
                    <a:pt x="932886" y="2128058"/>
                    <a:pt x="930207" y="2121684"/>
                    <a:pt x="925497" y="2116974"/>
                  </a:cubicBezTo>
                  <a:cubicBezTo>
                    <a:pt x="919955" y="2111432"/>
                    <a:pt x="913889" y="2106370"/>
                    <a:pt x="908872" y="2100349"/>
                  </a:cubicBezTo>
                  <a:cubicBezTo>
                    <a:pt x="889021" y="2076528"/>
                    <a:pt x="904741" y="2092090"/>
                    <a:pt x="892246" y="2067098"/>
                  </a:cubicBezTo>
                  <a:cubicBezTo>
                    <a:pt x="880361" y="2043327"/>
                    <a:pt x="881701" y="2055915"/>
                    <a:pt x="864537" y="2033847"/>
                  </a:cubicBezTo>
                  <a:cubicBezTo>
                    <a:pt x="856359" y="2023332"/>
                    <a:pt x="848327" y="2012510"/>
                    <a:pt x="842370" y="2000596"/>
                  </a:cubicBezTo>
                  <a:cubicBezTo>
                    <a:pt x="838675" y="1993207"/>
                    <a:pt x="836088" y="1985151"/>
                    <a:pt x="831286" y="1978429"/>
                  </a:cubicBezTo>
                  <a:cubicBezTo>
                    <a:pt x="826731" y="1972051"/>
                    <a:pt x="820203" y="1967345"/>
                    <a:pt x="814661" y="1961803"/>
                  </a:cubicBezTo>
                  <a:cubicBezTo>
                    <a:pt x="804906" y="1932541"/>
                    <a:pt x="812359" y="1950038"/>
                    <a:pt x="786952" y="1911927"/>
                  </a:cubicBezTo>
                  <a:cubicBezTo>
                    <a:pt x="786945" y="1911916"/>
                    <a:pt x="764792" y="1878687"/>
                    <a:pt x="764784" y="1878676"/>
                  </a:cubicBezTo>
                  <a:cubicBezTo>
                    <a:pt x="759242" y="1871287"/>
                    <a:pt x="753456" y="1864076"/>
                    <a:pt x="748159" y="1856509"/>
                  </a:cubicBezTo>
                  <a:cubicBezTo>
                    <a:pt x="740520" y="1845596"/>
                    <a:pt x="735411" y="1832677"/>
                    <a:pt x="725992" y="1823258"/>
                  </a:cubicBezTo>
                  <a:cubicBezTo>
                    <a:pt x="704657" y="1801923"/>
                    <a:pt x="713713" y="1813153"/>
                    <a:pt x="698283" y="1790007"/>
                  </a:cubicBezTo>
                  <a:cubicBezTo>
                    <a:pt x="683622" y="1731364"/>
                    <a:pt x="703528" y="1800425"/>
                    <a:pt x="681657" y="1751214"/>
                  </a:cubicBezTo>
                  <a:cubicBezTo>
                    <a:pt x="676912" y="1740538"/>
                    <a:pt x="674268" y="1729047"/>
                    <a:pt x="670574" y="1717963"/>
                  </a:cubicBezTo>
                  <a:cubicBezTo>
                    <a:pt x="670573" y="1717959"/>
                    <a:pt x="659491" y="1684715"/>
                    <a:pt x="659490" y="1684712"/>
                  </a:cubicBezTo>
                  <a:cubicBezTo>
                    <a:pt x="655795" y="1666239"/>
                    <a:pt x="650743" y="1647987"/>
                    <a:pt x="648406" y="1629294"/>
                  </a:cubicBezTo>
                  <a:cubicBezTo>
                    <a:pt x="646396" y="1613212"/>
                    <a:pt x="644186" y="1581094"/>
                    <a:pt x="637323" y="1562792"/>
                  </a:cubicBezTo>
                  <a:cubicBezTo>
                    <a:pt x="634422" y="1555057"/>
                    <a:pt x="629307" y="1548295"/>
                    <a:pt x="626239" y="1540625"/>
                  </a:cubicBezTo>
                  <a:cubicBezTo>
                    <a:pt x="621900" y="1529777"/>
                    <a:pt x="621636" y="1517095"/>
                    <a:pt x="615155" y="1507374"/>
                  </a:cubicBezTo>
                  <a:cubicBezTo>
                    <a:pt x="593854" y="1475422"/>
                    <a:pt x="612298" y="1506247"/>
                    <a:pt x="598530" y="1474123"/>
                  </a:cubicBezTo>
                  <a:cubicBezTo>
                    <a:pt x="595276" y="1466530"/>
                    <a:pt x="590347" y="1459691"/>
                    <a:pt x="587446" y="1451956"/>
                  </a:cubicBezTo>
                  <a:cubicBezTo>
                    <a:pt x="584772" y="1444825"/>
                    <a:pt x="583996" y="1437112"/>
                    <a:pt x="581904" y="1429789"/>
                  </a:cubicBezTo>
                  <a:cubicBezTo>
                    <a:pt x="580299" y="1424172"/>
                    <a:pt x="577968" y="1418780"/>
                    <a:pt x="576363" y="1413163"/>
                  </a:cubicBezTo>
                  <a:cubicBezTo>
                    <a:pt x="574271" y="1405840"/>
                    <a:pt x="573821" y="1397997"/>
                    <a:pt x="570821" y="1390996"/>
                  </a:cubicBezTo>
                  <a:cubicBezTo>
                    <a:pt x="568197" y="1384874"/>
                    <a:pt x="563432" y="1379912"/>
                    <a:pt x="559737" y="1374370"/>
                  </a:cubicBezTo>
                  <a:cubicBezTo>
                    <a:pt x="550316" y="1336684"/>
                    <a:pt x="553479" y="1335708"/>
                    <a:pt x="537570" y="1307869"/>
                  </a:cubicBezTo>
                  <a:cubicBezTo>
                    <a:pt x="534265" y="1302086"/>
                    <a:pt x="530181" y="1296785"/>
                    <a:pt x="526486" y="1291243"/>
                  </a:cubicBezTo>
                  <a:cubicBezTo>
                    <a:pt x="524639" y="1282007"/>
                    <a:pt x="523923" y="1272470"/>
                    <a:pt x="520944" y="1263534"/>
                  </a:cubicBezTo>
                  <a:cubicBezTo>
                    <a:pt x="515263" y="1246492"/>
                    <a:pt x="496126" y="1220765"/>
                    <a:pt x="487694" y="1208116"/>
                  </a:cubicBezTo>
                  <a:cubicBezTo>
                    <a:pt x="472916" y="1185948"/>
                    <a:pt x="482152" y="1195184"/>
                    <a:pt x="459984" y="1180407"/>
                  </a:cubicBezTo>
                  <a:cubicBezTo>
                    <a:pt x="437522" y="1146711"/>
                    <a:pt x="458698" y="1182516"/>
                    <a:pt x="443359" y="1141614"/>
                  </a:cubicBezTo>
                  <a:cubicBezTo>
                    <a:pt x="440458" y="1133879"/>
                    <a:pt x="435529" y="1127040"/>
                    <a:pt x="432275" y="1119447"/>
                  </a:cubicBezTo>
                  <a:cubicBezTo>
                    <a:pt x="429974" y="1114078"/>
                    <a:pt x="429035" y="1108190"/>
                    <a:pt x="426734" y="1102821"/>
                  </a:cubicBezTo>
                  <a:cubicBezTo>
                    <a:pt x="423480" y="1095228"/>
                    <a:pt x="418263" y="1088491"/>
                    <a:pt x="415650" y="1080654"/>
                  </a:cubicBezTo>
                  <a:cubicBezTo>
                    <a:pt x="410833" y="1066203"/>
                    <a:pt x="410223" y="1050464"/>
                    <a:pt x="404566" y="1036320"/>
                  </a:cubicBezTo>
                  <a:cubicBezTo>
                    <a:pt x="400872" y="1027083"/>
                    <a:pt x="397523" y="1017701"/>
                    <a:pt x="393483" y="1008610"/>
                  </a:cubicBezTo>
                  <a:cubicBezTo>
                    <a:pt x="390128" y="1001061"/>
                    <a:pt x="385300" y="994178"/>
                    <a:pt x="382399" y="986443"/>
                  </a:cubicBezTo>
                  <a:cubicBezTo>
                    <a:pt x="379725" y="979312"/>
                    <a:pt x="379531" y="971407"/>
                    <a:pt x="376857" y="964276"/>
                  </a:cubicBezTo>
                  <a:cubicBezTo>
                    <a:pt x="370830" y="948203"/>
                    <a:pt x="363879" y="939266"/>
                    <a:pt x="354690" y="925483"/>
                  </a:cubicBezTo>
                  <a:cubicBezTo>
                    <a:pt x="344471" y="884607"/>
                    <a:pt x="355454" y="921728"/>
                    <a:pt x="338064" y="881149"/>
                  </a:cubicBezTo>
                  <a:cubicBezTo>
                    <a:pt x="313602" y="824069"/>
                    <a:pt x="358199" y="915874"/>
                    <a:pt x="321439" y="842356"/>
                  </a:cubicBezTo>
                  <a:cubicBezTo>
                    <a:pt x="307384" y="772081"/>
                    <a:pt x="326218" y="847965"/>
                    <a:pt x="304814" y="798021"/>
                  </a:cubicBezTo>
                  <a:cubicBezTo>
                    <a:pt x="301814" y="791020"/>
                    <a:pt x="301946" y="782985"/>
                    <a:pt x="299272" y="775854"/>
                  </a:cubicBezTo>
                  <a:cubicBezTo>
                    <a:pt x="296371" y="768119"/>
                    <a:pt x="291256" y="761357"/>
                    <a:pt x="288188" y="753687"/>
                  </a:cubicBezTo>
                  <a:cubicBezTo>
                    <a:pt x="283849" y="742839"/>
                    <a:pt x="282329" y="730886"/>
                    <a:pt x="277104" y="720436"/>
                  </a:cubicBezTo>
                  <a:cubicBezTo>
                    <a:pt x="273410" y="713047"/>
                    <a:pt x="268922" y="706004"/>
                    <a:pt x="266021" y="698269"/>
                  </a:cubicBezTo>
                  <a:cubicBezTo>
                    <a:pt x="263347" y="691137"/>
                    <a:pt x="263153" y="683233"/>
                    <a:pt x="260479" y="676101"/>
                  </a:cubicBezTo>
                  <a:cubicBezTo>
                    <a:pt x="257578" y="668366"/>
                    <a:pt x="252649" y="661527"/>
                    <a:pt x="249395" y="653934"/>
                  </a:cubicBezTo>
                  <a:cubicBezTo>
                    <a:pt x="247094" y="648565"/>
                    <a:pt x="246466" y="642534"/>
                    <a:pt x="243854" y="637309"/>
                  </a:cubicBezTo>
                  <a:cubicBezTo>
                    <a:pt x="240875" y="631351"/>
                    <a:pt x="235749" y="626640"/>
                    <a:pt x="232770" y="620683"/>
                  </a:cubicBezTo>
                  <a:cubicBezTo>
                    <a:pt x="228113" y="611370"/>
                    <a:pt x="224350" y="590770"/>
                    <a:pt x="221686" y="581890"/>
                  </a:cubicBezTo>
                  <a:cubicBezTo>
                    <a:pt x="218329" y="570700"/>
                    <a:pt x="214297" y="559723"/>
                    <a:pt x="210603" y="548640"/>
                  </a:cubicBezTo>
                  <a:lnTo>
                    <a:pt x="199519" y="515389"/>
                  </a:lnTo>
                  <a:cubicBezTo>
                    <a:pt x="197672" y="509847"/>
                    <a:pt x="197217" y="503624"/>
                    <a:pt x="193977" y="498763"/>
                  </a:cubicBezTo>
                  <a:cubicBezTo>
                    <a:pt x="190283" y="493221"/>
                    <a:pt x="185872" y="488095"/>
                    <a:pt x="182894" y="482138"/>
                  </a:cubicBezTo>
                  <a:cubicBezTo>
                    <a:pt x="172106" y="460561"/>
                    <a:pt x="182469" y="468214"/>
                    <a:pt x="171810" y="443345"/>
                  </a:cubicBezTo>
                  <a:cubicBezTo>
                    <a:pt x="169186" y="437223"/>
                    <a:pt x="164421" y="432262"/>
                    <a:pt x="160726" y="426720"/>
                  </a:cubicBezTo>
                  <a:lnTo>
                    <a:pt x="144101" y="376843"/>
                  </a:lnTo>
                  <a:cubicBezTo>
                    <a:pt x="142254" y="371301"/>
                    <a:pt x="141799" y="365078"/>
                    <a:pt x="138559" y="360218"/>
                  </a:cubicBezTo>
                  <a:lnTo>
                    <a:pt x="127475" y="343592"/>
                  </a:lnTo>
                  <a:cubicBezTo>
                    <a:pt x="114185" y="303717"/>
                    <a:pt x="130315" y="353528"/>
                    <a:pt x="116392" y="304800"/>
                  </a:cubicBezTo>
                  <a:cubicBezTo>
                    <a:pt x="114787" y="299183"/>
                    <a:pt x="112455" y="293791"/>
                    <a:pt x="110850" y="288174"/>
                  </a:cubicBezTo>
                  <a:cubicBezTo>
                    <a:pt x="108758" y="280851"/>
                    <a:pt x="108308" y="273008"/>
                    <a:pt x="105308" y="266007"/>
                  </a:cubicBezTo>
                  <a:cubicBezTo>
                    <a:pt x="102684" y="259885"/>
                    <a:pt x="97919" y="254923"/>
                    <a:pt x="94224" y="249381"/>
                  </a:cubicBezTo>
                  <a:cubicBezTo>
                    <a:pt x="78318" y="185747"/>
                    <a:pt x="100560" y="264163"/>
                    <a:pt x="77599" y="210589"/>
                  </a:cubicBezTo>
                  <a:cubicBezTo>
                    <a:pt x="66938" y="185713"/>
                    <a:pt x="77305" y="193377"/>
                    <a:pt x="66515" y="171796"/>
                  </a:cubicBezTo>
                  <a:cubicBezTo>
                    <a:pt x="63536" y="165839"/>
                    <a:pt x="58137" y="161256"/>
                    <a:pt x="55432" y="155170"/>
                  </a:cubicBezTo>
                  <a:cubicBezTo>
                    <a:pt x="50687" y="144494"/>
                    <a:pt x="48043" y="133003"/>
                    <a:pt x="44348" y="121920"/>
                  </a:cubicBezTo>
                  <a:lnTo>
                    <a:pt x="33264" y="88669"/>
                  </a:lnTo>
                  <a:cubicBezTo>
                    <a:pt x="31417" y="83127"/>
                    <a:pt x="30964" y="76903"/>
                    <a:pt x="27723" y="72043"/>
                  </a:cubicBezTo>
                  <a:lnTo>
                    <a:pt x="16639" y="55418"/>
                  </a:lnTo>
                  <a:lnTo>
                    <a:pt x="5555" y="22167"/>
                  </a:lnTo>
                  <a:cubicBezTo>
                    <a:pt x="-570" y="3791"/>
                    <a:pt x="14" y="11382"/>
                    <a:pt x="14" y="0"/>
                  </a:cubicBezTo>
                </a:path>
              </a:pathLst>
            </a:custGeom>
            <a:noFill/>
            <a:ln w="25400" cap="flat" cmpd="dbl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933DF446-1BCC-133F-CFB6-650BE2595AE1}"/>
                </a:ext>
              </a:extLst>
            </p:cNvPr>
            <p:cNvSpPr txBox="1"/>
            <p:nvPr/>
          </p:nvSpPr>
          <p:spPr>
            <a:xfrm rot="4206548">
              <a:off x="759067" y="4941484"/>
              <a:ext cx="16065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East West Offshore Gas Gathering  System (EWOGGS)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BD49AA36-E8DB-7372-A648-08FE20682A27}"/>
                </a:ext>
              </a:extLst>
            </p:cNvPr>
            <p:cNvSpPr txBox="1"/>
            <p:nvPr/>
          </p:nvSpPr>
          <p:spPr>
            <a:xfrm>
              <a:off x="3227515" y="6528525"/>
              <a:ext cx="8691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Gas Pre treatment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Platform</a:t>
              </a:r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C78A38DC-9755-0C41-D067-BD0A78541E1F}"/>
                </a:ext>
              </a:extLst>
            </p:cNvPr>
            <p:cNvSpPr/>
            <p:nvPr/>
          </p:nvSpPr>
          <p:spPr>
            <a:xfrm>
              <a:off x="6214107" y="818767"/>
              <a:ext cx="114435" cy="111072"/>
            </a:xfrm>
            <a:prstGeom prst="ellipse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916ED9FA-E799-C3EF-B08A-BB357782F0A8}"/>
                </a:ext>
              </a:extLst>
            </p:cNvPr>
            <p:cNvSpPr txBox="1"/>
            <p:nvPr/>
          </p:nvSpPr>
          <p:spPr>
            <a:xfrm>
              <a:off x="6228097" y="841791"/>
              <a:ext cx="41389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Zaria IPS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34B196C-5BAA-40F2-27C2-7A51B7BDA8E3}"/>
                </a:ext>
              </a:extLst>
            </p:cNvPr>
            <p:cNvSpPr txBox="1"/>
            <p:nvPr/>
          </p:nvSpPr>
          <p:spPr>
            <a:xfrm rot="19684310">
              <a:off x="5843176" y="972296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 X 97 Km</a:t>
              </a:r>
            </a:p>
          </p:txBody>
        </p: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E6CE7BDA-3C60-CE3E-4704-8268159AEEF4}"/>
                </a:ext>
              </a:extLst>
            </p:cNvPr>
            <p:cNvCxnSpPr/>
            <p:nvPr/>
          </p:nvCxnSpPr>
          <p:spPr>
            <a:xfrm flipH="1" flipV="1">
              <a:off x="6881964" y="395594"/>
              <a:ext cx="38739" cy="60250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9777328C-2DD8-340B-6FE0-81628C1F470C}"/>
                </a:ext>
              </a:extLst>
            </p:cNvPr>
            <p:cNvSpPr txBox="1"/>
            <p:nvPr/>
          </p:nvSpPr>
          <p:spPr>
            <a:xfrm>
              <a:off x="6262349" y="257030"/>
              <a:ext cx="6753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Trans Sahara Gas Pipeline (TSGP)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Take-off Point </a:t>
              </a:r>
            </a:p>
          </p:txBody>
        </p:sp>
        <p:cxnSp>
          <p:nvCxnSpPr>
            <p:cNvPr id="390" name="Straight Arrow Connector 389">
              <a:extLst>
                <a:ext uri="{FF2B5EF4-FFF2-40B4-BE49-F238E27FC236}">
                  <a16:creationId xmlns:a16="http://schemas.microsoft.com/office/drawing/2014/main" id="{139E7151-E0AF-B0E9-11FB-9314FE2FC246}"/>
                </a:ext>
              </a:extLst>
            </p:cNvPr>
            <p:cNvCxnSpPr/>
            <p:nvPr/>
          </p:nvCxnSpPr>
          <p:spPr>
            <a:xfrm>
              <a:off x="6693158" y="394523"/>
              <a:ext cx="171732" cy="174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6B65A7D4-99D4-6A06-8014-FF8B638B33F2}"/>
                </a:ext>
              </a:extLst>
            </p:cNvPr>
            <p:cNvSpPr txBox="1"/>
            <p:nvPr/>
          </p:nvSpPr>
          <p:spPr>
            <a:xfrm>
              <a:off x="5653163" y="4519522"/>
              <a:ext cx="41915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Gbaran/</a:t>
              </a:r>
              <a:r>
                <a:rPr kumimoji="0" lang="en-US" sz="5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Ubie</a:t>
              </a: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E7DB0CAD-471B-D99E-11F8-B7C1BFFD886C}"/>
                </a:ext>
              </a:extLst>
            </p:cNvPr>
            <p:cNvCxnSpPr/>
            <p:nvPr/>
          </p:nvCxnSpPr>
          <p:spPr>
            <a:xfrm flipV="1">
              <a:off x="5387074" y="4699695"/>
              <a:ext cx="127558" cy="8293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9DA12CEA-8F8C-AD0A-C279-1C01894DB336}"/>
                </a:ext>
              </a:extLst>
            </p:cNvPr>
            <p:cNvCxnSpPr/>
            <p:nvPr/>
          </p:nvCxnSpPr>
          <p:spPr>
            <a:xfrm flipV="1">
              <a:off x="5247412" y="4945541"/>
              <a:ext cx="0" cy="1636768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C48926DD-4C15-09E2-D99C-FE0B8F18E50C}"/>
                </a:ext>
              </a:extLst>
            </p:cNvPr>
            <p:cNvSpPr txBox="1"/>
            <p:nvPr/>
          </p:nvSpPr>
          <p:spPr>
            <a:xfrm>
              <a:off x="5174570" y="5216017"/>
              <a:ext cx="33374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GTS 2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F63DA9D8-F7BC-8BB3-5094-7311FCB48778}"/>
                </a:ext>
              </a:extLst>
            </p:cNvPr>
            <p:cNvSpPr/>
            <p:nvPr/>
          </p:nvSpPr>
          <p:spPr>
            <a:xfrm>
              <a:off x="5450853" y="4832767"/>
              <a:ext cx="251564" cy="22554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396" name="Straight Arrow Connector 395">
              <a:extLst>
                <a:ext uri="{FF2B5EF4-FFF2-40B4-BE49-F238E27FC236}">
                  <a16:creationId xmlns:a16="http://schemas.microsoft.com/office/drawing/2014/main" id="{AD8BFD2E-64D4-190A-0B3E-E001BA944191}"/>
                </a:ext>
              </a:extLst>
            </p:cNvPr>
            <p:cNvCxnSpPr/>
            <p:nvPr/>
          </p:nvCxnSpPr>
          <p:spPr>
            <a:xfrm>
              <a:off x="5157262" y="4597597"/>
              <a:ext cx="0" cy="354777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7232FF61-86EF-A6DC-249F-4FD9D346A5E2}"/>
                </a:ext>
              </a:extLst>
            </p:cNvPr>
            <p:cNvCxnSpPr>
              <a:endCxn id="395" idx="1"/>
            </p:cNvCxnSpPr>
            <p:nvPr/>
          </p:nvCxnSpPr>
          <p:spPr>
            <a:xfrm>
              <a:off x="5157857" y="4945542"/>
              <a:ext cx="292996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BB575760-B5DE-B903-FA68-F855A8E2670D}"/>
                </a:ext>
              </a:extLst>
            </p:cNvPr>
            <p:cNvSpPr/>
            <p:nvPr/>
          </p:nvSpPr>
          <p:spPr>
            <a:xfrm>
              <a:off x="4132681" y="6629400"/>
              <a:ext cx="531431" cy="226109"/>
            </a:xfrm>
            <a:prstGeom prst="ellipse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31654B3C-7F27-3097-CA4F-E3022E8B51BE}"/>
                </a:ext>
              </a:extLst>
            </p:cNvPr>
            <p:cNvSpPr txBox="1"/>
            <p:nvPr/>
          </p:nvSpPr>
          <p:spPr>
            <a:xfrm>
              <a:off x="4163313" y="6603954"/>
              <a:ext cx="485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OML 83 &amp; 85</a:t>
              </a:r>
            </a:p>
          </p:txBody>
        </p: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F2FE7089-E531-9AE8-5B9F-D0173F6C025C}"/>
                </a:ext>
              </a:extLst>
            </p:cNvPr>
            <p:cNvCxnSpPr/>
            <p:nvPr/>
          </p:nvCxnSpPr>
          <p:spPr>
            <a:xfrm flipH="1">
              <a:off x="4038494" y="6653309"/>
              <a:ext cx="229659" cy="112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ysDash"/>
              <a:tailEnd type="triangle"/>
            </a:ln>
            <a:effectLst/>
          </p:spPr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28D61103-F3A2-6ECD-7434-809C4CB48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7168" y="2495602"/>
              <a:ext cx="327654" cy="103517"/>
            </a:xfrm>
            <a:prstGeom prst="straightConnector1">
              <a:avLst/>
            </a:prstGeom>
            <a:noFill/>
            <a:ln w="12700" cap="flat" cmpd="sng" algn="ctr">
              <a:solidFill>
                <a:srgbClr val="00B0F0"/>
              </a:solidFill>
              <a:prstDash val="sysDash"/>
              <a:tailEnd type="triangle"/>
            </a:ln>
            <a:effectLst/>
          </p:spPr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67126B85-DBF5-2F97-D06F-5EE910369C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94234" y="2807527"/>
              <a:ext cx="117092" cy="196650"/>
            </a:xfrm>
            <a:prstGeom prst="straightConnector1">
              <a:avLst/>
            </a:prstGeom>
            <a:noFill/>
            <a:ln w="12700" cap="flat" cmpd="sng" algn="ctr">
              <a:solidFill>
                <a:srgbClr val="00B0F0"/>
              </a:solidFill>
              <a:prstDash val="sysDash"/>
              <a:tailEnd type="triangle"/>
            </a:ln>
            <a:effectLst/>
          </p:spPr>
        </p:cxn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375DAE01-283A-D20C-521F-9E41259B3324}"/>
                </a:ext>
              </a:extLst>
            </p:cNvPr>
            <p:cNvSpPr txBox="1"/>
            <p:nvPr/>
          </p:nvSpPr>
          <p:spPr>
            <a:xfrm rot="18599480">
              <a:off x="5198566" y="3737471"/>
              <a:ext cx="42832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24”/5.5 Km</a:t>
              </a:r>
            </a:p>
          </p:txBody>
        </p:sp>
        <p:sp>
          <p:nvSpPr>
            <p:cNvPr id="404" name="Isosceles Triangle 403">
              <a:extLst>
                <a:ext uri="{FF2B5EF4-FFF2-40B4-BE49-F238E27FC236}">
                  <a16:creationId xmlns:a16="http://schemas.microsoft.com/office/drawing/2014/main" id="{4200DDAA-9282-3498-150E-010D94939DDF}"/>
                </a:ext>
              </a:extLst>
            </p:cNvPr>
            <p:cNvSpPr/>
            <p:nvPr/>
          </p:nvSpPr>
          <p:spPr>
            <a:xfrm>
              <a:off x="7548583" y="5556391"/>
              <a:ext cx="168853" cy="152400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50BEE2D7-EF08-ED50-344E-D3FF9D8417DC}"/>
                </a:ext>
              </a:extLst>
            </p:cNvPr>
            <p:cNvSpPr txBox="1"/>
            <p:nvPr/>
          </p:nvSpPr>
          <p:spPr>
            <a:xfrm>
              <a:off x="7449890" y="5665250"/>
              <a:ext cx="3513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Ibom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PP</a:t>
              </a:r>
            </a:p>
          </p:txBody>
        </p: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985F9392-9103-B735-66DC-F8395BE16A3D}"/>
                </a:ext>
              </a:extLst>
            </p:cNvPr>
            <p:cNvCxnSpPr>
              <a:cxnSpLocks/>
              <a:endCxn id="492" idx="1"/>
            </p:cNvCxnSpPr>
            <p:nvPr/>
          </p:nvCxnSpPr>
          <p:spPr>
            <a:xfrm flipH="1">
              <a:off x="7673967" y="5403974"/>
              <a:ext cx="36004" cy="20589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F1053AB9-5011-C8C2-55C2-1ABE4A43533F}"/>
                </a:ext>
              </a:extLst>
            </p:cNvPr>
            <p:cNvCxnSpPr/>
            <p:nvPr/>
          </p:nvCxnSpPr>
          <p:spPr>
            <a:xfrm flipH="1">
              <a:off x="6511110" y="4876034"/>
              <a:ext cx="4570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948E5CFD-E317-F8BE-24BB-374F63293455}"/>
                </a:ext>
              </a:extLst>
            </p:cNvPr>
            <p:cNvSpPr/>
            <p:nvPr/>
          </p:nvSpPr>
          <p:spPr>
            <a:xfrm>
              <a:off x="6601708" y="5013852"/>
              <a:ext cx="271408" cy="12708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0167DDA4-1CCB-7D4F-52D6-98744344C930}"/>
                </a:ext>
              </a:extLst>
            </p:cNvPr>
            <p:cNvSpPr txBox="1"/>
            <p:nvPr/>
          </p:nvSpPr>
          <p:spPr>
            <a:xfrm>
              <a:off x="6533418" y="5007416"/>
              <a:ext cx="417101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AFAM M/S</a:t>
              </a:r>
            </a:p>
          </p:txBody>
        </p: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35BF5AE1-FA69-D87B-EA77-FD5720E85BD9}"/>
                </a:ext>
              </a:extLst>
            </p:cNvPr>
            <p:cNvCxnSpPr/>
            <p:nvPr/>
          </p:nvCxnSpPr>
          <p:spPr>
            <a:xfrm flipV="1">
              <a:off x="6727754" y="4877543"/>
              <a:ext cx="0" cy="13162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E92C2C3E-A925-1E75-6808-FB8D9CAE334A}"/>
                </a:ext>
              </a:extLst>
            </p:cNvPr>
            <p:cNvSpPr txBox="1"/>
            <p:nvPr/>
          </p:nvSpPr>
          <p:spPr>
            <a:xfrm>
              <a:off x="6125401" y="4772144"/>
              <a:ext cx="4339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Okoloma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GP</a:t>
              </a:r>
            </a:p>
          </p:txBody>
        </p: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DF3CE1F-B721-4356-FC6B-828890C66DC2}"/>
                </a:ext>
              </a:extLst>
            </p:cNvPr>
            <p:cNvCxnSpPr/>
            <p:nvPr/>
          </p:nvCxnSpPr>
          <p:spPr>
            <a:xfrm flipV="1">
              <a:off x="6660303" y="5483371"/>
              <a:ext cx="0" cy="51425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BA946F3C-F748-9B1F-AC8E-51C3C05BE842}"/>
                </a:ext>
              </a:extLst>
            </p:cNvPr>
            <p:cNvCxnSpPr/>
            <p:nvPr/>
          </p:nvCxnSpPr>
          <p:spPr>
            <a:xfrm flipH="1" flipV="1">
              <a:off x="6583725" y="5485834"/>
              <a:ext cx="0" cy="77943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6B9CA501-4BB9-B0E8-19BC-6AA9C7E5345A}"/>
                </a:ext>
              </a:extLst>
            </p:cNvPr>
            <p:cNvSpPr/>
            <p:nvPr/>
          </p:nvSpPr>
          <p:spPr>
            <a:xfrm>
              <a:off x="6632174" y="6010544"/>
              <a:ext cx="271408" cy="12708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913D8B43-877B-343C-A2E8-CB0E826669E6}"/>
                </a:ext>
              </a:extLst>
            </p:cNvPr>
            <p:cNvSpPr txBox="1"/>
            <p:nvPr/>
          </p:nvSpPr>
          <p:spPr>
            <a:xfrm>
              <a:off x="6548079" y="5998522"/>
              <a:ext cx="431529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ELEME M/S</a:t>
              </a: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DE4C15AF-C6E8-6D0D-3B4E-AA97EC80E749}"/>
                </a:ext>
              </a:extLst>
            </p:cNvPr>
            <p:cNvSpPr/>
            <p:nvPr/>
          </p:nvSpPr>
          <p:spPr>
            <a:xfrm>
              <a:off x="6153150" y="6197515"/>
              <a:ext cx="271408" cy="12708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B41777F0-E2F2-157C-1D82-86F26B7E25B2}"/>
                </a:ext>
              </a:extLst>
            </p:cNvPr>
            <p:cNvSpPr txBox="1"/>
            <p:nvPr/>
          </p:nvSpPr>
          <p:spPr>
            <a:xfrm>
              <a:off x="6081104" y="6173891"/>
              <a:ext cx="415499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ONNE M/S</a:t>
              </a:r>
            </a:p>
          </p:txBody>
        </p: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3CD5BDB2-AB43-BD97-4D7F-3426DE3ACEFC}"/>
                </a:ext>
              </a:extLst>
            </p:cNvPr>
            <p:cNvCxnSpPr/>
            <p:nvPr/>
          </p:nvCxnSpPr>
          <p:spPr>
            <a:xfrm flipH="1">
              <a:off x="6435746" y="6263139"/>
              <a:ext cx="150728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DDBBC816-3491-0CA5-6481-03647ED59824}"/>
                </a:ext>
              </a:extLst>
            </p:cNvPr>
            <p:cNvCxnSpPr/>
            <p:nvPr/>
          </p:nvCxnSpPr>
          <p:spPr>
            <a:xfrm flipV="1">
              <a:off x="6286533" y="5844451"/>
              <a:ext cx="0" cy="342501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73D03817-4F89-EE55-FB78-9E83F01D5D7F}"/>
                </a:ext>
              </a:extLst>
            </p:cNvPr>
            <p:cNvSpPr/>
            <p:nvPr/>
          </p:nvSpPr>
          <p:spPr>
            <a:xfrm>
              <a:off x="7873829" y="3925118"/>
              <a:ext cx="119482" cy="73101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12A7C43E-897C-8FB0-0079-9A03BC573E58}"/>
                </a:ext>
              </a:extLst>
            </p:cNvPr>
            <p:cNvCxnSpPr/>
            <p:nvPr/>
          </p:nvCxnSpPr>
          <p:spPr>
            <a:xfrm flipH="1">
              <a:off x="7936530" y="3786436"/>
              <a:ext cx="1" cy="14499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6ABCF74A-47DD-52B0-C8F2-A14BAD46E973}"/>
                </a:ext>
              </a:extLst>
            </p:cNvPr>
            <p:cNvSpPr txBox="1"/>
            <p:nvPr/>
          </p:nvSpPr>
          <p:spPr>
            <a:xfrm>
              <a:off x="7816313" y="3875135"/>
              <a:ext cx="24718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PS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9948193E-BBD7-501E-FE2E-6B1816ABF560}"/>
                </a:ext>
              </a:extLst>
            </p:cNvPr>
            <p:cNvSpPr/>
            <p:nvPr/>
          </p:nvSpPr>
          <p:spPr>
            <a:xfrm>
              <a:off x="7794130" y="3669622"/>
              <a:ext cx="271408" cy="12708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1962B9E7-FEA3-E0FA-0058-88A58AEA9B88}"/>
                </a:ext>
              </a:extLst>
            </p:cNvPr>
            <p:cNvSpPr txBox="1"/>
            <p:nvPr/>
          </p:nvSpPr>
          <p:spPr>
            <a:xfrm>
              <a:off x="7753915" y="3625069"/>
              <a:ext cx="3353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ALAOJI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M/S</a:t>
              </a:r>
            </a:p>
          </p:txBody>
        </p:sp>
        <p:sp>
          <p:nvSpPr>
            <p:cNvPr id="425" name="Rounded Rectangle 154">
              <a:extLst>
                <a:ext uri="{FF2B5EF4-FFF2-40B4-BE49-F238E27FC236}">
                  <a16:creationId xmlns:a16="http://schemas.microsoft.com/office/drawing/2014/main" id="{9AD2F2F1-1470-5ED7-2B8C-E3A2A520278C}"/>
                </a:ext>
              </a:extLst>
            </p:cNvPr>
            <p:cNvSpPr/>
            <p:nvPr/>
          </p:nvSpPr>
          <p:spPr>
            <a:xfrm>
              <a:off x="7340874" y="3726504"/>
              <a:ext cx="313086" cy="185682"/>
            </a:xfrm>
            <a:prstGeom prst="roundRect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D5BBC597-0C45-BB28-D950-98594AB528BE}"/>
                </a:ext>
              </a:extLst>
            </p:cNvPr>
            <p:cNvSpPr txBox="1"/>
            <p:nvPr/>
          </p:nvSpPr>
          <p:spPr>
            <a:xfrm>
              <a:off x="7268697" y="3697551"/>
              <a:ext cx="4502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ABA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INDUSTRIES</a:t>
              </a:r>
            </a:p>
          </p:txBody>
        </p: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20EC443E-493C-5F36-2B88-4044F6EF965F}"/>
                </a:ext>
              </a:extLst>
            </p:cNvPr>
            <p:cNvCxnSpPr/>
            <p:nvPr/>
          </p:nvCxnSpPr>
          <p:spPr>
            <a:xfrm flipH="1">
              <a:off x="7535115" y="3914332"/>
              <a:ext cx="0" cy="15551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390C1A97-729C-AF94-80C9-CFFB8E12F127}"/>
                </a:ext>
              </a:extLst>
            </p:cNvPr>
            <p:cNvSpPr txBox="1"/>
            <p:nvPr/>
          </p:nvSpPr>
          <p:spPr>
            <a:xfrm rot="5400000">
              <a:off x="8350894" y="5027383"/>
              <a:ext cx="46839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 X 128 Km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6556DF12-B051-7E5B-0A6C-022445C83ECC}"/>
                </a:ext>
              </a:extLst>
            </p:cNvPr>
            <p:cNvSpPr txBox="1"/>
            <p:nvPr/>
          </p:nvSpPr>
          <p:spPr>
            <a:xfrm rot="19415144">
              <a:off x="7926447" y="5106771"/>
              <a:ext cx="48282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37.4 Km</a:t>
              </a:r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21AD1725-B976-AE42-CBE2-3DB7007C7764}"/>
                </a:ext>
              </a:extLst>
            </p:cNvPr>
            <p:cNvSpPr txBox="1"/>
            <p:nvPr/>
          </p:nvSpPr>
          <p:spPr>
            <a:xfrm>
              <a:off x="7502696" y="4582132"/>
              <a:ext cx="48282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 X 44.4 Km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E5EB1AF9-20F9-E81D-C7AD-8C3798D3424F}"/>
                </a:ext>
              </a:extLst>
            </p:cNvPr>
            <p:cNvSpPr/>
            <p:nvPr/>
          </p:nvSpPr>
          <p:spPr>
            <a:xfrm>
              <a:off x="7195662" y="6082787"/>
              <a:ext cx="304327" cy="147920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B2B56779-E949-2FB4-F492-ED327149B696}"/>
                </a:ext>
              </a:extLst>
            </p:cNvPr>
            <p:cNvSpPr txBox="1"/>
            <p:nvPr/>
          </p:nvSpPr>
          <p:spPr>
            <a:xfrm>
              <a:off x="7109033" y="6045613"/>
              <a:ext cx="4779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Utapate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CPF</a:t>
              </a:r>
            </a:p>
          </p:txBody>
        </p:sp>
        <p:cxnSp>
          <p:nvCxnSpPr>
            <p:cNvPr id="433" name="Straight Arrow Connector 432">
              <a:extLst>
                <a:ext uri="{FF2B5EF4-FFF2-40B4-BE49-F238E27FC236}">
                  <a16:creationId xmlns:a16="http://schemas.microsoft.com/office/drawing/2014/main" id="{F31FA2C5-8B56-C2E8-D97F-FC68AEB6E882}"/>
                </a:ext>
              </a:extLst>
            </p:cNvPr>
            <p:cNvCxnSpPr/>
            <p:nvPr/>
          </p:nvCxnSpPr>
          <p:spPr>
            <a:xfrm flipV="1">
              <a:off x="3515201" y="4165107"/>
              <a:ext cx="0" cy="24969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C229F592-D0C7-B2C6-9E5D-7A7933821749}"/>
                </a:ext>
              </a:extLst>
            </p:cNvPr>
            <p:cNvSpPr/>
            <p:nvPr/>
          </p:nvSpPr>
          <p:spPr>
            <a:xfrm>
              <a:off x="4040875" y="4834486"/>
              <a:ext cx="174991" cy="11545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id="{06CE1228-26F0-098B-656B-873147012C4E}"/>
                </a:ext>
              </a:extLst>
            </p:cNvPr>
            <p:cNvSpPr txBox="1"/>
            <p:nvPr/>
          </p:nvSpPr>
          <p:spPr>
            <a:xfrm>
              <a:off x="3980895" y="4797901"/>
              <a:ext cx="2872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Aladja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6C80955-8EFE-D938-9FBB-01B52D7C6BF7}"/>
                </a:ext>
              </a:extLst>
            </p:cNvPr>
            <p:cNvCxnSpPr/>
            <p:nvPr/>
          </p:nvCxnSpPr>
          <p:spPr>
            <a:xfrm>
              <a:off x="3226928" y="3950174"/>
              <a:ext cx="147896" cy="109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37" name="Trapezoid 436">
              <a:extLst>
                <a:ext uri="{FF2B5EF4-FFF2-40B4-BE49-F238E27FC236}">
                  <a16:creationId xmlns:a16="http://schemas.microsoft.com/office/drawing/2014/main" id="{FA4D9D78-A2C1-41E5-CEE4-E6CE0330E5B4}"/>
                </a:ext>
              </a:extLst>
            </p:cNvPr>
            <p:cNvSpPr/>
            <p:nvPr/>
          </p:nvSpPr>
          <p:spPr>
            <a:xfrm rot="5400000">
              <a:off x="3779736" y="4841941"/>
              <a:ext cx="106030" cy="130110"/>
            </a:xfrm>
            <a:prstGeom prst="trapezoid">
              <a:avLst/>
            </a:prstGeom>
            <a:solidFill>
              <a:srgbClr val="FFFF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FD6DAE64-3907-BAB4-38F6-DF3D79CFEA7D}"/>
                </a:ext>
              </a:extLst>
            </p:cNvPr>
            <p:cNvSpPr txBox="1"/>
            <p:nvPr/>
          </p:nvSpPr>
          <p:spPr>
            <a:xfrm>
              <a:off x="3369406" y="4436518"/>
              <a:ext cx="4192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Utorogu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 </a:t>
              </a:r>
            </a:p>
          </p:txBody>
        </p:sp>
        <p:cxnSp>
          <p:nvCxnSpPr>
            <p:cNvPr id="439" name="Straight Arrow Connector 438">
              <a:extLst>
                <a:ext uri="{FF2B5EF4-FFF2-40B4-BE49-F238E27FC236}">
                  <a16:creationId xmlns:a16="http://schemas.microsoft.com/office/drawing/2014/main" id="{FCDD2A70-1CA2-9976-AC80-3364217EC01C}"/>
                </a:ext>
              </a:extLst>
            </p:cNvPr>
            <p:cNvCxnSpPr/>
            <p:nvPr/>
          </p:nvCxnSpPr>
          <p:spPr>
            <a:xfrm flipV="1">
              <a:off x="3411370" y="4849592"/>
              <a:ext cx="0" cy="14049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none"/>
            </a:ln>
            <a:effectLst/>
          </p:spPr>
        </p:cxn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409F9E16-2810-F691-6874-86A4FDDEDED3}"/>
                </a:ext>
              </a:extLst>
            </p:cNvPr>
            <p:cNvSpPr/>
            <p:nvPr/>
          </p:nvSpPr>
          <p:spPr>
            <a:xfrm>
              <a:off x="3022901" y="5238026"/>
              <a:ext cx="340150" cy="14845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Jones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Creek</a:t>
              </a:r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89AD20D5-2605-862F-F86B-213DE944E6A1}"/>
                </a:ext>
              </a:extLst>
            </p:cNvPr>
            <p:cNvCxnSpPr/>
            <p:nvPr/>
          </p:nvCxnSpPr>
          <p:spPr>
            <a:xfrm flipV="1">
              <a:off x="3136471" y="4932732"/>
              <a:ext cx="0" cy="295826"/>
            </a:xfrm>
            <a:prstGeom prst="straightConnector1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442" name="Straight Arrow Connector 441">
              <a:extLst>
                <a:ext uri="{FF2B5EF4-FFF2-40B4-BE49-F238E27FC236}">
                  <a16:creationId xmlns:a16="http://schemas.microsoft.com/office/drawing/2014/main" id="{EE9F34C1-5207-B37A-11A9-5A715D30F7F4}"/>
                </a:ext>
              </a:extLst>
            </p:cNvPr>
            <p:cNvCxnSpPr/>
            <p:nvPr/>
          </p:nvCxnSpPr>
          <p:spPr>
            <a:xfrm flipV="1">
              <a:off x="3296874" y="5393432"/>
              <a:ext cx="0" cy="210822"/>
            </a:xfrm>
            <a:prstGeom prst="straightConnector1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0285C1A7-D2C6-AB16-DA76-37FDBBEDCEE6}"/>
                </a:ext>
              </a:extLst>
            </p:cNvPr>
            <p:cNvSpPr/>
            <p:nvPr/>
          </p:nvSpPr>
          <p:spPr>
            <a:xfrm>
              <a:off x="3487934" y="5389744"/>
              <a:ext cx="259014" cy="1325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EBD127A0-D76F-DC9D-91A5-2983F715C8BA}"/>
                </a:ext>
              </a:extLst>
            </p:cNvPr>
            <p:cNvSpPr txBox="1"/>
            <p:nvPr/>
          </p:nvSpPr>
          <p:spPr>
            <a:xfrm>
              <a:off x="3429862" y="5342829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Makaraba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PF</a:t>
              </a:r>
            </a:p>
          </p:txBody>
        </p: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D2D1442E-FA5F-27D9-7EE7-2D2DF8AF0178}"/>
                </a:ext>
              </a:extLst>
            </p:cNvPr>
            <p:cNvCxnSpPr/>
            <p:nvPr/>
          </p:nvCxnSpPr>
          <p:spPr>
            <a:xfrm flipV="1">
              <a:off x="3225456" y="4939104"/>
              <a:ext cx="0" cy="25891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3EA3857A-DAB9-EBBB-22D4-4885BA849523}"/>
                </a:ext>
              </a:extLst>
            </p:cNvPr>
            <p:cNvCxnSpPr/>
            <p:nvPr/>
          </p:nvCxnSpPr>
          <p:spPr>
            <a:xfrm flipV="1">
              <a:off x="3579361" y="5197859"/>
              <a:ext cx="0" cy="19195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none"/>
            </a:ln>
            <a:effectLst/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5246486A-4A1F-9B2F-3808-0232DBA69894}"/>
                </a:ext>
              </a:extLst>
            </p:cNvPr>
            <p:cNvCxnSpPr/>
            <p:nvPr/>
          </p:nvCxnSpPr>
          <p:spPr>
            <a:xfrm flipH="1">
              <a:off x="3222636" y="5197859"/>
              <a:ext cx="356725" cy="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none"/>
            </a:ln>
            <a:effectLst/>
          </p:spPr>
        </p:cxn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1A16F98E-ECC2-48F3-D6DA-91D44B9D7128}"/>
                </a:ext>
              </a:extLst>
            </p:cNvPr>
            <p:cNvSpPr/>
            <p:nvPr/>
          </p:nvSpPr>
          <p:spPr>
            <a:xfrm>
              <a:off x="3747459" y="4600542"/>
              <a:ext cx="157431" cy="117293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6585397F-63FF-5D9D-3991-D7ACBBF181EF}"/>
                </a:ext>
              </a:extLst>
            </p:cNvPr>
            <p:cNvSpPr txBox="1"/>
            <p:nvPr/>
          </p:nvSpPr>
          <p:spPr>
            <a:xfrm>
              <a:off x="3660416" y="4568951"/>
              <a:ext cx="33151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Delta IV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8E9132BB-B43C-3DF1-52C9-5F48C4A6A04B}"/>
                </a:ext>
              </a:extLst>
            </p:cNvPr>
            <p:cNvSpPr txBox="1"/>
            <p:nvPr/>
          </p:nvSpPr>
          <p:spPr>
            <a:xfrm>
              <a:off x="3556941" y="4058728"/>
              <a:ext cx="333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Ughelli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East</a:t>
              </a:r>
            </a:p>
          </p:txBody>
        </p: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7F9F5B03-5098-DB4A-221D-B1E2B7985B86}"/>
                </a:ext>
              </a:extLst>
            </p:cNvPr>
            <p:cNvCxnSpPr/>
            <p:nvPr/>
          </p:nvCxnSpPr>
          <p:spPr>
            <a:xfrm>
              <a:off x="3787503" y="4464833"/>
              <a:ext cx="311733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AE512A2C-F1F3-917F-DD0A-EBD085473A9D}"/>
                </a:ext>
              </a:extLst>
            </p:cNvPr>
            <p:cNvCxnSpPr>
              <a:cxnSpLocks/>
            </p:cNvCxnSpPr>
            <p:nvPr/>
          </p:nvCxnSpPr>
          <p:spPr>
            <a:xfrm>
              <a:off x="4099236" y="4464833"/>
              <a:ext cx="0" cy="34944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87D5E2B5-5B68-A894-ED58-367EE12B5632}"/>
                </a:ext>
              </a:extLst>
            </p:cNvPr>
            <p:cNvSpPr txBox="1"/>
            <p:nvPr/>
          </p:nvSpPr>
          <p:spPr>
            <a:xfrm>
              <a:off x="3669500" y="4918829"/>
              <a:ext cx="359393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Utorogu</a:t>
              </a:r>
            </a:p>
          </p:txBody>
        </p:sp>
        <p:cxnSp>
          <p:nvCxnSpPr>
            <p:cNvPr id="454" name="Straight Arrow Connector 453">
              <a:extLst>
                <a:ext uri="{FF2B5EF4-FFF2-40B4-BE49-F238E27FC236}">
                  <a16:creationId xmlns:a16="http://schemas.microsoft.com/office/drawing/2014/main" id="{2C65D75F-AFA4-EE57-9501-86BC3AAA07FB}"/>
                </a:ext>
              </a:extLst>
            </p:cNvPr>
            <p:cNvCxnSpPr/>
            <p:nvPr/>
          </p:nvCxnSpPr>
          <p:spPr>
            <a:xfrm flipH="1">
              <a:off x="3897806" y="4908627"/>
              <a:ext cx="134173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455" name="Trapezoid 454">
              <a:extLst>
                <a:ext uri="{FF2B5EF4-FFF2-40B4-BE49-F238E27FC236}">
                  <a16:creationId xmlns:a16="http://schemas.microsoft.com/office/drawing/2014/main" id="{D8916312-6C12-E697-AFF3-6092EAB5A235}"/>
                </a:ext>
              </a:extLst>
            </p:cNvPr>
            <p:cNvSpPr/>
            <p:nvPr/>
          </p:nvSpPr>
          <p:spPr>
            <a:xfrm rot="16200000">
              <a:off x="3193905" y="5601261"/>
              <a:ext cx="106030" cy="130110"/>
            </a:xfrm>
            <a:prstGeom prst="trapezoid">
              <a:avLst/>
            </a:prstGeom>
            <a:solidFill>
              <a:srgbClr val="FFFF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D621BC52-75AC-6AD2-D5E9-C5DBA88C9980}"/>
                </a:ext>
              </a:extLst>
            </p:cNvPr>
            <p:cNvSpPr txBox="1"/>
            <p:nvPr/>
          </p:nvSpPr>
          <p:spPr>
            <a:xfrm>
              <a:off x="3071597" y="5675011"/>
              <a:ext cx="401071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Makaraba</a:t>
              </a: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2B19DC06-32C0-7AF5-6125-D436388C97A2}"/>
                </a:ext>
              </a:extLst>
            </p:cNvPr>
            <p:cNvSpPr txBox="1"/>
            <p:nvPr/>
          </p:nvSpPr>
          <p:spPr>
            <a:xfrm>
              <a:off x="3700989" y="4828234"/>
              <a:ext cx="23596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D809BC9B-F8C1-8E6C-E943-A7E8E97CEE6D}"/>
                </a:ext>
              </a:extLst>
            </p:cNvPr>
            <p:cNvSpPr txBox="1"/>
            <p:nvPr/>
          </p:nvSpPr>
          <p:spPr>
            <a:xfrm>
              <a:off x="3135755" y="5592264"/>
              <a:ext cx="23596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98AC7EB9-B9D1-776B-D1E9-445F8395D3DA}"/>
                </a:ext>
              </a:extLst>
            </p:cNvPr>
            <p:cNvSpPr/>
            <p:nvPr/>
          </p:nvSpPr>
          <p:spPr>
            <a:xfrm>
              <a:off x="3386452" y="3888822"/>
              <a:ext cx="174991" cy="149778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323F2CCC-142C-443B-CD17-FC95D1834410}"/>
                </a:ext>
              </a:extLst>
            </p:cNvPr>
            <p:cNvSpPr txBox="1"/>
            <p:nvPr/>
          </p:nvSpPr>
          <p:spPr>
            <a:xfrm>
              <a:off x="3285734" y="3883374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H/Complex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cxnSp>
          <p:nvCxnSpPr>
            <p:cNvPr id="461" name="Straight Arrow Connector 460">
              <a:extLst>
                <a:ext uri="{FF2B5EF4-FFF2-40B4-BE49-F238E27FC236}">
                  <a16:creationId xmlns:a16="http://schemas.microsoft.com/office/drawing/2014/main" id="{CCC29D27-BA97-58A7-44C3-C96DBE9B997F}"/>
                </a:ext>
              </a:extLst>
            </p:cNvPr>
            <p:cNvCxnSpPr>
              <a:endCxn id="464" idx="3"/>
            </p:cNvCxnSpPr>
            <p:nvPr/>
          </p:nvCxnSpPr>
          <p:spPr>
            <a:xfrm flipV="1">
              <a:off x="3446180" y="3708708"/>
              <a:ext cx="0" cy="16852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09A329EA-8E81-5C4A-CC8E-31C1355DC7E8}"/>
                </a:ext>
              </a:extLst>
            </p:cNvPr>
            <p:cNvCxnSpPr/>
            <p:nvPr/>
          </p:nvCxnSpPr>
          <p:spPr>
            <a:xfrm flipH="1" flipV="1">
              <a:off x="3450432" y="3838785"/>
              <a:ext cx="198384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60D4FC1F-BCE0-C2EE-7679-06EEADE02640}"/>
                </a:ext>
              </a:extLst>
            </p:cNvPr>
            <p:cNvCxnSpPr/>
            <p:nvPr/>
          </p:nvCxnSpPr>
          <p:spPr>
            <a:xfrm flipH="1">
              <a:off x="3534479" y="3609845"/>
              <a:ext cx="0" cy="22876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464" name="Isosceles Triangle 463">
              <a:extLst>
                <a:ext uri="{FF2B5EF4-FFF2-40B4-BE49-F238E27FC236}">
                  <a16:creationId xmlns:a16="http://schemas.microsoft.com/office/drawing/2014/main" id="{CC0764E0-4B02-8E9D-2D00-EABC64DECC19}"/>
                </a:ext>
              </a:extLst>
            </p:cNvPr>
            <p:cNvSpPr/>
            <p:nvPr/>
          </p:nvSpPr>
          <p:spPr>
            <a:xfrm>
              <a:off x="3400755" y="3630647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65" name="Isosceles Triangle 464">
              <a:extLst>
                <a:ext uri="{FF2B5EF4-FFF2-40B4-BE49-F238E27FC236}">
                  <a16:creationId xmlns:a16="http://schemas.microsoft.com/office/drawing/2014/main" id="{B9D5FCDA-CC67-CC7C-3E90-0ABC4AF00C8D}"/>
                </a:ext>
              </a:extLst>
            </p:cNvPr>
            <p:cNvSpPr/>
            <p:nvPr/>
          </p:nvSpPr>
          <p:spPr>
            <a:xfrm>
              <a:off x="3487934" y="3526145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66" name="Isosceles Triangle 465">
              <a:extLst>
                <a:ext uri="{FF2B5EF4-FFF2-40B4-BE49-F238E27FC236}">
                  <a16:creationId xmlns:a16="http://schemas.microsoft.com/office/drawing/2014/main" id="{D2FA86DE-4D22-4514-B4C8-F7BB33F669C5}"/>
                </a:ext>
              </a:extLst>
            </p:cNvPr>
            <p:cNvSpPr/>
            <p:nvPr/>
          </p:nvSpPr>
          <p:spPr>
            <a:xfrm>
              <a:off x="3628495" y="3805973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D0E3FC50-7272-F42E-4403-C172B70C1AE8}"/>
                </a:ext>
              </a:extLst>
            </p:cNvPr>
            <p:cNvSpPr txBox="1"/>
            <p:nvPr/>
          </p:nvSpPr>
          <p:spPr>
            <a:xfrm>
              <a:off x="3213418" y="3607329"/>
              <a:ext cx="3016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SPDC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Edjeba 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C37A16E5-E00D-87CB-C04F-9601C0E18A56}"/>
                </a:ext>
              </a:extLst>
            </p:cNvPr>
            <p:cNvSpPr txBox="1"/>
            <p:nvPr/>
          </p:nvSpPr>
          <p:spPr>
            <a:xfrm>
              <a:off x="3476436" y="3480512"/>
              <a:ext cx="2856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May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Baker </a:t>
              </a:r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8FF7C373-85D9-EE5B-A684-901C8E12E21B}"/>
                </a:ext>
              </a:extLst>
            </p:cNvPr>
            <p:cNvSpPr txBox="1"/>
            <p:nvPr/>
          </p:nvSpPr>
          <p:spPr>
            <a:xfrm>
              <a:off x="3614451" y="3710571"/>
              <a:ext cx="29848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SPDC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Ogunu </a:t>
              </a:r>
            </a:p>
          </p:txBody>
        </p:sp>
        <p:sp>
          <p:nvSpPr>
            <p:cNvPr id="470" name="Isosceles Triangle 469">
              <a:extLst>
                <a:ext uri="{FF2B5EF4-FFF2-40B4-BE49-F238E27FC236}">
                  <a16:creationId xmlns:a16="http://schemas.microsoft.com/office/drawing/2014/main" id="{85C184F1-1ED0-C103-2876-6CBD63747BAC}"/>
                </a:ext>
              </a:extLst>
            </p:cNvPr>
            <p:cNvSpPr/>
            <p:nvPr/>
          </p:nvSpPr>
          <p:spPr>
            <a:xfrm>
              <a:off x="2537576" y="4018216"/>
              <a:ext cx="139237" cy="12988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471" name="Straight Arrow Connector 470">
              <a:extLst>
                <a:ext uri="{FF2B5EF4-FFF2-40B4-BE49-F238E27FC236}">
                  <a16:creationId xmlns:a16="http://schemas.microsoft.com/office/drawing/2014/main" id="{91418549-7999-E735-DDD9-4F286FBC3B54}"/>
                </a:ext>
              </a:extLst>
            </p:cNvPr>
            <p:cNvCxnSpPr/>
            <p:nvPr/>
          </p:nvCxnSpPr>
          <p:spPr>
            <a:xfrm flipH="1" flipV="1">
              <a:off x="2689464" y="4152242"/>
              <a:ext cx="279017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4B17F928-8724-E974-91AE-E1A12F0756EE}"/>
                </a:ext>
              </a:extLst>
            </p:cNvPr>
            <p:cNvSpPr txBox="1"/>
            <p:nvPr/>
          </p:nvSpPr>
          <p:spPr>
            <a:xfrm>
              <a:off x="2432503" y="4112046"/>
              <a:ext cx="31451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WRPC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54EE3B38-0D8D-E960-B2FC-2D4533F7EA08}"/>
                </a:ext>
              </a:extLst>
            </p:cNvPr>
            <p:cNvSpPr txBox="1"/>
            <p:nvPr/>
          </p:nvSpPr>
          <p:spPr>
            <a:xfrm>
              <a:off x="2885236" y="2051283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Seplat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Oben GP</a:t>
              </a: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3262415D-14A2-480C-E1FD-7A38144EC5D4}"/>
                </a:ext>
              </a:extLst>
            </p:cNvPr>
            <p:cNvSpPr/>
            <p:nvPr/>
          </p:nvSpPr>
          <p:spPr>
            <a:xfrm>
              <a:off x="2291253" y="2561886"/>
              <a:ext cx="157431" cy="205495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7273F081-F745-6282-DD8B-43E4172995E7}"/>
                </a:ext>
              </a:extLst>
            </p:cNvPr>
            <p:cNvSpPr txBox="1"/>
            <p:nvPr/>
          </p:nvSpPr>
          <p:spPr>
            <a:xfrm>
              <a:off x="2200300" y="2555232"/>
              <a:ext cx="33151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Sapele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159070E9-AD1C-78C5-FFA9-8BB23DA1A425}"/>
                </a:ext>
              </a:extLst>
            </p:cNvPr>
            <p:cNvSpPr/>
            <p:nvPr/>
          </p:nvSpPr>
          <p:spPr>
            <a:xfrm>
              <a:off x="2263983" y="2161006"/>
              <a:ext cx="319013" cy="21219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51BF0056-5098-016F-9DD7-3006A8DB1A43}"/>
                </a:ext>
              </a:extLst>
            </p:cNvPr>
            <p:cNvCxnSpPr/>
            <p:nvPr/>
          </p:nvCxnSpPr>
          <p:spPr>
            <a:xfrm>
              <a:off x="2371057" y="2377432"/>
              <a:ext cx="27" cy="17712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42AEAC6F-42FD-EF6D-C3A0-87F2EF642D37}"/>
                </a:ext>
              </a:extLst>
            </p:cNvPr>
            <p:cNvSpPr txBox="1"/>
            <p:nvPr/>
          </p:nvSpPr>
          <p:spPr>
            <a:xfrm>
              <a:off x="2240003" y="2126320"/>
              <a:ext cx="3561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Seplat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Sapele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LTX- GP</a:t>
              </a:r>
            </a:p>
          </p:txBody>
        </p: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6D283CDA-93C4-799E-1ABE-E51BB9AD4155}"/>
                </a:ext>
              </a:extLst>
            </p:cNvPr>
            <p:cNvCxnSpPr/>
            <p:nvPr/>
          </p:nvCxnSpPr>
          <p:spPr>
            <a:xfrm flipH="1" flipV="1">
              <a:off x="2164967" y="2412791"/>
              <a:ext cx="115115" cy="19565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B6C9BAD9-93E5-5D44-0BD6-66F8416B2483}"/>
                </a:ext>
              </a:extLst>
            </p:cNvPr>
            <p:cNvCxnSpPr>
              <a:endCxn id="484" idx="4"/>
            </p:cNvCxnSpPr>
            <p:nvPr/>
          </p:nvCxnSpPr>
          <p:spPr>
            <a:xfrm flipH="1" flipV="1">
              <a:off x="2059932" y="2554554"/>
              <a:ext cx="229229" cy="9748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205E2232-5C88-0157-58B8-D61041DDBE39}"/>
                </a:ext>
              </a:extLst>
            </p:cNvPr>
            <p:cNvSpPr txBox="1"/>
            <p:nvPr/>
          </p:nvSpPr>
          <p:spPr>
            <a:xfrm>
              <a:off x="1837465" y="2236007"/>
              <a:ext cx="39466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Ringardas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AF0CC8DC-358E-A5FA-AEA1-483E01DC1124}"/>
                </a:ext>
              </a:extLst>
            </p:cNvPr>
            <p:cNvSpPr txBox="1"/>
            <p:nvPr/>
          </p:nvSpPr>
          <p:spPr>
            <a:xfrm>
              <a:off x="1757182" y="2380072"/>
              <a:ext cx="2936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Life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Fluor</a:t>
              </a:r>
            </a:p>
          </p:txBody>
        </p:sp>
        <p:sp>
          <p:nvSpPr>
            <p:cNvPr id="483" name="Isosceles Triangle 482">
              <a:extLst>
                <a:ext uri="{FF2B5EF4-FFF2-40B4-BE49-F238E27FC236}">
                  <a16:creationId xmlns:a16="http://schemas.microsoft.com/office/drawing/2014/main" id="{C3C394C4-8F64-7510-9E13-19035F50FABE}"/>
                </a:ext>
              </a:extLst>
            </p:cNvPr>
            <p:cNvSpPr/>
            <p:nvPr/>
          </p:nvSpPr>
          <p:spPr>
            <a:xfrm>
              <a:off x="2099707" y="2334109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84" name="Isosceles Triangle 483">
              <a:extLst>
                <a:ext uri="{FF2B5EF4-FFF2-40B4-BE49-F238E27FC236}">
                  <a16:creationId xmlns:a16="http://schemas.microsoft.com/office/drawing/2014/main" id="{B9D53340-3607-3102-EC00-F061649B6E1E}"/>
                </a:ext>
              </a:extLst>
            </p:cNvPr>
            <p:cNvSpPr/>
            <p:nvPr/>
          </p:nvSpPr>
          <p:spPr>
            <a:xfrm>
              <a:off x="1968016" y="2476493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85" name="Isosceles Triangle 484">
              <a:extLst>
                <a:ext uri="{FF2B5EF4-FFF2-40B4-BE49-F238E27FC236}">
                  <a16:creationId xmlns:a16="http://schemas.microsoft.com/office/drawing/2014/main" id="{EBB6CDCE-377A-9C7D-408B-93C562D045B7}"/>
                </a:ext>
              </a:extLst>
            </p:cNvPr>
            <p:cNvSpPr/>
            <p:nvPr/>
          </p:nvSpPr>
          <p:spPr>
            <a:xfrm>
              <a:off x="1902008" y="2681023"/>
              <a:ext cx="128476" cy="91354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486" name="Straight Arrow Connector 485">
              <a:extLst>
                <a:ext uri="{FF2B5EF4-FFF2-40B4-BE49-F238E27FC236}">
                  <a16:creationId xmlns:a16="http://schemas.microsoft.com/office/drawing/2014/main" id="{FFC0B80D-D83B-F3C1-AFFC-E05406FEF20C}"/>
                </a:ext>
              </a:extLst>
            </p:cNvPr>
            <p:cNvCxnSpPr/>
            <p:nvPr/>
          </p:nvCxnSpPr>
          <p:spPr>
            <a:xfrm flipH="1" flipV="1">
              <a:off x="2042746" y="3280532"/>
              <a:ext cx="51485" cy="16691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87" name="Isosceles Triangle 486">
              <a:extLst>
                <a:ext uri="{FF2B5EF4-FFF2-40B4-BE49-F238E27FC236}">
                  <a16:creationId xmlns:a16="http://schemas.microsoft.com/office/drawing/2014/main" id="{B4F51AB0-D4B8-23CF-4E5E-9AB3024E5551}"/>
                </a:ext>
              </a:extLst>
            </p:cNvPr>
            <p:cNvSpPr/>
            <p:nvPr/>
          </p:nvSpPr>
          <p:spPr>
            <a:xfrm>
              <a:off x="1955560" y="3163834"/>
              <a:ext cx="103615" cy="94697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24A8D88B-16E2-E294-2BC7-FD648B21828C}"/>
                </a:ext>
              </a:extLst>
            </p:cNvPr>
            <p:cNvSpPr txBox="1"/>
            <p:nvPr/>
          </p:nvSpPr>
          <p:spPr>
            <a:xfrm>
              <a:off x="1784782" y="3065214"/>
              <a:ext cx="3064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Azura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PP</a:t>
              </a:r>
            </a:p>
          </p:txBody>
        </p:sp>
        <p:sp>
          <p:nvSpPr>
            <p:cNvPr id="489" name="Isosceles Triangle 488">
              <a:extLst>
                <a:ext uri="{FF2B5EF4-FFF2-40B4-BE49-F238E27FC236}">
                  <a16:creationId xmlns:a16="http://schemas.microsoft.com/office/drawing/2014/main" id="{D3E68462-C452-4446-8A42-A6CDF8C7B9F9}"/>
                </a:ext>
              </a:extLst>
            </p:cNvPr>
            <p:cNvSpPr/>
            <p:nvPr/>
          </p:nvSpPr>
          <p:spPr>
            <a:xfrm>
              <a:off x="1731568" y="3005724"/>
              <a:ext cx="103615" cy="94697"/>
            </a:xfrm>
            <a:prstGeom prst="triangle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3474C8B-2BC8-62D9-18B7-B1C2BA4FE39A}"/>
                </a:ext>
              </a:extLst>
            </p:cNvPr>
            <p:cNvSpPr txBox="1"/>
            <p:nvPr/>
          </p:nvSpPr>
          <p:spPr>
            <a:xfrm>
              <a:off x="7368367" y="4289987"/>
              <a:ext cx="38824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24”/7 Km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A141F6A5-B540-BA6F-06B4-7E8BA5E9529C}"/>
                </a:ext>
              </a:extLst>
            </p:cNvPr>
            <p:cNvSpPr txBox="1"/>
            <p:nvPr/>
          </p:nvSpPr>
          <p:spPr>
            <a:xfrm>
              <a:off x="7306557" y="4101781"/>
              <a:ext cx="30328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KP 38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8D04DBD5-59D7-20EE-4343-F185C806A31E}"/>
                </a:ext>
              </a:extLst>
            </p:cNvPr>
            <p:cNvSpPr txBox="1"/>
            <p:nvPr/>
          </p:nvSpPr>
          <p:spPr>
            <a:xfrm>
              <a:off x="7673967" y="5517534"/>
              <a:ext cx="39626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Alscon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F321A627-9468-2E9F-8526-767B5B2339F5}"/>
                </a:ext>
              </a:extLst>
            </p:cNvPr>
            <p:cNvSpPr txBox="1"/>
            <p:nvPr/>
          </p:nvSpPr>
          <p:spPr>
            <a:xfrm>
              <a:off x="5429838" y="5608877"/>
              <a:ext cx="531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Cawthorne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Channel GP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A5179012-787D-C19B-C0DC-6FDDA4FAB233}"/>
                </a:ext>
              </a:extLst>
            </p:cNvPr>
            <p:cNvSpPr txBox="1"/>
            <p:nvPr/>
          </p:nvSpPr>
          <p:spPr>
            <a:xfrm>
              <a:off x="6206634" y="5614254"/>
              <a:ext cx="3770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Alakiri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21B46344-7843-9372-9DCF-6233116D75E0}"/>
                </a:ext>
              </a:extLst>
            </p:cNvPr>
            <p:cNvCxnSpPr/>
            <p:nvPr/>
          </p:nvCxnSpPr>
          <p:spPr>
            <a:xfrm>
              <a:off x="5081307" y="5751955"/>
              <a:ext cx="11666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496" name="Straight Arrow Connector 495">
              <a:extLst>
                <a:ext uri="{FF2B5EF4-FFF2-40B4-BE49-F238E27FC236}">
                  <a16:creationId xmlns:a16="http://schemas.microsoft.com/office/drawing/2014/main" id="{164F43C2-DF31-5A8D-1A3A-29D7BC0E619D}"/>
                </a:ext>
              </a:extLst>
            </p:cNvPr>
            <p:cNvCxnSpPr/>
            <p:nvPr/>
          </p:nvCxnSpPr>
          <p:spPr>
            <a:xfrm flipV="1">
              <a:off x="5284342" y="5751955"/>
              <a:ext cx="203009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6389FD34-36CD-5995-73A5-797000363409}"/>
                </a:ext>
              </a:extLst>
            </p:cNvPr>
            <p:cNvCxnSpPr/>
            <p:nvPr/>
          </p:nvCxnSpPr>
          <p:spPr>
            <a:xfrm flipH="1">
              <a:off x="7866670" y="4066712"/>
              <a:ext cx="0" cy="912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CB699845-214A-37F3-DC51-6F125F973913}"/>
                </a:ext>
              </a:extLst>
            </p:cNvPr>
            <p:cNvCxnSpPr/>
            <p:nvPr/>
          </p:nvCxnSpPr>
          <p:spPr>
            <a:xfrm flipV="1">
              <a:off x="7535115" y="4067242"/>
              <a:ext cx="33665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10A8C18A-BA53-CB32-FF90-B77C2D188D69}"/>
                </a:ext>
              </a:extLst>
            </p:cNvPr>
            <p:cNvSpPr txBox="1"/>
            <p:nvPr/>
          </p:nvSpPr>
          <p:spPr>
            <a:xfrm>
              <a:off x="5699180" y="3423442"/>
              <a:ext cx="45397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36”/23.3 Km</a:t>
              </a: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B9BAE6C4-9452-06E6-C31F-8AEB521E5006}"/>
                </a:ext>
              </a:extLst>
            </p:cNvPr>
            <p:cNvSpPr/>
            <p:nvPr/>
          </p:nvSpPr>
          <p:spPr>
            <a:xfrm>
              <a:off x="426497" y="3948402"/>
              <a:ext cx="147324" cy="59170"/>
            </a:xfrm>
            <a:prstGeom prst="rect">
              <a:avLst/>
            </a:prstGeom>
            <a:solidFill>
              <a:srgbClr val="00206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01" name="Isosceles Triangle 500">
              <a:extLst>
                <a:ext uri="{FF2B5EF4-FFF2-40B4-BE49-F238E27FC236}">
                  <a16:creationId xmlns:a16="http://schemas.microsoft.com/office/drawing/2014/main" id="{A89DAF88-95D0-F878-E56D-C7BE2D678D6F}"/>
                </a:ext>
              </a:extLst>
            </p:cNvPr>
            <p:cNvSpPr/>
            <p:nvPr/>
          </p:nvSpPr>
          <p:spPr>
            <a:xfrm>
              <a:off x="3687507" y="2267839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02" name="Isosceles Triangle 501">
              <a:extLst>
                <a:ext uri="{FF2B5EF4-FFF2-40B4-BE49-F238E27FC236}">
                  <a16:creationId xmlns:a16="http://schemas.microsoft.com/office/drawing/2014/main" id="{6475A1B5-ED79-4A9C-92C3-1192836F41B9}"/>
                </a:ext>
              </a:extLst>
            </p:cNvPr>
            <p:cNvSpPr/>
            <p:nvPr/>
          </p:nvSpPr>
          <p:spPr>
            <a:xfrm>
              <a:off x="3816332" y="2153463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03" name="Straight Arrow Connector 502">
              <a:extLst>
                <a:ext uri="{FF2B5EF4-FFF2-40B4-BE49-F238E27FC236}">
                  <a16:creationId xmlns:a16="http://schemas.microsoft.com/office/drawing/2014/main" id="{8FCC41DC-94BA-B21C-20EA-321CAAC1F4B4}"/>
                </a:ext>
              </a:extLst>
            </p:cNvPr>
            <p:cNvCxnSpPr/>
            <p:nvPr/>
          </p:nvCxnSpPr>
          <p:spPr>
            <a:xfrm flipH="1" flipV="1">
              <a:off x="3554505" y="2254640"/>
              <a:ext cx="152613" cy="3623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504" name="Straight Arrow Connector 503">
              <a:extLst>
                <a:ext uri="{FF2B5EF4-FFF2-40B4-BE49-F238E27FC236}">
                  <a16:creationId xmlns:a16="http://schemas.microsoft.com/office/drawing/2014/main" id="{81E2BEB9-05D5-FEBE-F5F3-E30ED5D4CB39}"/>
                </a:ext>
              </a:extLst>
            </p:cNvPr>
            <p:cNvCxnSpPr/>
            <p:nvPr/>
          </p:nvCxnSpPr>
          <p:spPr>
            <a:xfrm flipH="1" flipV="1">
              <a:off x="3700417" y="2120646"/>
              <a:ext cx="152613" cy="3623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E9F2A783-17B7-A743-6D0E-833164E3EFF7}"/>
                </a:ext>
              </a:extLst>
            </p:cNvPr>
            <p:cNvSpPr txBox="1"/>
            <p:nvPr/>
          </p:nvSpPr>
          <p:spPr>
            <a:xfrm>
              <a:off x="3577783" y="2306568"/>
              <a:ext cx="2776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BUA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9D344446-F48A-E4CF-A90D-4C9CB381ADA5}"/>
                </a:ext>
              </a:extLst>
            </p:cNvPr>
            <p:cNvSpPr txBox="1"/>
            <p:nvPr/>
          </p:nvSpPr>
          <p:spPr>
            <a:xfrm>
              <a:off x="3720214" y="2192042"/>
              <a:ext cx="28886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WAC</a:t>
              </a:r>
            </a:p>
          </p:txBody>
        </p:sp>
        <p:sp>
          <p:nvSpPr>
            <p:cNvPr id="507" name="Isosceles Triangle 506">
              <a:extLst>
                <a:ext uri="{FF2B5EF4-FFF2-40B4-BE49-F238E27FC236}">
                  <a16:creationId xmlns:a16="http://schemas.microsoft.com/office/drawing/2014/main" id="{D4ED6204-0A4A-9A98-D998-63DDCEB982D1}"/>
                </a:ext>
              </a:extLst>
            </p:cNvPr>
            <p:cNvSpPr/>
            <p:nvPr/>
          </p:nvSpPr>
          <p:spPr>
            <a:xfrm>
              <a:off x="2355011" y="1268606"/>
              <a:ext cx="151250" cy="122719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0D4F5DCE-2E67-A6AA-73BF-54992F71323D}"/>
                </a:ext>
              </a:extLst>
            </p:cNvPr>
            <p:cNvSpPr txBox="1"/>
            <p:nvPr/>
          </p:nvSpPr>
          <p:spPr>
            <a:xfrm>
              <a:off x="3877678" y="4605092"/>
              <a:ext cx="23916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PP</a:t>
              </a:r>
            </a:p>
          </p:txBody>
        </p:sp>
        <p:cxnSp>
          <p:nvCxnSpPr>
            <p:cNvPr id="509" name="Straight Arrow Connector 508">
              <a:extLst>
                <a:ext uri="{FF2B5EF4-FFF2-40B4-BE49-F238E27FC236}">
                  <a16:creationId xmlns:a16="http://schemas.microsoft.com/office/drawing/2014/main" id="{9BDD9040-7C62-009D-D62A-10E18DB5186E}"/>
                </a:ext>
              </a:extLst>
            </p:cNvPr>
            <p:cNvCxnSpPr/>
            <p:nvPr/>
          </p:nvCxnSpPr>
          <p:spPr>
            <a:xfrm flipV="1">
              <a:off x="435042" y="1956082"/>
              <a:ext cx="2030" cy="143469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5E788D8C-F366-FA9E-5D29-880CF6EB0E65}"/>
                </a:ext>
              </a:extLst>
            </p:cNvPr>
            <p:cNvSpPr/>
            <p:nvPr/>
          </p:nvSpPr>
          <p:spPr>
            <a:xfrm>
              <a:off x="411336" y="1780025"/>
              <a:ext cx="223379" cy="176487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BBD5EB6D-770C-E006-A50C-BE5E63169DEB}"/>
                </a:ext>
              </a:extLst>
            </p:cNvPr>
            <p:cNvSpPr txBox="1"/>
            <p:nvPr/>
          </p:nvSpPr>
          <p:spPr>
            <a:xfrm>
              <a:off x="319735" y="1730729"/>
              <a:ext cx="4010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Abeokuta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City Gate/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MS</a:t>
              </a:r>
            </a:p>
          </p:txBody>
        </p: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F712D38C-465B-6718-A8ED-0A24750BD792}"/>
                </a:ext>
              </a:extLst>
            </p:cNvPr>
            <p:cNvCxnSpPr/>
            <p:nvPr/>
          </p:nvCxnSpPr>
          <p:spPr>
            <a:xfrm flipV="1">
              <a:off x="432286" y="1910602"/>
              <a:ext cx="431983" cy="25818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13" name="Isosceles Triangle 512">
              <a:extLst>
                <a:ext uri="{FF2B5EF4-FFF2-40B4-BE49-F238E27FC236}">
                  <a16:creationId xmlns:a16="http://schemas.microsoft.com/office/drawing/2014/main" id="{87F2653A-F93D-019C-AF43-B4AEFEF383BF}"/>
                </a:ext>
              </a:extLst>
            </p:cNvPr>
            <p:cNvSpPr/>
            <p:nvPr/>
          </p:nvSpPr>
          <p:spPr>
            <a:xfrm>
              <a:off x="871821" y="1848294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Isosceles Triangle 513">
              <a:extLst>
                <a:ext uri="{FF2B5EF4-FFF2-40B4-BE49-F238E27FC236}">
                  <a16:creationId xmlns:a16="http://schemas.microsoft.com/office/drawing/2014/main" id="{83DB274B-EEE8-1D4A-C6C9-093EC2C64512}"/>
                </a:ext>
              </a:extLst>
            </p:cNvPr>
            <p:cNvSpPr/>
            <p:nvPr/>
          </p:nvSpPr>
          <p:spPr>
            <a:xfrm>
              <a:off x="709545" y="1655125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6B4B275B-8E9C-3D4C-EEBC-955085F53D5C}"/>
                </a:ext>
              </a:extLst>
            </p:cNvPr>
            <p:cNvCxnSpPr/>
            <p:nvPr/>
          </p:nvCxnSpPr>
          <p:spPr>
            <a:xfrm flipV="1">
              <a:off x="714630" y="1764772"/>
              <a:ext cx="0" cy="241734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60196BFE-5A24-3DCB-D7FB-C5E5AB4C6FA5}"/>
                </a:ext>
              </a:extLst>
            </p:cNvPr>
            <p:cNvSpPr txBox="1"/>
            <p:nvPr/>
          </p:nvSpPr>
          <p:spPr>
            <a:xfrm>
              <a:off x="885166" y="1803458"/>
              <a:ext cx="3497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Ibesse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88D15D1C-DFE0-B045-4A40-4F34F29EF206}"/>
                </a:ext>
              </a:extLst>
            </p:cNvPr>
            <p:cNvSpPr txBox="1"/>
            <p:nvPr/>
          </p:nvSpPr>
          <p:spPr>
            <a:xfrm>
              <a:off x="719141" y="1610884"/>
              <a:ext cx="39786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Purechem</a:t>
              </a:r>
            </a:p>
          </p:txBody>
        </p: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4504F50A-2768-5A14-EAA0-2DCB4031A365}"/>
                </a:ext>
              </a:extLst>
            </p:cNvPr>
            <p:cNvCxnSpPr/>
            <p:nvPr/>
          </p:nvCxnSpPr>
          <p:spPr>
            <a:xfrm flipH="1">
              <a:off x="1273533" y="3536293"/>
              <a:ext cx="77040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CE162A2E-F147-0DCA-6788-A8F89791D378}"/>
                </a:ext>
              </a:extLst>
            </p:cNvPr>
            <p:cNvCxnSpPr/>
            <p:nvPr/>
          </p:nvCxnSpPr>
          <p:spPr>
            <a:xfrm flipV="1">
              <a:off x="489272" y="2578070"/>
              <a:ext cx="85929" cy="86003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20" name="Isosceles Triangle 519">
              <a:extLst>
                <a:ext uri="{FF2B5EF4-FFF2-40B4-BE49-F238E27FC236}">
                  <a16:creationId xmlns:a16="http://schemas.microsoft.com/office/drawing/2014/main" id="{E2AB7A26-80E9-D5C9-A9AA-FA02905527C4}"/>
                </a:ext>
              </a:extLst>
            </p:cNvPr>
            <p:cNvSpPr/>
            <p:nvPr/>
          </p:nvSpPr>
          <p:spPr>
            <a:xfrm>
              <a:off x="534925" y="2470374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FE34A49F-537F-2643-7311-E9B9B5896B80}"/>
                </a:ext>
              </a:extLst>
            </p:cNvPr>
            <p:cNvSpPr txBox="1"/>
            <p:nvPr/>
          </p:nvSpPr>
          <p:spPr>
            <a:xfrm>
              <a:off x="439376" y="2286994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Ewekoro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</a:t>
              </a:r>
            </a:p>
          </p:txBody>
        </p:sp>
        <p:sp>
          <p:nvSpPr>
            <p:cNvPr id="522" name="Isosceles Triangle 521">
              <a:extLst>
                <a:ext uri="{FF2B5EF4-FFF2-40B4-BE49-F238E27FC236}">
                  <a16:creationId xmlns:a16="http://schemas.microsoft.com/office/drawing/2014/main" id="{95CBF35F-0F76-1894-6100-43A4A54DDBC1}"/>
                </a:ext>
              </a:extLst>
            </p:cNvPr>
            <p:cNvSpPr/>
            <p:nvPr/>
          </p:nvSpPr>
          <p:spPr>
            <a:xfrm>
              <a:off x="534008" y="3625267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221B7134-F6FB-E299-1E91-8276D4FEAF2C}"/>
                </a:ext>
              </a:extLst>
            </p:cNvPr>
            <p:cNvCxnSpPr/>
            <p:nvPr/>
          </p:nvCxnSpPr>
          <p:spPr>
            <a:xfrm>
              <a:off x="465862" y="3540711"/>
              <a:ext cx="86803" cy="10339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875AC9E4-A377-CF40-6309-0A1CBECD20A7}"/>
                </a:ext>
              </a:extLst>
            </p:cNvPr>
            <p:cNvSpPr txBox="1"/>
            <p:nvPr/>
          </p:nvSpPr>
          <p:spPr>
            <a:xfrm>
              <a:off x="452956" y="3671949"/>
              <a:ext cx="274435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SNG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C2931002-FB0D-2EE7-1BA5-87F18D9F0D03}"/>
                </a:ext>
              </a:extLst>
            </p:cNvPr>
            <p:cNvSpPr txBox="1"/>
            <p:nvPr/>
          </p:nvSpPr>
          <p:spPr>
            <a:xfrm>
              <a:off x="221109" y="4022502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20”</a:t>
              </a:r>
            </a:p>
          </p:txBody>
        </p: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E1607CC4-DE07-C1B8-3EDA-A18A45B76954}"/>
                </a:ext>
              </a:extLst>
            </p:cNvPr>
            <p:cNvCxnSpPr/>
            <p:nvPr/>
          </p:nvCxnSpPr>
          <p:spPr>
            <a:xfrm flipH="1">
              <a:off x="725719" y="3524614"/>
              <a:ext cx="38520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44744890-FCF7-066F-6191-4121E4E14512}"/>
                </a:ext>
              </a:extLst>
            </p:cNvPr>
            <p:cNvCxnSpPr/>
            <p:nvPr/>
          </p:nvCxnSpPr>
          <p:spPr>
            <a:xfrm flipH="1">
              <a:off x="841034" y="3527477"/>
              <a:ext cx="77040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528" name="Straight Arrow Connector 527">
              <a:extLst>
                <a:ext uri="{FF2B5EF4-FFF2-40B4-BE49-F238E27FC236}">
                  <a16:creationId xmlns:a16="http://schemas.microsoft.com/office/drawing/2014/main" id="{6236A655-92ED-0C2D-6065-252169EB101D}"/>
                </a:ext>
              </a:extLst>
            </p:cNvPr>
            <p:cNvCxnSpPr>
              <a:endCxn id="524" idx="3"/>
            </p:cNvCxnSpPr>
            <p:nvPr/>
          </p:nvCxnSpPr>
          <p:spPr>
            <a:xfrm>
              <a:off x="691152" y="3446878"/>
              <a:ext cx="36239" cy="30201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29" name="Straight Arrow Connector 528">
              <a:extLst>
                <a:ext uri="{FF2B5EF4-FFF2-40B4-BE49-F238E27FC236}">
                  <a16:creationId xmlns:a16="http://schemas.microsoft.com/office/drawing/2014/main" id="{A5F82D78-74B7-48B8-0F92-32E6BE549FA6}"/>
                </a:ext>
              </a:extLst>
            </p:cNvPr>
            <p:cNvCxnSpPr/>
            <p:nvPr/>
          </p:nvCxnSpPr>
          <p:spPr>
            <a:xfrm>
              <a:off x="778030" y="3448496"/>
              <a:ext cx="20763" cy="274166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30" name="Isosceles Triangle 529">
              <a:extLst>
                <a:ext uri="{FF2B5EF4-FFF2-40B4-BE49-F238E27FC236}">
                  <a16:creationId xmlns:a16="http://schemas.microsoft.com/office/drawing/2014/main" id="{3FE234D3-1543-B32F-7F5A-904AFF4BF6C1}"/>
                </a:ext>
              </a:extLst>
            </p:cNvPr>
            <p:cNvSpPr/>
            <p:nvPr/>
          </p:nvSpPr>
          <p:spPr>
            <a:xfrm>
              <a:off x="633750" y="3181901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31" name="Isosceles Triangle 530">
              <a:extLst>
                <a:ext uri="{FF2B5EF4-FFF2-40B4-BE49-F238E27FC236}">
                  <a16:creationId xmlns:a16="http://schemas.microsoft.com/office/drawing/2014/main" id="{E8F51E31-3386-75DA-26E6-8D5F872BCD68}"/>
                </a:ext>
              </a:extLst>
            </p:cNvPr>
            <p:cNvSpPr/>
            <p:nvPr/>
          </p:nvSpPr>
          <p:spPr>
            <a:xfrm>
              <a:off x="774981" y="3059209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7837D86E-B61D-77F8-1077-0E22DA7CCD23}"/>
                </a:ext>
              </a:extLst>
            </p:cNvPr>
            <p:cNvSpPr txBox="1"/>
            <p:nvPr/>
          </p:nvSpPr>
          <p:spPr>
            <a:xfrm>
              <a:off x="539540" y="3020083"/>
              <a:ext cx="3209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Ekha/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Agro</a:t>
              </a: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D745A750-52CF-8547-23C7-CF850CCD19C2}"/>
                </a:ext>
              </a:extLst>
            </p:cNvPr>
            <p:cNvCxnSpPr/>
            <p:nvPr/>
          </p:nvCxnSpPr>
          <p:spPr>
            <a:xfrm flipH="1" flipV="1">
              <a:off x="660754" y="3272081"/>
              <a:ext cx="42790" cy="17049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34" name="Straight Arrow Connector 533">
              <a:extLst>
                <a:ext uri="{FF2B5EF4-FFF2-40B4-BE49-F238E27FC236}">
                  <a16:creationId xmlns:a16="http://schemas.microsoft.com/office/drawing/2014/main" id="{C2DFD2FE-F7A4-5EF2-E25F-82B1BB317432}"/>
                </a:ext>
              </a:extLst>
            </p:cNvPr>
            <p:cNvCxnSpPr/>
            <p:nvPr/>
          </p:nvCxnSpPr>
          <p:spPr>
            <a:xfrm flipV="1">
              <a:off x="793317" y="3142326"/>
              <a:ext cx="48076" cy="30520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837D66F4-AFAC-64A3-DA09-CAE833BAB447}"/>
                </a:ext>
              </a:extLst>
            </p:cNvPr>
            <p:cNvSpPr txBox="1"/>
            <p:nvPr/>
          </p:nvSpPr>
          <p:spPr>
            <a:xfrm>
              <a:off x="1081146" y="2992311"/>
              <a:ext cx="28084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SMC</a:t>
              </a:r>
            </a:p>
          </p:txBody>
        </p:sp>
        <p:sp>
          <p:nvSpPr>
            <p:cNvPr id="536" name="Isosceles Triangle 535">
              <a:extLst>
                <a:ext uri="{FF2B5EF4-FFF2-40B4-BE49-F238E27FC236}">
                  <a16:creationId xmlns:a16="http://schemas.microsoft.com/office/drawing/2014/main" id="{40B7BBB0-84F0-4C5B-C18F-2236F7BC106A}"/>
                </a:ext>
              </a:extLst>
            </p:cNvPr>
            <p:cNvSpPr/>
            <p:nvPr/>
          </p:nvSpPr>
          <p:spPr>
            <a:xfrm>
              <a:off x="1368347" y="3115823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37" name="Straight Arrow Connector 536">
              <a:extLst>
                <a:ext uri="{FF2B5EF4-FFF2-40B4-BE49-F238E27FC236}">
                  <a16:creationId xmlns:a16="http://schemas.microsoft.com/office/drawing/2014/main" id="{EA008B4B-5003-6758-6A85-D59A97EC167B}"/>
                </a:ext>
              </a:extLst>
            </p:cNvPr>
            <p:cNvCxnSpPr/>
            <p:nvPr/>
          </p:nvCxnSpPr>
          <p:spPr>
            <a:xfrm flipV="1">
              <a:off x="1074961" y="3225456"/>
              <a:ext cx="324908" cy="18804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A25871AF-7BD2-92DD-D153-8CBB9A0D92F3}"/>
                </a:ext>
              </a:extLst>
            </p:cNvPr>
            <p:cNvSpPr txBox="1"/>
            <p:nvPr/>
          </p:nvSpPr>
          <p:spPr>
            <a:xfrm>
              <a:off x="1214345" y="2935117"/>
              <a:ext cx="3593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WAPCO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Sagamu</a:t>
              </a:r>
            </a:p>
          </p:txBody>
        </p:sp>
        <p:cxnSp>
          <p:nvCxnSpPr>
            <p:cNvPr id="539" name="Straight Arrow Connector 538">
              <a:extLst>
                <a:ext uri="{FF2B5EF4-FFF2-40B4-BE49-F238E27FC236}">
                  <a16:creationId xmlns:a16="http://schemas.microsoft.com/office/drawing/2014/main" id="{60E94F01-0284-E91A-764C-A99FFC1E4CFE}"/>
                </a:ext>
              </a:extLst>
            </p:cNvPr>
            <p:cNvCxnSpPr/>
            <p:nvPr/>
          </p:nvCxnSpPr>
          <p:spPr>
            <a:xfrm flipV="1">
              <a:off x="1209969" y="3179836"/>
              <a:ext cx="5180" cy="1594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45F43CB4-81DB-1C8A-02FE-35718D23787B}"/>
                </a:ext>
              </a:extLst>
            </p:cNvPr>
            <p:cNvSpPr txBox="1"/>
            <p:nvPr/>
          </p:nvSpPr>
          <p:spPr>
            <a:xfrm>
              <a:off x="671002" y="2917121"/>
              <a:ext cx="29687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Ogijo</a:t>
              </a:r>
            </a:p>
          </p:txBody>
        </p:sp>
        <p:sp>
          <p:nvSpPr>
            <p:cNvPr id="541" name="Isosceles Triangle 540">
              <a:extLst>
                <a:ext uri="{FF2B5EF4-FFF2-40B4-BE49-F238E27FC236}">
                  <a16:creationId xmlns:a16="http://schemas.microsoft.com/office/drawing/2014/main" id="{0626295D-E8A9-27CF-D15D-D44393430A04}"/>
                </a:ext>
              </a:extLst>
            </p:cNvPr>
            <p:cNvSpPr/>
            <p:nvPr/>
          </p:nvSpPr>
          <p:spPr>
            <a:xfrm>
              <a:off x="1176723" y="3101775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7C3C1A0E-033E-525B-5AEA-C88A440C429D}"/>
                </a:ext>
              </a:extLst>
            </p:cNvPr>
            <p:cNvSpPr/>
            <p:nvPr/>
          </p:nvSpPr>
          <p:spPr>
            <a:xfrm>
              <a:off x="2779836" y="2277208"/>
              <a:ext cx="251501" cy="151027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CC82D9CF-7379-709B-8B78-35DB87E71827}"/>
                </a:ext>
              </a:extLst>
            </p:cNvPr>
            <p:cNvSpPr txBox="1"/>
            <p:nvPr/>
          </p:nvSpPr>
          <p:spPr>
            <a:xfrm>
              <a:off x="2703096" y="2249189"/>
              <a:ext cx="37702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Seplat FS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(AG)</a:t>
              </a:r>
            </a:p>
          </p:txBody>
        </p: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586A09E4-A8A1-09E7-2810-C370D8CD3465}"/>
                </a:ext>
              </a:extLst>
            </p:cNvPr>
            <p:cNvCxnSpPr/>
            <p:nvPr/>
          </p:nvCxnSpPr>
          <p:spPr>
            <a:xfrm flipV="1">
              <a:off x="2856338" y="2688665"/>
              <a:ext cx="14752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C93DD284-0E58-2014-247C-1BFE7C652141}"/>
                </a:ext>
              </a:extLst>
            </p:cNvPr>
            <p:cNvCxnSpPr/>
            <p:nvPr/>
          </p:nvCxnSpPr>
          <p:spPr>
            <a:xfrm>
              <a:off x="2783041" y="2431439"/>
              <a:ext cx="0" cy="7980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sp>
          <p:nvSpPr>
            <p:cNvPr id="546" name="Isosceles Triangle 545">
              <a:extLst>
                <a:ext uri="{FF2B5EF4-FFF2-40B4-BE49-F238E27FC236}">
                  <a16:creationId xmlns:a16="http://schemas.microsoft.com/office/drawing/2014/main" id="{29C91105-F060-0966-384F-B9FC7618A526}"/>
                </a:ext>
              </a:extLst>
            </p:cNvPr>
            <p:cNvSpPr/>
            <p:nvPr/>
          </p:nvSpPr>
          <p:spPr>
            <a:xfrm>
              <a:off x="364807" y="5932654"/>
              <a:ext cx="139237" cy="12988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96240F4E-CA5D-30E7-3141-ED68EDCC1090}"/>
                </a:ext>
              </a:extLst>
            </p:cNvPr>
            <p:cNvSpPr txBox="1"/>
            <p:nvPr/>
          </p:nvSpPr>
          <p:spPr>
            <a:xfrm>
              <a:off x="2656817" y="4690126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CDF6F7FF-9642-745C-29E4-8B2A2E53E242}"/>
                </a:ext>
              </a:extLst>
            </p:cNvPr>
            <p:cNvSpPr txBox="1"/>
            <p:nvPr/>
          </p:nvSpPr>
          <p:spPr>
            <a:xfrm>
              <a:off x="2628225" y="4871503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20”</a:t>
              </a:r>
            </a:p>
          </p:txBody>
        </p:sp>
        <p:sp>
          <p:nvSpPr>
            <p:cNvPr id="549" name="TextBox 548">
              <a:extLst>
                <a:ext uri="{FF2B5EF4-FFF2-40B4-BE49-F238E27FC236}">
                  <a16:creationId xmlns:a16="http://schemas.microsoft.com/office/drawing/2014/main" id="{3EE86B8C-B8CE-5052-C981-D5EEF076CCD5}"/>
                </a:ext>
              </a:extLst>
            </p:cNvPr>
            <p:cNvSpPr txBox="1"/>
            <p:nvPr/>
          </p:nvSpPr>
          <p:spPr>
            <a:xfrm>
              <a:off x="2859056" y="4449490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EC879C50-C15F-A3FE-B205-392DEDFA5C55}"/>
                </a:ext>
              </a:extLst>
            </p:cNvPr>
            <p:cNvSpPr txBox="1"/>
            <p:nvPr/>
          </p:nvSpPr>
          <p:spPr>
            <a:xfrm>
              <a:off x="3063979" y="4350067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75819F4D-84C4-CF22-80EA-4CC6B3390E19}"/>
                </a:ext>
              </a:extLst>
            </p:cNvPr>
            <p:cNvSpPr txBox="1"/>
            <p:nvPr/>
          </p:nvSpPr>
          <p:spPr>
            <a:xfrm>
              <a:off x="2893511" y="3818070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30”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A71C2663-AC38-CAD7-D8DE-804C331B55EA}"/>
                </a:ext>
              </a:extLst>
            </p:cNvPr>
            <p:cNvSpPr txBox="1"/>
            <p:nvPr/>
          </p:nvSpPr>
          <p:spPr>
            <a:xfrm>
              <a:off x="2152018" y="4751205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5BB77589-3954-FCBF-F594-A021DA613892}"/>
                </a:ext>
              </a:extLst>
            </p:cNvPr>
            <p:cNvSpPr txBox="1"/>
            <p:nvPr/>
          </p:nvSpPr>
          <p:spPr>
            <a:xfrm>
              <a:off x="2160888" y="4864869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BDC994AD-60AE-6BCF-EAE5-965F658E23E0}"/>
                </a:ext>
              </a:extLst>
            </p:cNvPr>
            <p:cNvSpPr txBox="1"/>
            <p:nvPr/>
          </p:nvSpPr>
          <p:spPr>
            <a:xfrm>
              <a:off x="3307090" y="4065112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30”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492F2459-436D-32D5-BA44-0F8DB78C0080}"/>
                </a:ext>
              </a:extLst>
            </p:cNvPr>
            <p:cNvSpPr txBox="1"/>
            <p:nvPr/>
          </p:nvSpPr>
          <p:spPr>
            <a:xfrm>
              <a:off x="2745388" y="4109263"/>
              <a:ext cx="219932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8”</a:t>
              </a: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DB47A981-C958-FDEE-6FB5-1A3D25AD7EEF}"/>
                </a:ext>
              </a:extLst>
            </p:cNvPr>
            <p:cNvSpPr/>
            <p:nvPr/>
          </p:nvSpPr>
          <p:spPr>
            <a:xfrm>
              <a:off x="4290677" y="2881802"/>
              <a:ext cx="259014" cy="1325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00CB4AE5-9C88-06AF-6C2F-CEFD0FCBDEB4}"/>
                </a:ext>
              </a:extLst>
            </p:cNvPr>
            <p:cNvSpPr txBox="1"/>
            <p:nvPr/>
          </p:nvSpPr>
          <p:spPr>
            <a:xfrm>
              <a:off x="4229421" y="2835755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Xenergi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PF</a:t>
              </a:r>
            </a:p>
          </p:txBody>
        </p:sp>
        <p:sp>
          <p:nvSpPr>
            <p:cNvPr id="558" name="Isosceles Triangle 557">
              <a:extLst>
                <a:ext uri="{FF2B5EF4-FFF2-40B4-BE49-F238E27FC236}">
                  <a16:creationId xmlns:a16="http://schemas.microsoft.com/office/drawing/2014/main" id="{33CD4921-F3FD-8763-7A6E-E86CD2106686}"/>
                </a:ext>
              </a:extLst>
            </p:cNvPr>
            <p:cNvSpPr/>
            <p:nvPr/>
          </p:nvSpPr>
          <p:spPr>
            <a:xfrm>
              <a:off x="2283409" y="2987563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59" name="Isosceles Triangle 558">
              <a:extLst>
                <a:ext uri="{FF2B5EF4-FFF2-40B4-BE49-F238E27FC236}">
                  <a16:creationId xmlns:a16="http://schemas.microsoft.com/office/drawing/2014/main" id="{3C8C3DD8-2ACA-6340-3BE6-9E77D836A15D}"/>
                </a:ext>
              </a:extLst>
            </p:cNvPr>
            <p:cNvSpPr/>
            <p:nvPr/>
          </p:nvSpPr>
          <p:spPr>
            <a:xfrm>
              <a:off x="2400721" y="3106947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60" name="Straight Arrow Connector 559">
              <a:extLst>
                <a:ext uri="{FF2B5EF4-FFF2-40B4-BE49-F238E27FC236}">
                  <a16:creationId xmlns:a16="http://schemas.microsoft.com/office/drawing/2014/main" id="{1C4B8799-1B72-F2FF-498E-F2947087BF53}"/>
                </a:ext>
              </a:extLst>
            </p:cNvPr>
            <p:cNvCxnSpPr/>
            <p:nvPr/>
          </p:nvCxnSpPr>
          <p:spPr>
            <a:xfrm flipV="1">
              <a:off x="2163547" y="3072247"/>
              <a:ext cx="154065" cy="37887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61" name="Straight Arrow Connector 560">
              <a:extLst>
                <a:ext uri="{FF2B5EF4-FFF2-40B4-BE49-F238E27FC236}">
                  <a16:creationId xmlns:a16="http://schemas.microsoft.com/office/drawing/2014/main" id="{093960BC-540E-B548-9755-8B5B8580CF89}"/>
                </a:ext>
              </a:extLst>
            </p:cNvPr>
            <p:cNvCxnSpPr/>
            <p:nvPr/>
          </p:nvCxnSpPr>
          <p:spPr>
            <a:xfrm flipV="1">
              <a:off x="2192803" y="3204867"/>
              <a:ext cx="207077" cy="23990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D32BFF54-6B7C-1FBD-85A5-122D2E0E5F8A}"/>
                </a:ext>
              </a:extLst>
            </p:cNvPr>
            <p:cNvSpPr txBox="1"/>
            <p:nvPr/>
          </p:nvSpPr>
          <p:spPr>
            <a:xfrm>
              <a:off x="2673495" y="3064532"/>
              <a:ext cx="3706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Ovade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23FAB249-B5EC-424F-1B36-8A0C2FF20F0B}"/>
                </a:ext>
              </a:extLst>
            </p:cNvPr>
            <p:cNvSpPr txBox="1"/>
            <p:nvPr/>
          </p:nvSpPr>
          <p:spPr>
            <a:xfrm>
              <a:off x="2523299" y="2843123"/>
              <a:ext cx="4395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Oredo GP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75914A8F-FB70-0153-445D-F6C6635EEBE6}"/>
                </a:ext>
              </a:extLst>
            </p:cNvPr>
            <p:cNvSpPr txBox="1"/>
            <p:nvPr/>
          </p:nvSpPr>
          <p:spPr>
            <a:xfrm>
              <a:off x="2124740" y="2870403"/>
              <a:ext cx="37863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Guinness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DF010648-AC33-6658-6E85-887386A4FABF}"/>
                </a:ext>
              </a:extLst>
            </p:cNvPr>
            <p:cNvSpPr txBox="1"/>
            <p:nvPr/>
          </p:nvSpPr>
          <p:spPr>
            <a:xfrm>
              <a:off x="2324916" y="3149470"/>
              <a:ext cx="37702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Time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Ceramics</a:t>
              </a:r>
            </a:p>
          </p:txBody>
        </p: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32606ED3-DBB6-656D-E0F4-7D04908DDAE7}"/>
                </a:ext>
              </a:extLst>
            </p:cNvPr>
            <p:cNvCxnSpPr/>
            <p:nvPr/>
          </p:nvCxnSpPr>
          <p:spPr>
            <a:xfrm flipV="1">
              <a:off x="5838266" y="5545905"/>
              <a:ext cx="0" cy="6977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A07111A0-FC91-BDFF-509F-497E53AF7AAC}"/>
                </a:ext>
              </a:extLst>
            </p:cNvPr>
            <p:cNvSpPr txBox="1"/>
            <p:nvPr/>
          </p:nvSpPr>
          <p:spPr>
            <a:xfrm>
              <a:off x="6734560" y="5446541"/>
              <a:ext cx="40267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 32 Km</a:t>
              </a: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3DE6F471-3B29-200C-2FAA-1A8B605AB8EC}"/>
                </a:ext>
              </a:extLst>
            </p:cNvPr>
            <p:cNvSpPr txBox="1"/>
            <p:nvPr/>
          </p:nvSpPr>
          <p:spPr>
            <a:xfrm rot="1295605">
              <a:off x="4704624" y="3252066"/>
              <a:ext cx="6049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48” X 43.38 Km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9AC12C64-04EA-AB06-237E-8EDD6832BEAF}"/>
                </a:ext>
              </a:extLst>
            </p:cNvPr>
            <p:cNvSpPr txBox="1"/>
            <p:nvPr/>
          </p:nvSpPr>
          <p:spPr>
            <a:xfrm>
              <a:off x="2624123" y="6045470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32”</a:t>
              </a: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C08E3CD7-135B-8C01-CC93-0A962324EB0B}"/>
                </a:ext>
              </a:extLst>
            </p:cNvPr>
            <p:cNvSpPr txBox="1"/>
            <p:nvPr/>
          </p:nvSpPr>
          <p:spPr>
            <a:xfrm>
              <a:off x="3386749" y="6296690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32”</a:t>
              </a: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E06F388F-2BCD-C670-6611-61BED9C44898}"/>
                </a:ext>
              </a:extLst>
            </p:cNvPr>
            <p:cNvSpPr txBox="1"/>
            <p:nvPr/>
          </p:nvSpPr>
          <p:spPr>
            <a:xfrm>
              <a:off x="2341944" y="5913152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</a:t>
              </a: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5DF9053E-9344-3A1F-1056-5147E2BC1DAD}"/>
                </a:ext>
              </a:extLst>
            </p:cNvPr>
            <p:cNvSpPr txBox="1"/>
            <p:nvPr/>
          </p:nvSpPr>
          <p:spPr>
            <a:xfrm>
              <a:off x="2319275" y="5746354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12”</a:t>
              </a:r>
            </a:p>
          </p:txBody>
        </p:sp>
        <p:cxnSp>
          <p:nvCxnSpPr>
            <p:cNvPr id="573" name="Straight Arrow Connector 572">
              <a:extLst>
                <a:ext uri="{FF2B5EF4-FFF2-40B4-BE49-F238E27FC236}">
                  <a16:creationId xmlns:a16="http://schemas.microsoft.com/office/drawing/2014/main" id="{D8ED9CE2-7C27-031D-D0D5-617C5E0E097C}"/>
                </a:ext>
              </a:extLst>
            </p:cNvPr>
            <p:cNvCxnSpPr/>
            <p:nvPr/>
          </p:nvCxnSpPr>
          <p:spPr>
            <a:xfrm flipH="1" flipV="1">
              <a:off x="4989373" y="1107443"/>
              <a:ext cx="17724" cy="95530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3F36C374-62F8-48B3-E624-8C917BB5D86C}"/>
                </a:ext>
              </a:extLst>
            </p:cNvPr>
            <p:cNvSpPr txBox="1"/>
            <p:nvPr/>
          </p:nvSpPr>
          <p:spPr>
            <a:xfrm>
              <a:off x="4875198" y="1176373"/>
              <a:ext cx="2664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EC4EFA52-7E12-E07F-CBD7-DDF0C088CF19}"/>
                </a:ext>
              </a:extLst>
            </p:cNvPr>
            <p:cNvSpPr txBox="1"/>
            <p:nvPr/>
          </p:nvSpPr>
          <p:spPr>
            <a:xfrm rot="19452257">
              <a:off x="5018080" y="1244667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15 Km</a:t>
              </a: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D92D0188-CC82-440A-52CF-2E89662532B8}"/>
                </a:ext>
              </a:extLst>
            </p:cNvPr>
            <p:cNvSpPr/>
            <p:nvPr/>
          </p:nvSpPr>
          <p:spPr>
            <a:xfrm>
              <a:off x="5192135" y="1493381"/>
              <a:ext cx="61408" cy="4634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C081C2A7-3CA0-7D70-FD19-4EB9BC495F9C}"/>
                </a:ext>
              </a:extLst>
            </p:cNvPr>
            <p:cNvSpPr/>
            <p:nvPr/>
          </p:nvSpPr>
          <p:spPr>
            <a:xfrm>
              <a:off x="5856643" y="1253093"/>
              <a:ext cx="165014" cy="102341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78" name="Straight Arrow Connector 577">
              <a:extLst>
                <a:ext uri="{FF2B5EF4-FFF2-40B4-BE49-F238E27FC236}">
                  <a16:creationId xmlns:a16="http://schemas.microsoft.com/office/drawing/2014/main" id="{F57DB2EF-7737-745D-04B1-6824B50F236D}"/>
                </a:ext>
              </a:extLst>
            </p:cNvPr>
            <p:cNvCxnSpPr/>
            <p:nvPr/>
          </p:nvCxnSpPr>
          <p:spPr>
            <a:xfrm>
              <a:off x="5942679" y="1294659"/>
              <a:ext cx="179630" cy="7479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id="{54A3243D-9E0A-E31D-0562-1141977346F5}"/>
                </a:ext>
              </a:extLst>
            </p:cNvPr>
            <p:cNvSpPr txBox="1"/>
            <p:nvPr/>
          </p:nvSpPr>
          <p:spPr>
            <a:xfrm>
              <a:off x="5798737" y="1229861"/>
              <a:ext cx="2664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cxnSp>
          <p:nvCxnSpPr>
            <p:cNvPr id="580" name="Straight Arrow Connector 579">
              <a:extLst>
                <a:ext uri="{FF2B5EF4-FFF2-40B4-BE49-F238E27FC236}">
                  <a16:creationId xmlns:a16="http://schemas.microsoft.com/office/drawing/2014/main" id="{DFBACB94-A68D-84E5-37E4-179FE544E24B}"/>
                </a:ext>
              </a:extLst>
            </p:cNvPr>
            <p:cNvCxnSpPr/>
            <p:nvPr/>
          </p:nvCxnSpPr>
          <p:spPr>
            <a:xfrm flipH="1">
              <a:off x="5921402" y="1353428"/>
              <a:ext cx="66035" cy="148656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03D5D487-17E6-40FE-3FCC-A5B570522DE5}"/>
                </a:ext>
              </a:extLst>
            </p:cNvPr>
            <p:cNvSpPr/>
            <p:nvPr/>
          </p:nvSpPr>
          <p:spPr>
            <a:xfrm>
              <a:off x="7003799" y="330646"/>
              <a:ext cx="165014" cy="102341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1A0CB86F-A6B2-FE6E-E49B-E175EC0208AC}"/>
                </a:ext>
              </a:extLst>
            </p:cNvPr>
            <p:cNvSpPr txBox="1"/>
            <p:nvPr/>
          </p:nvSpPr>
          <p:spPr>
            <a:xfrm>
              <a:off x="6945893" y="307414"/>
              <a:ext cx="2664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2D362318-C0D0-355C-1EF7-440DB22EF447}"/>
                </a:ext>
              </a:extLst>
            </p:cNvPr>
            <p:cNvCxnSpPr/>
            <p:nvPr/>
          </p:nvCxnSpPr>
          <p:spPr>
            <a:xfrm flipV="1">
              <a:off x="6861580" y="392643"/>
              <a:ext cx="59283" cy="32572"/>
            </a:xfrm>
            <a:prstGeom prst="straightConnector1">
              <a:avLst/>
            </a:prstGeom>
            <a:noFill/>
            <a:ln w="19050" cap="flat" cmpd="sng" algn="ctr">
              <a:solidFill>
                <a:srgbClr val="7030A0"/>
              </a:solidFill>
              <a:prstDash val="sysDash"/>
              <a:tailEnd type="none"/>
            </a:ln>
            <a:effectLst/>
          </p:spPr>
        </p:cxn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5C3BB48F-5845-C763-5E28-336ACFBDECC6}"/>
                </a:ext>
              </a:extLst>
            </p:cNvPr>
            <p:cNvSpPr txBox="1"/>
            <p:nvPr/>
          </p:nvSpPr>
          <p:spPr>
            <a:xfrm>
              <a:off x="5180855" y="5726774"/>
              <a:ext cx="38343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14”/8 km</a:t>
              </a: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437FFA9F-07CA-204D-0222-1E8CCA99B408}"/>
                </a:ext>
              </a:extLst>
            </p:cNvPr>
            <p:cNvSpPr txBox="1"/>
            <p:nvPr/>
          </p:nvSpPr>
          <p:spPr>
            <a:xfrm>
              <a:off x="6775658" y="4084850"/>
              <a:ext cx="4138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24”/50 Km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16302509-ED1B-CAB0-55FE-75971978B33F}"/>
                </a:ext>
              </a:extLst>
            </p:cNvPr>
            <p:cNvSpPr txBox="1"/>
            <p:nvPr/>
          </p:nvSpPr>
          <p:spPr>
            <a:xfrm rot="5400000">
              <a:off x="6134543" y="5911256"/>
              <a:ext cx="354584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14”/17 Km</a:t>
              </a: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F8FB5AC3-8902-F725-274E-8FE7C4C7D6C1}"/>
                </a:ext>
              </a:extLst>
            </p:cNvPr>
            <p:cNvSpPr txBox="1"/>
            <p:nvPr/>
          </p:nvSpPr>
          <p:spPr>
            <a:xfrm rot="5400000">
              <a:off x="6374687" y="5886696"/>
              <a:ext cx="364202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14”/0.5 Km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D217CBA0-02AE-0B3D-32BB-0A4BA684FC63}"/>
                </a:ext>
              </a:extLst>
            </p:cNvPr>
            <p:cNvSpPr txBox="1"/>
            <p:nvPr/>
          </p:nvSpPr>
          <p:spPr>
            <a:xfrm rot="5400000">
              <a:off x="6491367" y="5653403"/>
              <a:ext cx="40267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6”/0.4 Km</a:t>
              </a:r>
            </a:p>
          </p:txBody>
        </p: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93981694-EA40-C3AE-CE31-F77AC48173EA}"/>
                </a:ext>
              </a:extLst>
            </p:cNvPr>
            <p:cNvSpPr txBox="1"/>
            <p:nvPr/>
          </p:nvSpPr>
          <p:spPr>
            <a:xfrm>
              <a:off x="6626105" y="4728013"/>
              <a:ext cx="4138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14”/19 Km</a:t>
              </a:r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0BE232FD-B66A-B61A-AE06-2E473DA4D368}"/>
                </a:ext>
              </a:extLst>
            </p:cNvPr>
            <p:cNvSpPr txBox="1"/>
            <p:nvPr/>
          </p:nvSpPr>
          <p:spPr>
            <a:xfrm>
              <a:off x="6672818" y="4880831"/>
              <a:ext cx="408749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14”/3 Km</a:t>
              </a: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544BE82-6BFE-5B48-EACF-60D6D9D6FA70}"/>
                </a:ext>
              </a:extLst>
            </p:cNvPr>
            <p:cNvSpPr txBox="1"/>
            <p:nvPr/>
          </p:nvSpPr>
          <p:spPr>
            <a:xfrm>
              <a:off x="7203518" y="4698333"/>
              <a:ext cx="42832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14”/0.2 Km</a:t>
              </a:r>
            </a:p>
          </p:txBody>
        </p: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9CDF5E74-F650-E868-A992-39630A965B8B}"/>
                </a:ext>
              </a:extLst>
            </p:cNvPr>
            <p:cNvCxnSpPr/>
            <p:nvPr/>
          </p:nvCxnSpPr>
          <p:spPr>
            <a:xfrm flipV="1">
              <a:off x="5842573" y="5548337"/>
              <a:ext cx="561942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36251D32-10B7-86F3-3253-A581B4FE13A8}"/>
                </a:ext>
              </a:extLst>
            </p:cNvPr>
            <p:cNvSpPr txBox="1"/>
            <p:nvPr/>
          </p:nvSpPr>
          <p:spPr>
            <a:xfrm>
              <a:off x="5924783" y="5503534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</a:t>
              </a:r>
            </a:p>
          </p:txBody>
        </p: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0A1F92CF-399A-287E-BF6F-26797209263B}"/>
                </a:ext>
              </a:extLst>
            </p:cNvPr>
            <p:cNvSpPr txBox="1"/>
            <p:nvPr/>
          </p:nvSpPr>
          <p:spPr>
            <a:xfrm>
              <a:off x="357880" y="2184233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E2C6036F-FBDB-86DB-6E92-906E5C066BFB}"/>
                </a:ext>
              </a:extLst>
            </p:cNvPr>
            <p:cNvCxnSpPr/>
            <p:nvPr/>
          </p:nvCxnSpPr>
          <p:spPr>
            <a:xfrm flipH="1" flipV="1">
              <a:off x="3687508" y="2058679"/>
              <a:ext cx="36566" cy="3356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596" name="TextBox 595">
              <a:extLst>
                <a:ext uri="{FF2B5EF4-FFF2-40B4-BE49-F238E27FC236}">
                  <a16:creationId xmlns:a16="http://schemas.microsoft.com/office/drawing/2014/main" id="{2520502B-EC84-72CE-BD2D-F108862000C7}"/>
                </a:ext>
              </a:extLst>
            </p:cNvPr>
            <p:cNvSpPr txBox="1"/>
            <p:nvPr/>
          </p:nvSpPr>
          <p:spPr>
            <a:xfrm>
              <a:off x="8945350" y="5551715"/>
              <a:ext cx="360996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Okopedi</a:t>
              </a: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C992D813-99AD-E030-875B-BFC58C77B640}"/>
                </a:ext>
              </a:extLst>
            </p:cNvPr>
            <p:cNvSpPr txBox="1"/>
            <p:nvPr/>
          </p:nvSpPr>
          <p:spPr>
            <a:xfrm>
              <a:off x="9121339" y="4991403"/>
              <a:ext cx="29206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Uyo</a:t>
              </a:r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03C47AB7-1B44-6AC9-776C-38FDD9056962}"/>
                </a:ext>
              </a:extLst>
            </p:cNvPr>
            <p:cNvSpPr txBox="1"/>
            <p:nvPr/>
          </p:nvSpPr>
          <p:spPr>
            <a:xfrm>
              <a:off x="8998872" y="3735946"/>
              <a:ext cx="3770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Ikot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Ekpene</a:t>
              </a:r>
              <a:endParaRPr kumimoji="0" lang="en-US" sz="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A2363B0-8033-31E8-172B-DB2A56883AC8}"/>
                </a:ext>
              </a:extLst>
            </p:cNvPr>
            <p:cNvSpPr txBox="1"/>
            <p:nvPr/>
          </p:nvSpPr>
          <p:spPr>
            <a:xfrm>
              <a:off x="7208873" y="3014035"/>
              <a:ext cx="4267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Umuahia</a:t>
              </a: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1D0CA70C-5E59-3491-88D0-6446A63BEB04}"/>
                </a:ext>
              </a:extLst>
            </p:cNvPr>
            <p:cNvSpPr txBox="1"/>
            <p:nvPr/>
          </p:nvSpPr>
          <p:spPr>
            <a:xfrm>
              <a:off x="8594674" y="6019278"/>
              <a:ext cx="27764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QIT</a:t>
              </a:r>
            </a:p>
          </p:txBody>
        </p: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525A98E3-3257-37B4-A39E-1D340BB2FE31}"/>
                </a:ext>
              </a:extLst>
            </p:cNvPr>
            <p:cNvCxnSpPr/>
            <p:nvPr/>
          </p:nvCxnSpPr>
          <p:spPr>
            <a:xfrm flipV="1">
              <a:off x="8063882" y="5462141"/>
              <a:ext cx="401941" cy="30998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F3474BEF-0CE9-43B6-902B-8020C4613F8F}"/>
                </a:ext>
              </a:extLst>
            </p:cNvPr>
            <p:cNvSpPr txBox="1"/>
            <p:nvPr/>
          </p:nvSpPr>
          <p:spPr>
            <a:xfrm>
              <a:off x="4450820" y="2685009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Chorus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PF</a:t>
              </a:r>
            </a:p>
          </p:txBody>
        </p:sp>
        <p:cxnSp>
          <p:nvCxnSpPr>
            <p:cNvPr id="603" name="Straight Arrow Connector 602">
              <a:extLst>
                <a:ext uri="{FF2B5EF4-FFF2-40B4-BE49-F238E27FC236}">
                  <a16:creationId xmlns:a16="http://schemas.microsoft.com/office/drawing/2014/main" id="{6A753DE9-4439-33D7-D99B-1C4C56CA8569}"/>
                </a:ext>
              </a:extLst>
            </p:cNvPr>
            <p:cNvCxnSpPr/>
            <p:nvPr/>
          </p:nvCxnSpPr>
          <p:spPr>
            <a:xfrm>
              <a:off x="4182086" y="2882657"/>
              <a:ext cx="12958" cy="11923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52D9CB54-B0B2-8BF8-E1A5-C0B65CBED229}"/>
                </a:ext>
              </a:extLst>
            </p:cNvPr>
            <p:cNvCxnSpPr/>
            <p:nvPr/>
          </p:nvCxnSpPr>
          <p:spPr>
            <a:xfrm flipH="1">
              <a:off x="2035413" y="2671951"/>
              <a:ext cx="241951" cy="99217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E4A0F39E-FA25-BA25-05A1-878844D9FEDC}"/>
                </a:ext>
              </a:extLst>
            </p:cNvPr>
            <p:cNvCxnSpPr/>
            <p:nvPr/>
          </p:nvCxnSpPr>
          <p:spPr>
            <a:xfrm flipH="1" flipV="1">
              <a:off x="5964183" y="628691"/>
              <a:ext cx="257043" cy="215825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none"/>
            </a:ln>
            <a:effectLst/>
          </p:spPr>
        </p:cxn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CCD8BE82-27AD-05A4-1560-107BEE5692EC}"/>
                </a:ext>
              </a:extLst>
            </p:cNvPr>
            <p:cNvSpPr/>
            <p:nvPr/>
          </p:nvSpPr>
          <p:spPr>
            <a:xfrm>
              <a:off x="5911507" y="587136"/>
              <a:ext cx="55285" cy="45719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7BD213E5-2F48-C9A8-8CE1-CABD75A34899}"/>
                </a:ext>
              </a:extLst>
            </p:cNvPr>
            <p:cNvCxnSpPr/>
            <p:nvPr/>
          </p:nvCxnSpPr>
          <p:spPr>
            <a:xfrm flipH="1" flipV="1">
              <a:off x="5890105" y="263158"/>
              <a:ext cx="46273" cy="329726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cxnSp>
          <p:nvCxnSpPr>
            <p:cNvPr id="608" name="Straight Arrow Connector 607">
              <a:extLst>
                <a:ext uri="{FF2B5EF4-FFF2-40B4-BE49-F238E27FC236}">
                  <a16:creationId xmlns:a16="http://schemas.microsoft.com/office/drawing/2014/main" id="{9D35092C-992A-E9E1-1F6B-900920CABE0C}"/>
                </a:ext>
              </a:extLst>
            </p:cNvPr>
            <p:cNvCxnSpPr>
              <a:endCxn id="609" idx="3"/>
            </p:cNvCxnSpPr>
            <p:nvPr/>
          </p:nvCxnSpPr>
          <p:spPr>
            <a:xfrm flipH="1">
              <a:off x="5013433" y="610046"/>
              <a:ext cx="895961" cy="5342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none"/>
            </a:ln>
            <a:effectLst/>
          </p:spPr>
        </p:cxn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44D701C4-F147-8178-C4E4-5DFA00D81D4D}"/>
                </a:ext>
              </a:extLst>
            </p:cNvPr>
            <p:cNvSpPr/>
            <p:nvPr/>
          </p:nvSpPr>
          <p:spPr>
            <a:xfrm>
              <a:off x="4958148" y="592528"/>
              <a:ext cx="55285" cy="45719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10" name="Straight Arrow Connector 609">
              <a:extLst>
                <a:ext uri="{FF2B5EF4-FFF2-40B4-BE49-F238E27FC236}">
                  <a16:creationId xmlns:a16="http://schemas.microsoft.com/office/drawing/2014/main" id="{80CF6EA1-52F4-540A-B278-DD1658516369}"/>
                </a:ext>
              </a:extLst>
            </p:cNvPr>
            <p:cNvCxnSpPr>
              <a:stCxn id="609" idx="1"/>
            </p:cNvCxnSpPr>
            <p:nvPr/>
          </p:nvCxnSpPr>
          <p:spPr>
            <a:xfrm flipH="1" flipV="1">
              <a:off x="4166468" y="277936"/>
              <a:ext cx="791680" cy="337452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DDB5E83F-1795-D913-75A3-A8F6B245F24D}"/>
                </a:ext>
              </a:extLst>
            </p:cNvPr>
            <p:cNvSpPr txBox="1"/>
            <p:nvPr/>
          </p:nvSpPr>
          <p:spPr>
            <a:xfrm>
              <a:off x="5685731" y="593476"/>
              <a:ext cx="36901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Funtua</a:t>
              </a:r>
            </a:p>
          </p:txBody>
        </p:sp>
        <p:sp>
          <p:nvSpPr>
            <p:cNvPr id="612" name="TextBox 611">
              <a:extLst>
                <a:ext uri="{FF2B5EF4-FFF2-40B4-BE49-F238E27FC236}">
                  <a16:creationId xmlns:a16="http://schemas.microsoft.com/office/drawing/2014/main" id="{898994E8-CDD7-8B3A-6B9E-FFC0343E0899}"/>
                </a:ext>
              </a:extLst>
            </p:cNvPr>
            <p:cNvSpPr txBox="1"/>
            <p:nvPr/>
          </p:nvSpPr>
          <p:spPr>
            <a:xfrm>
              <a:off x="5568313" y="163225"/>
              <a:ext cx="38183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Katsina</a:t>
              </a: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298009B-0A4A-88EF-87E5-4629DCDF16DF}"/>
                </a:ext>
              </a:extLst>
            </p:cNvPr>
            <p:cNvSpPr/>
            <p:nvPr/>
          </p:nvSpPr>
          <p:spPr>
            <a:xfrm>
              <a:off x="5864287" y="224494"/>
              <a:ext cx="55285" cy="45719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14" name="TextBox 613">
              <a:extLst>
                <a:ext uri="{FF2B5EF4-FFF2-40B4-BE49-F238E27FC236}">
                  <a16:creationId xmlns:a16="http://schemas.microsoft.com/office/drawing/2014/main" id="{DA9D2B2C-519B-8759-BE00-4872DB18D0DA}"/>
                </a:ext>
              </a:extLst>
            </p:cNvPr>
            <p:cNvSpPr txBox="1"/>
            <p:nvPr/>
          </p:nvSpPr>
          <p:spPr>
            <a:xfrm>
              <a:off x="4818808" y="455640"/>
              <a:ext cx="34977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Gusau</a:t>
              </a:r>
            </a:p>
          </p:txBody>
        </p:sp>
        <p:sp>
          <p:nvSpPr>
            <p:cNvPr id="615" name="TextBox 614">
              <a:extLst>
                <a:ext uri="{FF2B5EF4-FFF2-40B4-BE49-F238E27FC236}">
                  <a16:creationId xmlns:a16="http://schemas.microsoft.com/office/drawing/2014/main" id="{EADF91C2-7929-07A7-82C9-57D63CB91CC7}"/>
                </a:ext>
              </a:extLst>
            </p:cNvPr>
            <p:cNvSpPr txBox="1"/>
            <p:nvPr/>
          </p:nvSpPr>
          <p:spPr>
            <a:xfrm>
              <a:off x="3837981" y="189304"/>
              <a:ext cx="450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Sokoto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Others</a:t>
              </a: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6E17D4D2-04A1-7CFF-78BF-E4B6FD099521}"/>
                </a:ext>
              </a:extLst>
            </p:cNvPr>
            <p:cNvSpPr/>
            <p:nvPr/>
          </p:nvSpPr>
          <p:spPr>
            <a:xfrm>
              <a:off x="7055351" y="1295165"/>
              <a:ext cx="83425" cy="77165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CA60CAA8-5F14-E48A-34A5-80C9B995724B}"/>
                </a:ext>
              </a:extLst>
            </p:cNvPr>
            <p:cNvSpPr/>
            <p:nvPr/>
          </p:nvSpPr>
          <p:spPr>
            <a:xfrm>
              <a:off x="7703715" y="788239"/>
              <a:ext cx="90415" cy="76248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3E2E830-985E-4000-9747-25F0178AAAC2}"/>
                </a:ext>
              </a:extLst>
            </p:cNvPr>
            <p:cNvSpPr/>
            <p:nvPr/>
          </p:nvSpPr>
          <p:spPr>
            <a:xfrm>
              <a:off x="6619632" y="1791223"/>
              <a:ext cx="93569" cy="96350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AFC314EF-141F-243E-1922-F4A56A5046A8}"/>
                </a:ext>
              </a:extLst>
            </p:cNvPr>
            <p:cNvCxnSpPr/>
            <p:nvPr/>
          </p:nvCxnSpPr>
          <p:spPr>
            <a:xfrm flipV="1">
              <a:off x="6695816" y="1298404"/>
              <a:ext cx="436130" cy="511043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none"/>
            </a:ln>
            <a:effectLst/>
          </p:spPr>
        </p:cxnSp>
        <p:cxnSp>
          <p:nvCxnSpPr>
            <p:cNvPr id="620" name="Straight Arrow Connector 619">
              <a:extLst>
                <a:ext uri="{FF2B5EF4-FFF2-40B4-BE49-F238E27FC236}">
                  <a16:creationId xmlns:a16="http://schemas.microsoft.com/office/drawing/2014/main" id="{100D3C51-F0CE-2A56-7AB5-B711AA307BD1}"/>
                </a:ext>
              </a:extLst>
            </p:cNvPr>
            <p:cNvCxnSpPr>
              <a:endCxn id="617" idx="1"/>
            </p:cNvCxnSpPr>
            <p:nvPr/>
          </p:nvCxnSpPr>
          <p:spPr>
            <a:xfrm flipV="1">
              <a:off x="7133439" y="826363"/>
              <a:ext cx="570276" cy="489588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none"/>
            </a:ln>
            <a:effectLst/>
          </p:spPr>
        </p:cxnSp>
        <p:cxnSp>
          <p:nvCxnSpPr>
            <p:cNvPr id="621" name="Straight Arrow Connector 620">
              <a:extLst>
                <a:ext uri="{FF2B5EF4-FFF2-40B4-BE49-F238E27FC236}">
                  <a16:creationId xmlns:a16="http://schemas.microsoft.com/office/drawing/2014/main" id="{C1C26E1F-D0F2-E900-78D2-3EAC1CB74832}"/>
                </a:ext>
              </a:extLst>
            </p:cNvPr>
            <p:cNvCxnSpPr>
              <a:stCxn id="617" idx="0"/>
            </p:cNvCxnSpPr>
            <p:nvPr/>
          </p:nvCxnSpPr>
          <p:spPr>
            <a:xfrm flipV="1">
              <a:off x="7748923" y="335492"/>
              <a:ext cx="673481" cy="452747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6FB14817-6F85-7F42-7257-21843FE2CA7B}"/>
                </a:ext>
              </a:extLst>
            </p:cNvPr>
            <p:cNvCxnSpPr>
              <a:cxnSpLocks/>
              <a:stCxn id="627" idx="1"/>
            </p:cNvCxnSpPr>
            <p:nvPr/>
          </p:nvCxnSpPr>
          <p:spPr>
            <a:xfrm flipV="1">
              <a:off x="6626914" y="1149961"/>
              <a:ext cx="1886347" cy="703709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23" name="TextBox 622">
              <a:extLst>
                <a:ext uri="{FF2B5EF4-FFF2-40B4-BE49-F238E27FC236}">
                  <a16:creationId xmlns:a16="http://schemas.microsoft.com/office/drawing/2014/main" id="{F52F002E-FD73-8475-6936-CF4C4DDCE3FA}"/>
                </a:ext>
              </a:extLst>
            </p:cNvPr>
            <p:cNvSpPr txBox="1"/>
            <p:nvPr/>
          </p:nvSpPr>
          <p:spPr>
            <a:xfrm>
              <a:off x="8410709" y="1056118"/>
              <a:ext cx="30168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Yola</a:t>
              </a:r>
            </a:p>
          </p:txBody>
        </p:sp>
        <p:sp>
          <p:nvSpPr>
            <p:cNvPr id="624" name="TextBox 623">
              <a:extLst>
                <a:ext uri="{FF2B5EF4-FFF2-40B4-BE49-F238E27FC236}">
                  <a16:creationId xmlns:a16="http://schemas.microsoft.com/office/drawing/2014/main" id="{D9950E99-CBF6-3289-9823-AA4CC6EB617C}"/>
                </a:ext>
              </a:extLst>
            </p:cNvPr>
            <p:cNvSpPr txBox="1"/>
            <p:nvPr/>
          </p:nvSpPr>
          <p:spPr>
            <a:xfrm>
              <a:off x="8208969" y="215858"/>
              <a:ext cx="45878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Maiduguri</a:t>
              </a:r>
            </a:p>
          </p:txBody>
        </p:sp>
        <p:cxnSp>
          <p:nvCxnSpPr>
            <p:cNvPr id="625" name="Straight Arrow Connector 624">
              <a:extLst>
                <a:ext uri="{FF2B5EF4-FFF2-40B4-BE49-F238E27FC236}">
                  <a16:creationId xmlns:a16="http://schemas.microsoft.com/office/drawing/2014/main" id="{F1C66849-D08A-7EC5-748E-E9D0570F8632}"/>
                </a:ext>
              </a:extLst>
            </p:cNvPr>
            <p:cNvCxnSpPr>
              <a:stCxn id="617" idx="1"/>
            </p:cNvCxnSpPr>
            <p:nvPr/>
          </p:nvCxnSpPr>
          <p:spPr>
            <a:xfrm flipH="1" flipV="1">
              <a:off x="7159771" y="430819"/>
              <a:ext cx="543944" cy="395544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13557940-CD45-7447-1618-C7238A92D28B}"/>
                </a:ext>
              </a:extLst>
            </p:cNvPr>
            <p:cNvSpPr txBox="1"/>
            <p:nvPr/>
          </p:nvSpPr>
          <p:spPr>
            <a:xfrm>
              <a:off x="6947063" y="1170983"/>
              <a:ext cx="2664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Jos</a:t>
              </a:r>
            </a:p>
          </p:txBody>
        </p:sp>
        <p:sp>
          <p:nvSpPr>
            <p:cNvPr id="627" name="TextBox 626">
              <a:extLst>
                <a:ext uri="{FF2B5EF4-FFF2-40B4-BE49-F238E27FC236}">
                  <a16:creationId xmlns:a16="http://schemas.microsoft.com/office/drawing/2014/main" id="{76693108-4FF9-F608-3200-9745D0E624A0}"/>
                </a:ext>
              </a:extLst>
            </p:cNvPr>
            <p:cNvSpPr txBox="1"/>
            <p:nvPr/>
          </p:nvSpPr>
          <p:spPr>
            <a:xfrm>
              <a:off x="6626914" y="1769031"/>
              <a:ext cx="40908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Makurdi</a:t>
              </a:r>
            </a:p>
          </p:txBody>
        </p:sp>
        <p:sp>
          <p:nvSpPr>
            <p:cNvPr id="628" name="TextBox 627">
              <a:extLst>
                <a:ext uri="{FF2B5EF4-FFF2-40B4-BE49-F238E27FC236}">
                  <a16:creationId xmlns:a16="http://schemas.microsoft.com/office/drawing/2014/main" id="{6CA2015C-DA1F-0FAB-E7C5-EBDE39CBEFAC}"/>
                </a:ext>
              </a:extLst>
            </p:cNvPr>
            <p:cNvSpPr txBox="1"/>
            <p:nvPr/>
          </p:nvSpPr>
          <p:spPr>
            <a:xfrm>
              <a:off x="7558253" y="833292"/>
              <a:ext cx="36260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Bauchi</a:t>
              </a:r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51688D1B-0930-E61B-D102-C5DE4E91078B}"/>
                </a:ext>
              </a:extLst>
            </p:cNvPr>
            <p:cNvSpPr/>
            <p:nvPr/>
          </p:nvSpPr>
          <p:spPr>
            <a:xfrm>
              <a:off x="7924993" y="596565"/>
              <a:ext cx="90415" cy="76248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C27D6D1D-F377-FAE2-3EA3-058646951BA4}"/>
                </a:ext>
              </a:extLst>
            </p:cNvPr>
            <p:cNvSpPr txBox="1"/>
            <p:nvPr/>
          </p:nvSpPr>
          <p:spPr>
            <a:xfrm>
              <a:off x="7837291" y="625553"/>
              <a:ext cx="3786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Gombe</a:t>
              </a:r>
            </a:p>
          </p:txBody>
        </p:sp>
        <p:cxnSp>
          <p:nvCxnSpPr>
            <p:cNvPr id="631" name="Straight Arrow Connector 630">
              <a:extLst>
                <a:ext uri="{FF2B5EF4-FFF2-40B4-BE49-F238E27FC236}">
                  <a16:creationId xmlns:a16="http://schemas.microsoft.com/office/drawing/2014/main" id="{D05322EF-C263-48D9-3654-013772B9E680}"/>
                </a:ext>
              </a:extLst>
            </p:cNvPr>
            <p:cNvCxnSpPr/>
            <p:nvPr/>
          </p:nvCxnSpPr>
          <p:spPr>
            <a:xfrm flipH="1" flipV="1">
              <a:off x="7836477" y="472061"/>
              <a:ext cx="89551" cy="122085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54E0BAB8-C6F7-748D-EBB6-2EA031900B2F}"/>
                </a:ext>
              </a:extLst>
            </p:cNvPr>
            <p:cNvSpPr/>
            <p:nvPr/>
          </p:nvSpPr>
          <p:spPr>
            <a:xfrm>
              <a:off x="6783259" y="2026485"/>
              <a:ext cx="151250" cy="122719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7D28317C-6437-FCDD-40AA-BF2996167464}"/>
                </a:ext>
              </a:extLst>
            </p:cNvPr>
            <p:cNvSpPr/>
            <p:nvPr/>
          </p:nvSpPr>
          <p:spPr>
            <a:xfrm>
              <a:off x="7708857" y="328000"/>
              <a:ext cx="151250" cy="122719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34" name="Straight Arrow Connector 633">
              <a:extLst>
                <a:ext uri="{FF2B5EF4-FFF2-40B4-BE49-F238E27FC236}">
                  <a16:creationId xmlns:a16="http://schemas.microsoft.com/office/drawing/2014/main" id="{ADE76B69-94F7-BDE6-70EE-522BC32DBF36}"/>
                </a:ext>
              </a:extLst>
            </p:cNvPr>
            <p:cNvCxnSpPr/>
            <p:nvPr/>
          </p:nvCxnSpPr>
          <p:spPr>
            <a:xfrm>
              <a:off x="6677497" y="1865528"/>
              <a:ext cx="135640" cy="20833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67ED05FB-85EE-75F6-676A-AF3F153A90AD}"/>
                </a:ext>
              </a:extLst>
            </p:cNvPr>
            <p:cNvSpPr txBox="1"/>
            <p:nvPr/>
          </p:nvSpPr>
          <p:spPr>
            <a:xfrm>
              <a:off x="6849354" y="1971804"/>
              <a:ext cx="3914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Benue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</a:t>
              </a:r>
            </a:p>
          </p:txBody>
        </p:sp>
        <p:sp>
          <p:nvSpPr>
            <p:cNvPr id="636" name="TextBox 635">
              <a:extLst>
                <a:ext uri="{FF2B5EF4-FFF2-40B4-BE49-F238E27FC236}">
                  <a16:creationId xmlns:a16="http://schemas.microsoft.com/office/drawing/2014/main" id="{9B83263B-EC78-C7D6-D3BE-DDFEEBCC58EC}"/>
                </a:ext>
              </a:extLst>
            </p:cNvPr>
            <p:cNvSpPr txBox="1"/>
            <p:nvPr/>
          </p:nvSpPr>
          <p:spPr>
            <a:xfrm>
              <a:off x="7740802" y="198897"/>
              <a:ext cx="3914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Ashaka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Cement</a:t>
              </a:r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0D3C78CA-8E05-63F1-9629-A710E09AB5DE}"/>
                </a:ext>
              </a:extLst>
            </p:cNvPr>
            <p:cNvSpPr/>
            <p:nvPr/>
          </p:nvSpPr>
          <p:spPr>
            <a:xfrm>
              <a:off x="3980678" y="103325"/>
              <a:ext cx="151250" cy="122719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1329EA6-A358-937D-CAD6-B0211AB606CF}"/>
                </a:ext>
              </a:extLst>
            </p:cNvPr>
            <p:cNvCxnSpPr/>
            <p:nvPr/>
          </p:nvCxnSpPr>
          <p:spPr>
            <a:xfrm>
              <a:off x="7751246" y="2954600"/>
              <a:ext cx="335927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39" name="TextBox 638">
              <a:extLst>
                <a:ext uri="{FF2B5EF4-FFF2-40B4-BE49-F238E27FC236}">
                  <a16:creationId xmlns:a16="http://schemas.microsoft.com/office/drawing/2014/main" id="{AC36F4AF-8317-6341-C0DD-C2AF3F4F1965}"/>
                </a:ext>
              </a:extLst>
            </p:cNvPr>
            <p:cNvSpPr txBox="1"/>
            <p:nvPr/>
          </p:nvSpPr>
          <p:spPr>
            <a:xfrm>
              <a:off x="8026292" y="2858056"/>
              <a:ext cx="146226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Future gas Infrastructure (Not included in TNGP)</a:t>
              </a:r>
            </a:p>
          </p:txBody>
        </p:sp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91CD03C4-CCA8-F76C-DC2A-D94BD84C95F1}"/>
                </a:ext>
              </a:extLst>
            </p:cNvPr>
            <p:cNvSpPr txBox="1"/>
            <p:nvPr/>
          </p:nvSpPr>
          <p:spPr>
            <a:xfrm rot="5400000">
              <a:off x="7874614" y="5368066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 X 62 Km</a:t>
              </a:r>
            </a:p>
          </p:txBody>
        </p: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51102897-561E-23D9-0EA1-263193554CFC}"/>
                </a:ext>
              </a:extLst>
            </p:cNvPr>
            <p:cNvSpPr txBox="1"/>
            <p:nvPr/>
          </p:nvSpPr>
          <p:spPr>
            <a:xfrm rot="19449346">
              <a:off x="8009252" y="5516152"/>
              <a:ext cx="44275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63 Km</a:t>
              </a:r>
            </a:p>
          </p:txBody>
        </p:sp>
        <p:sp>
          <p:nvSpPr>
            <p:cNvPr id="642" name="TextBox 641">
              <a:extLst>
                <a:ext uri="{FF2B5EF4-FFF2-40B4-BE49-F238E27FC236}">
                  <a16:creationId xmlns:a16="http://schemas.microsoft.com/office/drawing/2014/main" id="{F652A410-C1B3-69A5-A91A-A5CDC85AA633}"/>
                </a:ext>
              </a:extLst>
            </p:cNvPr>
            <p:cNvSpPr txBox="1"/>
            <p:nvPr/>
          </p:nvSpPr>
          <p:spPr>
            <a:xfrm>
              <a:off x="7939463" y="6030612"/>
              <a:ext cx="6452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Utapate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OML 13</a:t>
              </a:r>
            </a:p>
          </p:txBody>
        </p:sp>
        <p:sp>
          <p:nvSpPr>
            <p:cNvPr id="643" name="TextBox 642">
              <a:extLst>
                <a:ext uri="{FF2B5EF4-FFF2-40B4-BE49-F238E27FC236}">
                  <a16:creationId xmlns:a16="http://schemas.microsoft.com/office/drawing/2014/main" id="{06E96429-961E-71E6-9E65-AFFF9EE35670}"/>
                </a:ext>
              </a:extLst>
            </p:cNvPr>
            <p:cNvSpPr txBox="1"/>
            <p:nvPr/>
          </p:nvSpPr>
          <p:spPr>
            <a:xfrm>
              <a:off x="323101" y="6365760"/>
              <a:ext cx="24878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644" name="TextBox 643">
              <a:extLst>
                <a:ext uri="{FF2B5EF4-FFF2-40B4-BE49-F238E27FC236}">
                  <a16:creationId xmlns:a16="http://schemas.microsoft.com/office/drawing/2014/main" id="{E6D93B3B-C7F1-1F60-08E7-B945C53A9A9C}"/>
                </a:ext>
              </a:extLst>
            </p:cNvPr>
            <p:cNvSpPr txBox="1"/>
            <p:nvPr/>
          </p:nvSpPr>
          <p:spPr>
            <a:xfrm>
              <a:off x="480076" y="6345840"/>
              <a:ext cx="1162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Compressor Station (planned) </a:t>
              </a:r>
            </a:p>
          </p:txBody>
        </p:sp>
        <p:cxnSp>
          <p:nvCxnSpPr>
            <p:cNvPr id="645" name="Straight Arrow Connector 644">
              <a:extLst>
                <a:ext uri="{FF2B5EF4-FFF2-40B4-BE49-F238E27FC236}">
                  <a16:creationId xmlns:a16="http://schemas.microsoft.com/office/drawing/2014/main" id="{52E4FA5A-FD35-7BB6-2E5E-002FA45F6B73}"/>
                </a:ext>
              </a:extLst>
            </p:cNvPr>
            <p:cNvCxnSpPr/>
            <p:nvPr/>
          </p:nvCxnSpPr>
          <p:spPr>
            <a:xfrm flipV="1">
              <a:off x="7701664" y="2238175"/>
              <a:ext cx="394912" cy="4118"/>
            </a:xfrm>
            <a:prstGeom prst="straightConnector1">
              <a:avLst/>
            </a:prstGeom>
            <a:noFill/>
            <a:ln w="19050" cap="flat" cmpd="dbl" algn="ctr">
              <a:solidFill>
                <a:srgbClr val="7030A0"/>
              </a:solidFill>
              <a:prstDash val="sysDash"/>
              <a:tailEnd type="triangle"/>
            </a:ln>
            <a:effectLst/>
          </p:spPr>
        </p:cxn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1D0F661A-3BFD-08D9-93C2-0CCBAA1C95B6}"/>
                </a:ext>
              </a:extLst>
            </p:cNvPr>
            <p:cNvSpPr txBox="1"/>
            <p:nvPr/>
          </p:nvSpPr>
          <p:spPr>
            <a:xfrm>
              <a:off x="8037065" y="2152896"/>
              <a:ext cx="13246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AKK Pipeline (TNGP): EPC on-going</a:t>
              </a:r>
            </a:p>
          </p:txBody>
        </p:sp>
        <p:sp>
          <p:nvSpPr>
            <p:cNvPr id="647" name="TextBox 646">
              <a:extLst>
                <a:ext uri="{FF2B5EF4-FFF2-40B4-BE49-F238E27FC236}">
                  <a16:creationId xmlns:a16="http://schemas.microsoft.com/office/drawing/2014/main" id="{CC43F85C-0C73-C061-0241-7F7DFA9231AD}"/>
                </a:ext>
              </a:extLst>
            </p:cNvPr>
            <p:cNvSpPr txBox="1"/>
            <p:nvPr/>
          </p:nvSpPr>
          <p:spPr>
            <a:xfrm>
              <a:off x="7760712" y="2969610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OML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XX</a:t>
              </a:r>
            </a:p>
          </p:txBody>
        </p:sp>
        <p:sp>
          <p:nvSpPr>
            <p:cNvPr id="648" name="Trapezoid 647">
              <a:extLst>
                <a:ext uri="{FF2B5EF4-FFF2-40B4-BE49-F238E27FC236}">
                  <a16:creationId xmlns:a16="http://schemas.microsoft.com/office/drawing/2014/main" id="{E4C04F48-2E2C-871B-0D3B-EB3A9B5CAAAA}"/>
                </a:ext>
              </a:extLst>
            </p:cNvPr>
            <p:cNvSpPr/>
            <p:nvPr/>
          </p:nvSpPr>
          <p:spPr>
            <a:xfrm rot="5400000">
              <a:off x="2620287" y="2082658"/>
              <a:ext cx="97795" cy="118641"/>
            </a:xfrm>
            <a:prstGeom prst="trapezoid">
              <a:avLst/>
            </a:prstGeom>
            <a:solidFill>
              <a:srgbClr val="FFFF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49" name="Straight Arrow Connector 648">
              <a:extLst>
                <a:ext uri="{FF2B5EF4-FFF2-40B4-BE49-F238E27FC236}">
                  <a16:creationId xmlns:a16="http://schemas.microsoft.com/office/drawing/2014/main" id="{9EF554A1-9BEC-351B-96EC-1C7B3DD8E63C}"/>
                </a:ext>
              </a:extLst>
            </p:cNvPr>
            <p:cNvCxnSpPr/>
            <p:nvPr/>
          </p:nvCxnSpPr>
          <p:spPr>
            <a:xfrm flipV="1">
              <a:off x="2700051" y="2174711"/>
              <a:ext cx="0" cy="55755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FF35920B-0E6E-CAF9-49C7-90D9BFD0E70F}"/>
                </a:ext>
              </a:extLst>
            </p:cNvPr>
            <p:cNvSpPr txBox="1"/>
            <p:nvPr/>
          </p:nvSpPr>
          <p:spPr>
            <a:xfrm>
              <a:off x="2541135" y="2071057"/>
              <a:ext cx="22313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24E9C93A-041D-3195-C1AD-63CD772C3EA5}"/>
                </a:ext>
              </a:extLst>
            </p:cNvPr>
            <p:cNvSpPr txBox="1"/>
            <p:nvPr/>
          </p:nvSpPr>
          <p:spPr>
            <a:xfrm>
              <a:off x="2538834" y="1957703"/>
              <a:ext cx="28886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NGC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Sapele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4DE27E1-5C6A-E9E6-E384-37C3FD30E276}"/>
                </a:ext>
              </a:extLst>
            </p:cNvPr>
            <p:cNvSpPr txBox="1"/>
            <p:nvPr/>
          </p:nvSpPr>
          <p:spPr>
            <a:xfrm rot="19658503">
              <a:off x="6546042" y="647233"/>
              <a:ext cx="48282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X 17.3 Km</a:t>
              </a: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B179BB27-E54A-C546-C230-EC9A1D195CEE}"/>
                </a:ext>
              </a:extLst>
            </p:cNvPr>
            <p:cNvSpPr/>
            <p:nvPr/>
          </p:nvSpPr>
          <p:spPr>
            <a:xfrm>
              <a:off x="7572943" y="547065"/>
              <a:ext cx="240054" cy="11088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rgbClr val="C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EA4378D9-53D7-8356-EFA0-423BA0F07882}"/>
                </a:ext>
              </a:extLst>
            </p:cNvPr>
            <p:cNvSpPr txBox="1"/>
            <p:nvPr/>
          </p:nvSpPr>
          <p:spPr>
            <a:xfrm>
              <a:off x="7525154" y="494520"/>
              <a:ext cx="3609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Kolmani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655" name="Straight Arrow Connector 654">
              <a:extLst>
                <a:ext uri="{FF2B5EF4-FFF2-40B4-BE49-F238E27FC236}">
                  <a16:creationId xmlns:a16="http://schemas.microsoft.com/office/drawing/2014/main" id="{CFA2D6DF-5DC9-9480-C3D3-11E0CA43D0BE}"/>
                </a:ext>
              </a:extLst>
            </p:cNvPr>
            <p:cNvCxnSpPr/>
            <p:nvPr/>
          </p:nvCxnSpPr>
          <p:spPr>
            <a:xfrm>
              <a:off x="7708362" y="660549"/>
              <a:ext cx="28340" cy="144096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tailEnd type="triangle"/>
            </a:ln>
            <a:effectLst/>
          </p:spPr>
        </p:cxn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A34FD5F6-0311-0455-0447-5429CA0EBD10}"/>
                </a:ext>
              </a:extLst>
            </p:cNvPr>
            <p:cNvSpPr txBox="1"/>
            <p:nvPr/>
          </p:nvSpPr>
          <p:spPr>
            <a:xfrm>
              <a:off x="1735929" y="5209262"/>
              <a:ext cx="40750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OML 140</a:t>
              </a:r>
            </a:p>
          </p:txBody>
        </p:sp>
        <p:sp>
          <p:nvSpPr>
            <p:cNvPr id="657" name="Trapezoid 656">
              <a:extLst>
                <a:ext uri="{FF2B5EF4-FFF2-40B4-BE49-F238E27FC236}">
                  <a16:creationId xmlns:a16="http://schemas.microsoft.com/office/drawing/2014/main" id="{008E4B90-390F-726E-3841-312B87F6EBBC}"/>
                </a:ext>
              </a:extLst>
            </p:cNvPr>
            <p:cNvSpPr/>
            <p:nvPr/>
          </p:nvSpPr>
          <p:spPr>
            <a:xfrm rot="5400000">
              <a:off x="2777902" y="2507894"/>
              <a:ext cx="104091" cy="123322"/>
            </a:xfrm>
            <a:prstGeom prst="trapezoid">
              <a:avLst/>
            </a:prstGeom>
            <a:solidFill>
              <a:srgbClr val="FFFF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FFAD46C7-182E-350B-A106-9446EC8E9151}"/>
                </a:ext>
              </a:extLst>
            </p:cNvPr>
            <p:cNvCxnSpPr/>
            <p:nvPr/>
          </p:nvCxnSpPr>
          <p:spPr>
            <a:xfrm flipH="1">
              <a:off x="2857267" y="2610495"/>
              <a:ext cx="0" cy="799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980EC627-070E-3A82-737F-850A06C40B7F}"/>
                </a:ext>
              </a:extLst>
            </p:cNvPr>
            <p:cNvSpPr txBox="1"/>
            <p:nvPr/>
          </p:nvSpPr>
          <p:spPr>
            <a:xfrm>
              <a:off x="2698369" y="2491095"/>
              <a:ext cx="23596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CS</a:t>
              </a:r>
            </a:p>
          </p:txBody>
        </p:sp>
        <p:sp>
          <p:nvSpPr>
            <p:cNvPr id="660" name="TextBox 659">
              <a:extLst>
                <a:ext uri="{FF2B5EF4-FFF2-40B4-BE49-F238E27FC236}">
                  <a16:creationId xmlns:a16="http://schemas.microsoft.com/office/drawing/2014/main" id="{6A9B08DD-8B26-F0DA-2BC5-3A305C0EB575}"/>
                </a:ext>
              </a:extLst>
            </p:cNvPr>
            <p:cNvSpPr txBox="1"/>
            <p:nvPr/>
          </p:nvSpPr>
          <p:spPr>
            <a:xfrm>
              <a:off x="2804967" y="2428081"/>
              <a:ext cx="27122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NGC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Oben</a:t>
              </a:r>
            </a:p>
          </p:txBody>
        </p:sp>
        <p:sp>
          <p:nvSpPr>
            <p:cNvPr id="661" name="TextBox 660">
              <a:extLst>
                <a:ext uri="{FF2B5EF4-FFF2-40B4-BE49-F238E27FC236}">
                  <a16:creationId xmlns:a16="http://schemas.microsoft.com/office/drawing/2014/main" id="{330C315C-7092-A1AA-2FD9-B1E7D6A8672A}"/>
                </a:ext>
              </a:extLst>
            </p:cNvPr>
            <p:cNvSpPr txBox="1"/>
            <p:nvPr/>
          </p:nvSpPr>
          <p:spPr>
            <a:xfrm>
              <a:off x="628542" y="2602683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cxnSp>
          <p:nvCxnSpPr>
            <p:cNvPr id="662" name="Straight Arrow Connector 661">
              <a:extLst>
                <a:ext uri="{FF2B5EF4-FFF2-40B4-BE49-F238E27FC236}">
                  <a16:creationId xmlns:a16="http://schemas.microsoft.com/office/drawing/2014/main" id="{75554039-6852-6E80-BDE1-8A6EE046022E}"/>
                </a:ext>
              </a:extLst>
            </p:cNvPr>
            <p:cNvCxnSpPr/>
            <p:nvPr/>
          </p:nvCxnSpPr>
          <p:spPr>
            <a:xfrm>
              <a:off x="821147" y="3437563"/>
              <a:ext cx="18928" cy="20017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7F889B6E-66DA-D83E-5F96-B1AAB3D43FDC}"/>
                </a:ext>
              </a:extLst>
            </p:cNvPr>
            <p:cNvCxnSpPr/>
            <p:nvPr/>
          </p:nvCxnSpPr>
          <p:spPr>
            <a:xfrm>
              <a:off x="838711" y="3634321"/>
              <a:ext cx="121342" cy="8024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/>
          </p:spPr>
        </p:cxnSp>
        <p:sp>
          <p:nvSpPr>
            <p:cNvPr id="664" name="Isosceles Triangle 663">
              <a:extLst>
                <a:ext uri="{FF2B5EF4-FFF2-40B4-BE49-F238E27FC236}">
                  <a16:creationId xmlns:a16="http://schemas.microsoft.com/office/drawing/2014/main" id="{D8783C6C-7D97-09DA-E28C-E10F018C09B6}"/>
                </a:ext>
              </a:extLst>
            </p:cNvPr>
            <p:cNvSpPr/>
            <p:nvPr/>
          </p:nvSpPr>
          <p:spPr>
            <a:xfrm>
              <a:off x="664945" y="3736354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65" name="Isosceles Triangle 664">
              <a:extLst>
                <a:ext uri="{FF2B5EF4-FFF2-40B4-BE49-F238E27FC236}">
                  <a16:creationId xmlns:a16="http://schemas.microsoft.com/office/drawing/2014/main" id="{3A2FC06A-A027-B7AA-13E9-B2FEA96FD353}"/>
                </a:ext>
              </a:extLst>
            </p:cNvPr>
            <p:cNvSpPr/>
            <p:nvPr/>
          </p:nvSpPr>
          <p:spPr>
            <a:xfrm>
              <a:off x="782441" y="3709146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66" name="Isosceles Triangle 665">
              <a:extLst>
                <a:ext uri="{FF2B5EF4-FFF2-40B4-BE49-F238E27FC236}">
                  <a16:creationId xmlns:a16="http://schemas.microsoft.com/office/drawing/2014/main" id="{29C51461-7108-CBB1-DA94-2E0C5C7C96B9}"/>
                </a:ext>
              </a:extLst>
            </p:cNvPr>
            <p:cNvSpPr/>
            <p:nvPr/>
          </p:nvSpPr>
          <p:spPr>
            <a:xfrm>
              <a:off x="962401" y="3637714"/>
              <a:ext cx="91916" cy="78061"/>
            </a:xfrm>
            <a:prstGeom prst="triangle">
              <a:avLst/>
            </a:prstGeom>
            <a:solidFill>
              <a:srgbClr val="1F05BD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70E9ACF2-09F6-4C6C-4AAA-550A01485D3C}"/>
                </a:ext>
              </a:extLst>
            </p:cNvPr>
            <p:cNvSpPr txBox="1"/>
            <p:nvPr/>
          </p:nvSpPr>
          <p:spPr>
            <a:xfrm>
              <a:off x="812446" y="3670735"/>
              <a:ext cx="40267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Falcon MS</a:t>
              </a:r>
            </a:p>
          </p:txBody>
        </p:sp>
        <p:sp>
          <p:nvSpPr>
            <p:cNvPr id="668" name="TextBox 667">
              <a:extLst>
                <a:ext uri="{FF2B5EF4-FFF2-40B4-BE49-F238E27FC236}">
                  <a16:creationId xmlns:a16="http://schemas.microsoft.com/office/drawing/2014/main" id="{C3F31C84-CAD3-A2C7-D74A-2DC07AA2CCAB}"/>
                </a:ext>
              </a:extLst>
            </p:cNvPr>
            <p:cNvSpPr txBox="1"/>
            <p:nvPr/>
          </p:nvSpPr>
          <p:spPr>
            <a:xfrm>
              <a:off x="686929" y="3753813"/>
              <a:ext cx="3497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PZ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Ikorodu</a:t>
              </a:r>
            </a:p>
          </p:txBody>
        </p:sp>
        <p:sp>
          <p:nvSpPr>
            <p:cNvPr id="669" name="TextBox 668">
              <a:extLst>
                <a:ext uri="{FF2B5EF4-FFF2-40B4-BE49-F238E27FC236}">
                  <a16:creationId xmlns:a16="http://schemas.microsoft.com/office/drawing/2014/main" id="{12B3FAFD-0D6B-6A53-0189-7E8BFC9FAE1A}"/>
                </a:ext>
              </a:extLst>
            </p:cNvPr>
            <p:cNvSpPr txBox="1"/>
            <p:nvPr/>
          </p:nvSpPr>
          <p:spPr>
            <a:xfrm>
              <a:off x="560786" y="3777396"/>
              <a:ext cx="2872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Ikeja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(LIA)</a:t>
              </a:r>
            </a:p>
          </p:txBody>
        </p:sp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1369E150-C77F-4BA9-E79A-C988F70128EA}"/>
                </a:ext>
              </a:extLst>
            </p:cNvPr>
            <p:cNvSpPr txBox="1"/>
            <p:nvPr/>
          </p:nvSpPr>
          <p:spPr>
            <a:xfrm>
              <a:off x="397976" y="2764342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</a:t>
              </a:r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0E82AF05-2AC0-9ACB-1823-F188526068D9}"/>
                </a:ext>
              </a:extLst>
            </p:cNvPr>
            <p:cNvSpPr txBox="1"/>
            <p:nvPr/>
          </p:nvSpPr>
          <p:spPr>
            <a:xfrm>
              <a:off x="568522" y="1994547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</a:t>
              </a:r>
            </a:p>
          </p:txBody>
        </p: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325E7406-CE2F-7AEC-2451-90223EA175C0}"/>
                </a:ext>
              </a:extLst>
            </p:cNvPr>
            <p:cNvSpPr txBox="1"/>
            <p:nvPr/>
          </p:nvSpPr>
          <p:spPr>
            <a:xfrm>
              <a:off x="628778" y="1821600"/>
              <a:ext cx="243978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4”</a:t>
              </a:r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57AE5FEF-9D83-67CC-710D-1ECF5C87404A}"/>
                </a:ext>
              </a:extLst>
            </p:cNvPr>
            <p:cNvSpPr txBox="1"/>
            <p:nvPr/>
          </p:nvSpPr>
          <p:spPr>
            <a:xfrm>
              <a:off x="267685" y="3583387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30”</a:t>
              </a:r>
            </a:p>
          </p:txBody>
        </p:sp>
        <p:sp>
          <p:nvSpPr>
            <p:cNvPr id="674" name="TextBox 673">
              <a:extLst>
                <a:ext uri="{FF2B5EF4-FFF2-40B4-BE49-F238E27FC236}">
                  <a16:creationId xmlns:a16="http://schemas.microsoft.com/office/drawing/2014/main" id="{19BC0ACE-10B4-B827-8EDD-F80EFB2F0948}"/>
                </a:ext>
              </a:extLst>
            </p:cNvPr>
            <p:cNvSpPr txBox="1"/>
            <p:nvPr/>
          </p:nvSpPr>
          <p:spPr>
            <a:xfrm>
              <a:off x="860989" y="2921097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30”</a:t>
              </a:r>
            </a:p>
          </p:txBody>
        </p:sp>
        <p:sp>
          <p:nvSpPr>
            <p:cNvPr id="675" name="TextBox 674">
              <a:extLst>
                <a:ext uri="{FF2B5EF4-FFF2-40B4-BE49-F238E27FC236}">
                  <a16:creationId xmlns:a16="http://schemas.microsoft.com/office/drawing/2014/main" id="{3935CBED-113F-9EDC-EB19-A706B0A194D0}"/>
                </a:ext>
              </a:extLst>
            </p:cNvPr>
            <p:cNvSpPr txBox="1"/>
            <p:nvPr/>
          </p:nvSpPr>
          <p:spPr>
            <a:xfrm>
              <a:off x="1133422" y="3284943"/>
              <a:ext cx="27222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</a:t>
              </a:r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BEE46E73-004B-1DDC-FB8F-853B35916379}"/>
                </a:ext>
              </a:extLst>
            </p:cNvPr>
            <p:cNvSpPr txBox="1"/>
            <p:nvPr/>
          </p:nvSpPr>
          <p:spPr>
            <a:xfrm>
              <a:off x="761870" y="3550199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12”</a:t>
              </a:r>
            </a:p>
          </p:txBody>
        </p:sp>
        <p:sp>
          <p:nvSpPr>
            <p:cNvPr id="677" name="TextBox 676">
              <a:extLst>
                <a:ext uri="{FF2B5EF4-FFF2-40B4-BE49-F238E27FC236}">
                  <a16:creationId xmlns:a16="http://schemas.microsoft.com/office/drawing/2014/main" id="{52CBF29C-8590-6D89-990E-F0857FAD2B57}"/>
                </a:ext>
              </a:extLst>
            </p:cNvPr>
            <p:cNvSpPr txBox="1"/>
            <p:nvPr/>
          </p:nvSpPr>
          <p:spPr>
            <a:xfrm>
              <a:off x="655053" y="3502183"/>
              <a:ext cx="219932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4”</a:t>
              </a:r>
            </a:p>
          </p:txBody>
        </p:sp>
        <p:sp>
          <p:nvSpPr>
            <p:cNvPr id="678" name="TextBox 677">
              <a:extLst>
                <a:ext uri="{FF2B5EF4-FFF2-40B4-BE49-F238E27FC236}">
                  <a16:creationId xmlns:a16="http://schemas.microsoft.com/office/drawing/2014/main" id="{990E20F4-3DD1-424B-383B-7BEDE4AD74DE}"/>
                </a:ext>
              </a:extLst>
            </p:cNvPr>
            <p:cNvSpPr txBox="1"/>
            <p:nvPr/>
          </p:nvSpPr>
          <p:spPr>
            <a:xfrm>
              <a:off x="551177" y="3534037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14”</a:t>
              </a:r>
            </a:p>
          </p:txBody>
        </p:sp>
        <p:sp>
          <p:nvSpPr>
            <p:cNvPr id="679" name="TextBox 678">
              <a:extLst>
                <a:ext uri="{FF2B5EF4-FFF2-40B4-BE49-F238E27FC236}">
                  <a16:creationId xmlns:a16="http://schemas.microsoft.com/office/drawing/2014/main" id="{BFF3B8DF-F3C0-7273-70CA-9458E56E63CE}"/>
                </a:ext>
              </a:extLst>
            </p:cNvPr>
            <p:cNvSpPr txBox="1"/>
            <p:nvPr/>
          </p:nvSpPr>
          <p:spPr>
            <a:xfrm>
              <a:off x="362072" y="3591081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12”</a:t>
              </a:r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C86FAC85-118C-A9F4-ACEB-3AD8A42CAB4A}"/>
                </a:ext>
              </a:extLst>
            </p:cNvPr>
            <p:cNvSpPr txBox="1"/>
            <p:nvPr/>
          </p:nvSpPr>
          <p:spPr>
            <a:xfrm>
              <a:off x="1621702" y="3201901"/>
              <a:ext cx="25840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</a:t>
              </a: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03D73E66-1D0E-AEF6-A5EA-AD203A7AB80A}"/>
                </a:ext>
              </a:extLst>
            </p:cNvPr>
            <p:cNvSpPr txBox="1"/>
            <p:nvPr/>
          </p:nvSpPr>
          <p:spPr>
            <a:xfrm>
              <a:off x="1917707" y="3314143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20”</a:t>
              </a:r>
            </a:p>
          </p:txBody>
        </p:sp>
        <p:sp>
          <p:nvSpPr>
            <p:cNvPr id="682" name="TextBox 681">
              <a:extLst>
                <a:ext uri="{FF2B5EF4-FFF2-40B4-BE49-F238E27FC236}">
                  <a16:creationId xmlns:a16="http://schemas.microsoft.com/office/drawing/2014/main" id="{02320FDF-C3CD-25B1-287A-1D254D031BC9}"/>
                </a:ext>
              </a:extLst>
            </p:cNvPr>
            <p:cNvSpPr txBox="1"/>
            <p:nvPr/>
          </p:nvSpPr>
          <p:spPr>
            <a:xfrm>
              <a:off x="2050468" y="3237436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</a:t>
              </a:r>
            </a:p>
          </p:txBody>
        </p:sp>
        <p:sp>
          <p:nvSpPr>
            <p:cNvPr id="683" name="TextBox 682">
              <a:extLst>
                <a:ext uri="{FF2B5EF4-FFF2-40B4-BE49-F238E27FC236}">
                  <a16:creationId xmlns:a16="http://schemas.microsoft.com/office/drawing/2014/main" id="{4C487965-520F-E194-BCFC-CC05AFD259BA}"/>
                </a:ext>
              </a:extLst>
            </p:cNvPr>
            <p:cNvSpPr txBox="1"/>
            <p:nvPr/>
          </p:nvSpPr>
          <p:spPr>
            <a:xfrm>
              <a:off x="2163652" y="3197275"/>
              <a:ext cx="219932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6”</a:t>
              </a:r>
            </a:p>
          </p:txBody>
        </p:sp>
        <p:sp>
          <p:nvSpPr>
            <p:cNvPr id="684" name="TextBox 683">
              <a:extLst>
                <a:ext uri="{FF2B5EF4-FFF2-40B4-BE49-F238E27FC236}">
                  <a16:creationId xmlns:a16="http://schemas.microsoft.com/office/drawing/2014/main" id="{043F2B9E-A2FF-5796-C5ED-6ED76AE0A8E2}"/>
                </a:ext>
              </a:extLst>
            </p:cNvPr>
            <p:cNvSpPr txBox="1"/>
            <p:nvPr/>
          </p:nvSpPr>
          <p:spPr>
            <a:xfrm>
              <a:off x="2230565" y="3255010"/>
              <a:ext cx="219932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8”</a:t>
              </a:r>
            </a:p>
          </p:txBody>
        </p:sp>
        <p:sp>
          <p:nvSpPr>
            <p:cNvPr id="685" name="TextBox 684">
              <a:extLst>
                <a:ext uri="{FF2B5EF4-FFF2-40B4-BE49-F238E27FC236}">
                  <a16:creationId xmlns:a16="http://schemas.microsoft.com/office/drawing/2014/main" id="{9D2EE285-CD0F-80E5-2FF7-33DB49EF791C}"/>
                </a:ext>
              </a:extLst>
            </p:cNvPr>
            <p:cNvSpPr txBox="1"/>
            <p:nvPr/>
          </p:nvSpPr>
          <p:spPr>
            <a:xfrm>
              <a:off x="2508534" y="3072103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</a:t>
              </a:r>
            </a:p>
          </p:txBody>
        </p:sp>
        <p:sp>
          <p:nvSpPr>
            <p:cNvPr id="686" name="TextBox 685">
              <a:extLst>
                <a:ext uri="{FF2B5EF4-FFF2-40B4-BE49-F238E27FC236}">
                  <a16:creationId xmlns:a16="http://schemas.microsoft.com/office/drawing/2014/main" id="{2D7A0F45-4531-AB76-98B6-4B00CBB90FAE}"/>
                </a:ext>
              </a:extLst>
            </p:cNvPr>
            <p:cNvSpPr txBox="1"/>
            <p:nvPr/>
          </p:nvSpPr>
          <p:spPr>
            <a:xfrm>
              <a:off x="2694472" y="3289009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18”</a:t>
              </a:r>
            </a:p>
          </p:txBody>
        </p:sp>
        <p:sp>
          <p:nvSpPr>
            <p:cNvPr id="687" name="TextBox 686">
              <a:extLst>
                <a:ext uri="{FF2B5EF4-FFF2-40B4-BE49-F238E27FC236}">
                  <a16:creationId xmlns:a16="http://schemas.microsoft.com/office/drawing/2014/main" id="{659FFC48-980D-5D09-9E2E-5871A43D7208}"/>
                </a:ext>
              </a:extLst>
            </p:cNvPr>
            <p:cNvSpPr txBox="1"/>
            <p:nvPr/>
          </p:nvSpPr>
          <p:spPr>
            <a:xfrm>
              <a:off x="3472701" y="4251452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12”</a:t>
              </a:r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022CAB87-3688-9B1F-329F-C8EE3A78A87E}"/>
                </a:ext>
              </a:extLst>
            </p:cNvPr>
            <p:cNvSpPr/>
            <p:nvPr/>
          </p:nvSpPr>
          <p:spPr>
            <a:xfrm>
              <a:off x="3661123" y="2979666"/>
              <a:ext cx="259014" cy="1325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689" name="TextBox 688">
              <a:extLst>
                <a:ext uri="{FF2B5EF4-FFF2-40B4-BE49-F238E27FC236}">
                  <a16:creationId xmlns:a16="http://schemas.microsoft.com/office/drawing/2014/main" id="{E3C31A2D-19B7-7341-542C-DAD8AD07A012}"/>
                </a:ext>
              </a:extLst>
            </p:cNvPr>
            <p:cNvSpPr txBox="1"/>
            <p:nvPr/>
          </p:nvSpPr>
          <p:spPr>
            <a:xfrm>
              <a:off x="3928316" y="2710139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Platform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PF</a:t>
              </a:r>
            </a:p>
          </p:txBody>
        </p:sp>
        <p:sp>
          <p:nvSpPr>
            <p:cNvPr id="690" name="TextBox 689">
              <a:extLst>
                <a:ext uri="{FF2B5EF4-FFF2-40B4-BE49-F238E27FC236}">
                  <a16:creationId xmlns:a16="http://schemas.microsoft.com/office/drawing/2014/main" id="{EF2FC562-785C-B404-A942-22B8F789899C}"/>
                </a:ext>
              </a:extLst>
            </p:cNvPr>
            <p:cNvSpPr txBox="1"/>
            <p:nvPr/>
          </p:nvSpPr>
          <p:spPr>
            <a:xfrm>
              <a:off x="3580512" y="2969593"/>
              <a:ext cx="397233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AHL GP-1</a:t>
              </a:r>
            </a:p>
          </p:txBody>
        </p:sp>
        <p:cxnSp>
          <p:nvCxnSpPr>
            <p:cNvPr id="691" name="Straight Arrow Connector 690">
              <a:extLst>
                <a:ext uri="{FF2B5EF4-FFF2-40B4-BE49-F238E27FC236}">
                  <a16:creationId xmlns:a16="http://schemas.microsoft.com/office/drawing/2014/main" id="{6F4A5A47-87B5-BAEB-030A-0CF3DC34B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7934" y="3191368"/>
              <a:ext cx="219717" cy="115843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tailEnd type="triangle"/>
            </a:ln>
            <a:effectLst/>
          </p:spPr>
        </p:cxn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ED8BC003-1655-BEF5-8661-C4C3109AAD93}"/>
                </a:ext>
              </a:extLst>
            </p:cNvPr>
            <p:cNvSpPr/>
            <p:nvPr/>
          </p:nvSpPr>
          <p:spPr>
            <a:xfrm>
              <a:off x="2236036" y="4464833"/>
              <a:ext cx="354975" cy="14029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id="693" name="TextBox 692">
              <a:extLst>
                <a:ext uri="{FF2B5EF4-FFF2-40B4-BE49-F238E27FC236}">
                  <a16:creationId xmlns:a16="http://schemas.microsoft.com/office/drawing/2014/main" id="{D206E10F-A3C6-8BB7-8321-E4570F77BBE4}"/>
                </a:ext>
              </a:extLst>
            </p:cNvPr>
            <p:cNvSpPr txBox="1"/>
            <p:nvPr/>
          </p:nvSpPr>
          <p:spPr>
            <a:xfrm>
              <a:off x="2187048" y="4439746"/>
              <a:ext cx="42351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Otumara</a:t>
              </a:r>
            </a:p>
          </p:txBody>
        </p:sp>
        <p:cxnSp>
          <p:nvCxnSpPr>
            <p:cNvPr id="694" name="Straight Arrow Connector 693">
              <a:extLst>
                <a:ext uri="{FF2B5EF4-FFF2-40B4-BE49-F238E27FC236}">
                  <a16:creationId xmlns:a16="http://schemas.microsoft.com/office/drawing/2014/main" id="{9BAF2BE4-EE0C-9072-1451-1BCC54C03E44}"/>
                </a:ext>
              </a:extLst>
            </p:cNvPr>
            <p:cNvCxnSpPr>
              <a:stCxn id="692" idx="2"/>
            </p:cNvCxnSpPr>
            <p:nvPr/>
          </p:nvCxnSpPr>
          <p:spPr>
            <a:xfrm>
              <a:off x="2413524" y="4605132"/>
              <a:ext cx="108721" cy="12799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95" name="TextBox 694">
              <a:extLst>
                <a:ext uri="{FF2B5EF4-FFF2-40B4-BE49-F238E27FC236}">
                  <a16:creationId xmlns:a16="http://schemas.microsoft.com/office/drawing/2014/main" id="{1E3BA8F2-5CF5-1F22-9B6F-9EAA19B7F3DE}"/>
                </a:ext>
              </a:extLst>
            </p:cNvPr>
            <p:cNvSpPr txBox="1"/>
            <p:nvPr/>
          </p:nvSpPr>
          <p:spPr>
            <a:xfrm>
              <a:off x="560485" y="6721921"/>
              <a:ext cx="231505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Please note: Map not drawn to scale &amp; facilities not placed on exact coordinates</a:t>
              </a:r>
            </a:p>
          </p:txBody>
        </p:sp>
        <p:sp>
          <p:nvSpPr>
            <p:cNvPr id="696" name="TextBox 695">
              <a:extLst>
                <a:ext uri="{FF2B5EF4-FFF2-40B4-BE49-F238E27FC236}">
                  <a16:creationId xmlns:a16="http://schemas.microsoft.com/office/drawing/2014/main" id="{7C04B1D5-2E60-2DFB-C652-75832B295E5C}"/>
                </a:ext>
              </a:extLst>
            </p:cNvPr>
            <p:cNvSpPr txBox="1"/>
            <p:nvPr/>
          </p:nvSpPr>
          <p:spPr>
            <a:xfrm>
              <a:off x="1057124" y="3221615"/>
              <a:ext cx="27222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16”</a:t>
              </a:r>
            </a:p>
          </p:txBody>
        </p:sp>
        <p:cxnSp>
          <p:nvCxnSpPr>
            <p:cNvPr id="697" name="Straight Arrow Connector 696">
              <a:extLst>
                <a:ext uri="{FF2B5EF4-FFF2-40B4-BE49-F238E27FC236}">
                  <a16:creationId xmlns:a16="http://schemas.microsoft.com/office/drawing/2014/main" id="{B0A28CA8-0F6D-0ED1-2BB6-67DF6A45FB2D}"/>
                </a:ext>
              </a:extLst>
            </p:cNvPr>
            <p:cNvCxnSpPr/>
            <p:nvPr/>
          </p:nvCxnSpPr>
          <p:spPr>
            <a:xfrm flipV="1">
              <a:off x="5385846" y="4779302"/>
              <a:ext cx="0" cy="140579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sp>
          <p:nvSpPr>
            <p:cNvPr id="698" name="TextBox 697">
              <a:extLst>
                <a:ext uri="{FF2B5EF4-FFF2-40B4-BE49-F238E27FC236}">
                  <a16:creationId xmlns:a16="http://schemas.microsoft.com/office/drawing/2014/main" id="{063B3F7C-BB4A-067E-C38F-218DC88A024C}"/>
                </a:ext>
              </a:extLst>
            </p:cNvPr>
            <p:cNvSpPr txBox="1"/>
            <p:nvPr/>
          </p:nvSpPr>
          <p:spPr>
            <a:xfrm>
              <a:off x="5406558" y="4807830"/>
              <a:ext cx="359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Soku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GP</a:t>
              </a:r>
            </a:p>
          </p:txBody>
        </p:sp>
        <p:cxnSp>
          <p:nvCxnSpPr>
            <p:cNvPr id="699" name="Straight Arrow Connector 698">
              <a:extLst>
                <a:ext uri="{FF2B5EF4-FFF2-40B4-BE49-F238E27FC236}">
                  <a16:creationId xmlns:a16="http://schemas.microsoft.com/office/drawing/2014/main" id="{6A37F220-C2C4-2CA0-26FE-07DA27CF7A84}"/>
                </a:ext>
              </a:extLst>
            </p:cNvPr>
            <p:cNvCxnSpPr/>
            <p:nvPr/>
          </p:nvCxnSpPr>
          <p:spPr>
            <a:xfrm flipH="1" flipV="1">
              <a:off x="5385846" y="4977588"/>
              <a:ext cx="0" cy="111211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tailEnd type="none"/>
            </a:ln>
            <a:effectLst/>
          </p:spPr>
        </p:cxnSp>
        <p:cxnSp>
          <p:nvCxnSpPr>
            <p:cNvPr id="700" name="Straight Arrow Connector 699">
              <a:extLst>
                <a:ext uri="{FF2B5EF4-FFF2-40B4-BE49-F238E27FC236}">
                  <a16:creationId xmlns:a16="http://schemas.microsoft.com/office/drawing/2014/main" id="{689E3F1A-8F91-B53B-618A-E222788B5F28}"/>
                </a:ext>
              </a:extLst>
            </p:cNvPr>
            <p:cNvCxnSpPr/>
            <p:nvPr/>
          </p:nvCxnSpPr>
          <p:spPr>
            <a:xfrm flipV="1">
              <a:off x="5252911" y="5081708"/>
              <a:ext cx="135026" cy="319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701" name="TextBox 700">
              <a:extLst>
                <a:ext uri="{FF2B5EF4-FFF2-40B4-BE49-F238E27FC236}">
                  <a16:creationId xmlns:a16="http://schemas.microsoft.com/office/drawing/2014/main" id="{B8CCC515-006C-09AC-9170-C31667B10E3D}"/>
                </a:ext>
              </a:extLst>
            </p:cNvPr>
            <p:cNvSpPr txBox="1"/>
            <p:nvPr/>
          </p:nvSpPr>
          <p:spPr>
            <a:xfrm>
              <a:off x="6275671" y="2422448"/>
              <a:ext cx="208034" cy="134946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02" name="TextBox 701">
              <a:extLst>
                <a:ext uri="{FF2B5EF4-FFF2-40B4-BE49-F238E27FC236}">
                  <a16:creationId xmlns:a16="http://schemas.microsoft.com/office/drawing/2014/main" id="{22649E09-ECC0-2433-6EB0-6B03C0742293}"/>
                </a:ext>
              </a:extLst>
            </p:cNvPr>
            <p:cNvSpPr txBox="1"/>
            <p:nvPr/>
          </p:nvSpPr>
          <p:spPr>
            <a:xfrm>
              <a:off x="6240131" y="2410938"/>
              <a:ext cx="2664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sp>
          <p:nvSpPr>
            <p:cNvPr id="703" name="TextBox 702">
              <a:extLst>
                <a:ext uri="{FF2B5EF4-FFF2-40B4-BE49-F238E27FC236}">
                  <a16:creationId xmlns:a16="http://schemas.microsoft.com/office/drawing/2014/main" id="{05557958-C67D-AFCB-5735-5EA40C2D4C2E}"/>
                </a:ext>
              </a:extLst>
            </p:cNvPr>
            <p:cNvSpPr txBox="1"/>
            <p:nvPr/>
          </p:nvSpPr>
          <p:spPr>
            <a:xfrm>
              <a:off x="7136791" y="2682597"/>
              <a:ext cx="208034" cy="134946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04" name="TextBox 703">
              <a:extLst>
                <a:ext uri="{FF2B5EF4-FFF2-40B4-BE49-F238E27FC236}">
                  <a16:creationId xmlns:a16="http://schemas.microsoft.com/office/drawing/2014/main" id="{E29E5B84-B4CB-9D3D-1E97-455E465D49A7}"/>
                </a:ext>
              </a:extLst>
            </p:cNvPr>
            <p:cNvSpPr txBox="1"/>
            <p:nvPr/>
          </p:nvSpPr>
          <p:spPr>
            <a:xfrm>
              <a:off x="7099317" y="2665300"/>
              <a:ext cx="26642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</a:p>
          </p:txBody>
        </p:sp>
        <p:sp>
          <p:nvSpPr>
            <p:cNvPr id="705" name="TextBox 704">
              <a:extLst>
                <a:ext uri="{FF2B5EF4-FFF2-40B4-BE49-F238E27FC236}">
                  <a16:creationId xmlns:a16="http://schemas.microsoft.com/office/drawing/2014/main" id="{F070E1AF-3E12-E531-D0E6-DE926FBFE085}"/>
                </a:ext>
              </a:extLst>
            </p:cNvPr>
            <p:cNvSpPr txBox="1"/>
            <p:nvPr/>
          </p:nvSpPr>
          <p:spPr>
            <a:xfrm>
              <a:off x="2685816" y="4799031"/>
              <a:ext cx="252000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</a:t>
              </a:r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24C47FEE-BC08-D55B-A9C2-7EC5BE3F6D26}"/>
                </a:ext>
              </a:extLst>
            </p:cNvPr>
            <p:cNvSpPr/>
            <p:nvPr/>
          </p:nvSpPr>
          <p:spPr>
            <a:xfrm>
              <a:off x="4465808" y="3138423"/>
              <a:ext cx="68387" cy="68562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741AE7B5-F04E-5665-810C-7F7BD8028188}"/>
                </a:ext>
              </a:extLst>
            </p:cNvPr>
            <p:cNvSpPr/>
            <p:nvPr/>
          </p:nvSpPr>
          <p:spPr>
            <a:xfrm>
              <a:off x="4376478" y="3359472"/>
              <a:ext cx="259014" cy="132545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08" name="TextBox 707">
              <a:extLst>
                <a:ext uri="{FF2B5EF4-FFF2-40B4-BE49-F238E27FC236}">
                  <a16:creationId xmlns:a16="http://schemas.microsoft.com/office/drawing/2014/main" id="{2EE4E45A-BB92-95DD-732F-9D7549B55B4D}"/>
                </a:ext>
              </a:extLst>
            </p:cNvPr>
            <p:cNvSpPr txBox="1"/>
            <p:nvPr/>
          </p:nvSpPr>
          <p:spPr>
            <a:xfrm>
              <a:off x="3936834" y="3181336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Pillar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PF</a:t>
              </a:r>
            </a:p>
          </p:txBody>
        </p:sp>
        <p:sp>
          <p:nvSpPr>
            <p:cNvPr id="709" name="TextBox 708">
              <a:extLst>
                <a:ext uri="{FF2B5EF4-FFF2-40B4-BE49-F238E27FC236}">
                  <a16:creationId xmlns:a16="http://schemas.microsoft.com/office/drawing/2014/main" id="{FFDECF46-1548-AA3A-13D4-5DA43B7F8171}"/>
                </a:ext>
              </a:extLst>
            </p:cNvPr>
            <p:cNvSpPr txBox="1"/>
            <p:nvPr/>
          </p:nvSpPr>
          <p:spPr>
            <a:xfrm>
              <a:off x="4311874" y="3322461"/>
              <a:ext cx="397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Mid 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Western</a:t>
              </a:r>
            </a:p>
          </p:txBody>
        </p:sp>
        <p:cxnSp>
          <p:nvCxnSpPr>
            <p:cNvPr id="710" name="Straight Arrow Connector 709">
              <a:extLst>
                <a:ext uri="{FF2B5EF4-FFF2-40B4-BE49-F238E27FC236}">
                  <a16:creationId xmlns:a16="http://schemas.microsoft.com/office/drawing/2014/main" id="{BD0E7B78-A98A-7D3A-34FA-9819C8B00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7720" y="2839187"/>
              <a:ext cx="100506" cy="31680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pic>
          <p:nvPicPr>
            <p:cNvPr id="711" name="Picture 710">
              <a:extLst>
                <a:ext uri="{FF2B5EF4-FFF2-40B4-BE49-F238E27FC236}">
                  <a16:creationId xmlns:a16="http://schemas.microsoft.com/office/drawing/2014/main" id="{B5D10909-69BF-236C-78EA-69159087F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2031" y="4365950"/>
              <a:ext cx="278154" cy="201133"/>
            </a:xfrm>
            <a:prstGeom prst="rect">
              <a:avLst/>
            </a:prstGeom>
            <a:ln>
              <a:solidFill>
                <a:sysClr val="windowText" lastClr="000000"/>
              </a:solidFill>
            </a:ln>
          </p:spPr>
        </p:pic>
        <p:cxnSp>
          <p:nvCxnSpPr>
            <p:cNvPr id="712" name="Straight Arrow Connector 711">
              <a:extLst>
                <a:ext uri="{FF2B5EF4-FFF2-40B4-BE49-F238E27FC236}">
                  <a16:creationId xmlns:a16="http://schemas.microsoft.com/office/drawing/2014/main" id="{846BEA50-C974-EFA0-C693-566705168D6B}"/>
                </a:ext>
              </a:extLst>
            </p:cNvPr>
            <p:cNvCxnSpPr>
              <a:stCxn id="711" idx="1"/>
            </p:cNvCxnSpPr>
            <p:nvPr/>
          </p:nvCxnSpPr>
          <p:spPr>
            <a:xfrm flipH="1">
              <a:off x="5156615" y="4466517"/>
              <a:ext cx="175416" cy="131532"/>
            </a:xfrm>
            <a:prstGeom prst="straightConnector1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6DB31AB2-2D75-5888-25D9-D064F00D89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6903" y="3247582"/>
              <a:ext cx="720171" cy="31271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tailEnd type="none"/>
            </a:ln>
            <a:effectLst/>
          </p:spPr>
        </p:cxnSp>
        <p:sp>
          <p:nvSpPr>
            <p:cNvPr id="714" name="Flowchart: Collate 713">
              <a:extLst>
                <a:ext uri="{FF2B5EF4-FFF2-40B4-BE49-F238E27FC236}">
                  <a16:creationId xmlns:a16="http://schemas.microsoft.com/office/drawing/2014/main" id="{92834FF8-3D5A-86F7-D9FF-82B1C9D06A59}"/>
                </a:ext>
              </a:extLst>
            </p:cNvPr>
            <p:cNvSpPr/>
            <p:nvPr/>
          </p:nvSpPr>
          <p:spPr>
            <a:xfrm rot="6678008">
              <a:off x="4620952" y="3203443"/>
              <a:ext cx="53885" cy="66162"/>
            </a:xfrm>
            <a:prstGeom prst="flowChartCollate">
              <a:avLst/>
            </a:prstGeom>
            <a:solidFill>
              <a:srgbClr val="FF0000"/>
            </a:solidFill>
            <a:ln w="63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G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90C19740-3C8D-F974-0F4A-69D9C4186080}"/>
                </a:ext>
              </a:extLst>
            </p:cNvPr>
            <p:cNvSpPr/>
            <p:nvPr/>
          </p:nvSpPr>
          <p:spPr>
            <a:xfrm>
              <a:off x="5787514" y="6574734"/>
              <a:ext cx="493980" cy="22554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16" name="Straight Arrow Connector 715">
              <a:extLst>
                <a:ext uri="{FF2B5EF4-FFF2-40B4-BE49-F238E27FC236}">
                  <a16:creationId xmlns:a16="http://schemas.microsoft.com/office/drawing/2014/main" id="{AFB73E18-CD4D-5935-FA50-1DD8BA49B857}"/>
                </a:ext>
              </a:extLst>
            </p:cNvPr>
            <p:cNvCxnSpPr>
              <a:cxnSpLocks/>
              <a:endCxn id="715" idx="1"/>
            </p:cNvCxnSpPr>
            <p:nvPr/>
          </p:nvCxnSpPr>
          <p:spPr>
            <a:xfrm>
              <a:off x="5347359" y="6674788"/>
              <a:ext cx="44015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2060"/>
              </a:solidFill>
              <a:prstDash val="solid"/>
              <a:headEnd type="triangle"/>
              <a:tailEnd type="none"/>
            </a:ln>
            <a:effectLst/>
          </p:spPr>
        </p:cxnSp>
        <p:sp>
          <p:nvSpPr>
            <p:cNvPr id="717" name="TextBox 716">
              <a:extLst>
                <a:ext uri="{FF2B5EF4-FFF2-40B4-BE49-F238E27FC236}">
                  <a16:creationId xmlns:a16="http://schemas.microsoft.com/office/drawing/2014/main" id="{0181840C-D747-6C2D-99AC-2FF9B7F1CBCA}"/>
                </a:ext>
              </a:extLst>
            </p:cNvPr>
            <p:cNvSpPr txBox="1"/>
            <p:nvPr/>
          </p:nvSpPr>
          <p:spPr>
            <a:xfrm>
              <a:off x="5767847" y="6533350"/>
              <a:ext cx="5469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Amenam &amp;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Akpo</a:t>
              </a:r>
              <a:endParaRPr kumimoji="0" lang="en-NG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18" name="TextBox 717">
              <a:extLst>
                <a:ext uri="{FF2B5EF4-FFF2-40B4-BE49-F238E27FC236}">
                  <a16:creationId xmlns:a16="http://schemas.microsoft.com/office/drawing/2014/main" id="{1121067C-3C74-F749-53B4-77B9EADB8E74}"/>
                </a:ext>
              </a:extLst>
            </p:cNvPr>
            <p:cNvSpPr txBox="1"/>
            <p:nvPr/>
          </p:nvSpPr>
          <p:spPr>
            <a:xfrm>
              <a:off x="5430905" y="6644723"/>
              <a:ext cx="33374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GTS 5</a:t>
              </a:r>
              <a:endParaRPr kumimoji="0" lang="en-NG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35716105-BEDE-F6B3-83EE-163E8AFFF40B}"/>
                </a:ext>
              </a:extLst>
            </p:cNvPr>
            <p:cNvSpPr txBox="1"/>
            <p:nvPr/>
          </p:nvSpPr>
          <p:spPr>
            <a:xfrm>
              <a:off x="3020445" y="4511111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40”</a:t>
              </a: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F2D1879B-D9B4-7467-C6BF-8E00D8C909C3}"/>
                </a:ext>
              </a:extLst>
            </p:cNvPr>
            <p:cNvSpPr/>
            <p:nvPr/>
          </p:nvSpPr>
          <p:spPr>
            <a:xfrm>
              <a:off x="7313295" y="5073015"/>
              <a:ext cx="683895" cy="1017270"/>
            </a:xfrm>
            <a:custGeom>
              <a:avLst/>
              <a:gdLst>
                <a:gd name="connsiteX0" fmla="*/ 0 w 683895"/>
                <a:gd name="connsiteY0" fmla="*/ 1017270 h 1017270"/>
                <a:gd name="connsiteX1" fmla="*/ 5715 w 683895"/>
                <a:gd name="connsiteY1" fmla="*/ 935355 h 1017270"/>
                <a:gd name="connsiteX2" fmla="*/ 7620 w 683895"/>
                <a:gd name="connsiteY2" fmla="*/ 914400 h 1017270"/>
                <a:gd name="connsiteX3" fmla="*/ 15240 w 683895"/>
                <a:gd name="connsiteY3" fmla="*/ 885825 h 1017270"/>
                <a:gd name="connsiteX4" fmla="*/ 20955 w 683895"/>
                <a:gd name="connsiteY4" fmla="*/ 874395 h 1017270"/>
                <a:gd name="connsiteX5" fmla="*/ 24765 w 683895"/>
                <a:gd name="connsiteY5" fmla="*/ 864870 h 1017270"/>
                <a:gd name="connsiteX6" fmla="*/ 32385 w 683895"/>
                <a:gd name="connsiteY6" fmla="*/ 853440 h 1017270"/>
                <a:gd name="connsiteX7" fmla="*/ 40005 w 683895"/>
                <a:gd name="connsiteY7" fmla="*/ 838200 h 1017270"/>
                <a:gd name="connsiteX8" fmla="*/ 47625 w 683895"/>
                <a:gd name="connsiteY8" fmla="*/ 830580 h 1017270"/>
                <a:gd name="connsiteX9" fmla="*/ 60960 w 683895"/>
                <a:gd name="connsiteY9" fmla="*/ 805815 h 1017270"/>
                <a:gd name="connsiteX10" fmla="*/ 76200 w 683895"/>
                <a:gd name="connsiteY10" fmla="*/ 782955 h 1017270"/>
                <a:gd name="connsiteX11" fmla="*/ 87630 w 683895"/>
                <a:gd name="connsiteY11" fmla="*/ 769620 h 1017270"/>
                <a:gd name="connsiteX12" fmla="*/ 97155 w 683895"/>
                <a:gd name="connsiteY12" fmla="*/ 756285 h 1017270"/>
                <a:gd name="connsiteX13" fmla="*/ 102870 w 683895"/>
                <a:gd name="connsiteY13" fmla="*/ 739140 h 1017270"/>
                <a:gd name="connsiteX14" fmla="*/ 108585 w 683895"/>
                <a:gd name="connsiteY14" fmla="*/ 720090 h 1017270"/>
                <a:gd name="connsiteX15" fmla="*/ 123825 w 683895"/>
                <a:gd name="connsiteY15" fmla="*/ 676275 h 1017270"/>
                <a:gd name="connsiteX16" fmla="*/ 144780 w 683895"/>
                <a:gd name="connsiteY16" fmla="*/ 584835 h 1017270"/>
                <a:gd name="connsiteX17" fmla="*/ 148590 w 683895"/>
                <a:gd name="connsiteY17" fmla="*/ 561975 h 1017270"/>
                <a:gd name="connsiteX18" fmla="*/ 150495 w 683895"/>
                <a:gd name="connsiteY18" fmla="*/ 541020 h 1017270"/>
                <a:gd name="connsiteX19" fmla="*/ 156210 w 683895"/>
                <a:gd name="connsiteY19" fmla="*/ 523875 h 1017270"/>
                <a:gd name="connsiteX20" fmla="*/ 182880 w 683895"/>
                <a:gd name="connsiteY20" fmla="*/ 432435 h 1017270"/>
                <a:gd name="connsiteX21" fmla="*/ 190500 w 683895"/>
                <a:gd name="connsiteY21" fmla="*/ 405765 h 1017270"/>
                <a:gd name="connsiteX22" fmla="*/ 205740 w 683895"/>
                <a:gd name="connsiteY22" fmla="*/ 365760 h 1017270"/>
                <a:gd name="connsiteX23" fmla="*/ 217170 w 683895"/>
                <a:gd name="connsiteY23" fmla="*/ 329565 h 1017270"/>
                <a:gd name="connsiteX24" fmla="*/ 222885 w 683895"/>
                <a:gd name="connsiteY24" fmla="*/ 320040 h 1017270"/>
                <a:gd name="connsiteX25" fmla="*/ 224790 w 683895"/>
                <a:gd name="connsiteY25" fmla="*/ 312420 h 1017270"/>
                <a:gd name="connsiteX26" fmla="*/ 228600 w 683895"/>
                <a:gd name="connsiteY26" fmla="*/ 300990 h 1017270"/>
                <a:gd name="connsiteX27" fmla="*/ 234315 w 683895"/>
                <a:gd name="connsiteY27" fmla="*/ 281940 h 1017270"/>
                <a:gd name="connsiteX28" fmla="*/ 236220 w 683895"/>
                <a:gd name="connsiteY28" fmla="*/ 249555 h 1017270"/>
                <a:gd name="connsiteX29" fmla="*/ 238125 w 683895"/>
                <a:gd name="connsiteY29" fmla="*/ 241935 h 1017270"/>
                <a:gd name="connsiteX30" fmla="*/ 240030 w 683895"/>
                <a:gd name="connsiteY30" fmla="*/ 230505 h 1017270"/>
                <a:gd name="connsiteX31" fmla="*/ 243840 w 683895"/>
                <a:gd name="connsiteY31" fmla="*/ 219075 h 1017270"/>
                <a:gd name="connsiteX32" fmla="*/ 245745 w 683895"/>
                <a:gd name="connsiteY32" fmla="*/ 207645 h 1017270"/>
                <a:gd name="connsiteX33" fmla="*/ 255270 w 683895"/>
                <a:gd name="connsiteY33" fmla="*/ 182880 h 1017270"/>
                <a:gd name="connsiteX34" fmla="*/ 257175 w 683895"/>
                <a:gd name="connsiteY34" fmla="*/ 171450 h 1017270"/>
                <a:gd name="connsiteX35" fmla="*/ 259080 w 683895"/>
                <a:gd name="connsiteY35" fmla="*/ 156210 h 1017270"/>
                <a:gd name="connsiteX36" fmla="*/ 266700 w 683895"/>
                <a:gd name="connsiteY36" fmla="*/ 137160 h 1017270"/>
                <a:gd name="connsiteX37" fmla="*/ 272415 w 683895"/>
                <a:gd name="connsiteY37" fmla="*/ 120015 h 1017270"/>
                <a:gd name="connsiteX38" fmla="*/ 293370 w 683895"/>
                <a:gd name="connsiteY38" fmla="*/ 91440 h 1017270"/>
                <a:gd name="connsiteX39" fmla="*/ 304800 w 683895"/>
                <a:gd name="connsiteY39" fmla="*/ 78105 h 1017270"/>
                <a:gd name="connsiteX40" fmla="*/ 316230 w 683895"/>
                <a:gd name="connsiteY40" fmla="*/ 68580 h 1017270"/>
                <a:gd name="connsiteX41" fmla="*/ 327660 w 683895"/>
                <a:gd name="connsiteY41" fmla="*/ 60960 h 1017270"/>
                <a:gd name="connsiteX42" fmla="*/ 337185 w 683895"/>
                <a:gd name="connsiteY42" fmla="*/ 49530 h 1017270"/>
                <a:gd name="connsiteX43" fmla="*/ 363855 w 683895"/>
                <a:gd name="connsiteY43" fmla="*/ 30480 h 1017270"/>
                <a:gd name="connsiteX44" fmla="*/ 367665 w 683895"/>
                <a:gd name="connsiteY44" fmla="*/ 24765 h 1017270"/>
                <a:gd name="connsiteX45" fmla="*/ 373380 w 683895"/>
                <a:gd name="connsiteY45" fmla="*/ 20955 h 1017270"/>
                <a:gd name="connsiteX46" fmla="*/ 396240 w 683895"/>
                <a:gd name="connsiteY46" fmla="*/ 11430 h 1017270"/>
                <a:gd name="connsiteX47" fmla="*/ 401955 w 683895"/>
                <a:gd name="connsiteY47" fmla="*/ 9525 h 1017270"/>
                <a:gd name="connsiteX48" fmla="*/ 415290 w 683895"/>
                <a:gd name="connsiteY48" fmla="*/ 7620 h 1017270"/>
                <a:gd name="connsiteX49" fmla="*/ 424815 w 683895"/>
                <a:gd name="connsiteY49" fmla="*/ 3810 h 1017270"/>
                <a:gd name="connsiteX50" fmla="*/ 438150 w 683895"/>
                <a:gd name="connsiteY50" fmla="*/ 1905 h 1017270"/>
                <a:gd name="connsiteX51" fmla="*/ 445770 w 683895"/>
                <a:gd name="connsiteY51" fmla="*/ 0 h 1017270"/>
                <a:gd name="connsiteX52" fmla="*/ 510540 w 683895"/>
                <a:gd name="connsiteY52" fmla="*/ 9525 h 1017270"/>
                <a:gd name="connsiteX53" fmla="*/ 520065 w 683895"/>
                <a:gd name="connsiteY53" fmla="*/ 13335 h 1017270"/>
                <a:gd name="connsiteX54" fmla="*/ 541020 w 683895"/>
                <a:gd name="connsiteY54" fmla="*/ 26670 h 1017270"/>
                <a:gd name="connsiteX55" fmla="*/ 548640 w 683895"/>
                <a:gd name="connsiteY55" fmla="*/ 32385 h 1017270"/>
                <a:gd name="connsiteX56" fmla="*/ 560070 w 683895"/>
                <a:gd name="connsiteY56" fmla="*/ 40005 h 1017270"/>
                <a:gd name="connsiteX57" fmla="*/ 567690 w 683895"/>
                <a:gd name="connsiteY57" fmla="*/ 49530 h 1017270"/>
                <a:gd name="connsiteX58" fmla="*/ 573405 w 683895"/>
                <a:gd name="connsiteY58" fmla="*/ 53340 h 1017270"/>
                <a:gd name="connsiteX59" fmla="*/ 582930 w 683895"/>
                <a:gd name="connsiteY59" fmla="*/ 60960 h 1017270"/>
                <a:gd name="connsiteX60" fmla="*/ 600075 w 683895"/>
                <a:gd name="connsiteY60" fmla="*/ 70485 h 1017270"/>
                <a:gd name="connsiteX61" fmla="*/ 607695 w 683895"/>
                <a:gd name="connsiteY61" fmla="*/ 72390 h 1017270"/>
                <a:gd name="connsiteX62" fmla="*/ 613410 w 683895"/>
                <a:gd name="connsiteY62" fmla="*/ 78105 h 1017270"/>
                <a:gd name="connsiteX63" fmla="*/ 632460 w 683895"/>
                <a:gd name="connsiteY63" fmla="*/ 91440 h 1017270"/>
                <a:gd name="connsiteX64" fmla="*/ 636270 w 683895"/>
                <a:gd name="connsiteY64" fmla="*/ 114300 h 1017270"/>
                <a:gd name="connsiteX65" fmla="*/ 640080 w 683895"/>
                <a:gd name="connsiteY65" fmla="*/ 120015 h 1017270"/>
                <a:gd name="connsiteX66" fmla="*/ 643890 w 683895"/>
                <a:gd name="connsiteY66" fmla="*/ 131445 h 1017270"/>
                <a:gd name="connsiteX67" fmla="*/ 653415 w 683895"/>
                <a:gd name="connsiteY67" fmla="*/ 144780 h 1017270"/>
                <a:gd name="connsiteX68" fmla="*/ 664845 w 683895"/>
                <a:gd name="connsiteY68" fmla="*/ 152400 h 1017270"/>
                <a:gd name="connsiteX69" fmla="*/ 672465 w 683895"/>
                <a:gd name="connsiteY69" fmla="*/ 156210 h 1017270"/>
                <a:gd name="connsiteX70" fmla="*/ 683895 w 683895"/>
                <a:gd name="connsiteY70" fmla="*/ 167640 h 1017270"/>
                <a:gd name="connsiteX71" fmla="*/ 683895 w 683895"/>
                <a:gd name="connsiteY71" fmla="*/ 177165 h 101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83895" h="1017270">
                  <a:moveTo>
                    <a:pt x="0" y="1017270"/>
                  </a:moveTo>
                  <a:cubicBezTo>
                    <a:pt x="5938" y="981641"/>
                    <a:pt x="692" y="1015725"/>
                    <a:pt x="5715" y="935355"/>
                  </a:cubicBezTo>
                  <a:cubicBezTo>
                    <a:pt x="6153" y="928355"/>
                    <a:pt x="6526" y="921328"/>
                    <a:pt x="7620" y="914400"/>
                  </a:cubicBezTo>
                  <a:cubicBezTo>
                    <a:pt x="8036" y="911765"/>
                    <a:pt x="13978" y="889107"/>
                    <a:pt x="15240" y="885825"/>
                  </a:cubicBezTo>
                  <a:cubicBezTo>
                    <a:pt x="16769" y="881849"/>
                    <a:pt x="19192" y="878273"/>
                    <a:pt x="20955" y="874395"/>
                  </a:cubicBezTo>
                  <a:cubicBezTo>
                    <a:pt x="22370" y="871282"/>
                    <a:pt x="23128" y="867872"/>
                    <a:pt x="24765" y="864870"/>
                  </a:cubicBezTo>
                  <a:cubicBezTo>
                    <a:pt x="26958" y="860850"/>
                    <a:pt x="30113" y="857416"/>
                    <a:pt x="32385" y="853440"/>
                  </a:cubicBezTo>
                  <a:cubicBezTo>
                    <a:pt x="35203" y="848509"/>
                    <a:pt x="36855" y="842926"/>
                    <a:pt x="40005" y="838200"/>
                  </a:cubicBezTo>
                  <a:cubicBezTo>
                    <a:pt x="41998" y="835211"/>
                    <a:pt x="45512" y="833485"/>
                    <a:pt x="47625" y="830580"/>
                  </a:cubicBezTo>
                  <a:cubicBezTo>
                    <a:pt x="56778" y="817995"/>
                    <a:pt x="53439" y="818123"/>
                    <a:pt x="60960" y="805815"/>
                  </a:cubicBezTo>
                  <a:cubicBezTo>
                    <a:pt x="65735" y="798001"/>
                    <a:pt x="70767" y="790328"/>
                    <a:pt x="76200" y="782955"/>
                  </a:cubicBezTo>
                  <a:cubicBezTo>
                    <a:pt x="79673" y="778242"/>
                    <a:pt x="84013" y="774223"/>
                    <a:pt x="87630" y="769620"/>
                  </a:cubicBezTo>
                  <a:cubicBezTo>
                    <a:pt x="91005" y="765325"/>
                    <a:pt x="93980" y="760730"/>
                    <a:pt x="97155" y="756285"/>
                  </a:cubicBezTo>
                  <a:cubicBezTo>
                    <a:pt x="99060" y="750570"/>
                    <a:pt x="101056" y="744885"/>
                    <a:pt x="102870" y="739140"/>
                  </a:cubicBezTo>
                  <a:cubicBezTo>
                    <a:pt x="104866" y="732818"/>
                    <a:pt x="106489" y="726379"/>
                    <a:pt x="108585" y="720090"/>
                  </a:cubicBezTo>
                  <a:cubicBezTo>
                    <a:pt x="113475" y="705420"/>
                    <a:pt x="119828" y="691213"/>
                    <a:pt x="123825" y="676275"/>
                  </a:cubicBezTo>
                  <a:cubicBezTo>
                    <a:pt x="131909" y="646068"/>
                    <a:pt x="139639" y="615680"/>
                    <a:pt x="144780" y="584835"/>
                  </a:cubicBezTo>
                  <a:cubicBezTo>
                    <a:pt x="146050" y="577215"/>
                    <a:pt x="147591" y="569635"/>
                    <a:pt x="148590" y="561975"/>
                  </a:cubicBezTo>
                  <a:cubicBezTo>
                    <a:pt x="149497" y="555020"/>
                    <a:pt x="149119" y="547898"/>
                    <a:pt x="150495" y="541020"/>
                  </a:cubicBezTo>
                  <a:cubicBezTo>
                    <a:pt x="151676" y="535113"/>
                    <a:pt x="154488" y="529648"/>
                    <a:pt x="156210" y="523875"/>
                  </a:cubicBezTo>
                  <a:cubicBezTo>
                    <a:pt x="165284" y="493449"/>
                    <a:pt x="174028" y="462926"/>
                    <a:pt x="182880" y="432435"/>
                  </a:cubicBezTo>
                  <a:cubicBezTo>
                    <a:pt x="185458" y="423556"/>
                    <a:pt x="187209" y="414405"/>
                    <a:pt x="190500" y="405765"/>
                  </a:cubicBezTo>
                  <a:cubicBezTo>
                    <a:pt x="195580" y="392430"/>
                    <a:pt x="201640" y="379428"/>
                    <a:pt x="205740" y="365760"/>
                  </a:cubicBezTo>
                  <a:cubicBezTo>
                    <a:pt x="207455" y="360043"/>
                    <a:pt x="214566" y="335641"/>
                    <a:pt x="217170" y="329565"/>
                  </a:cubicBezTo>
                  <a:cubicBezTo>
                    <a:pt x="218629" y="326162"/>
                    <a:pt x="220980" y="323215"/>
                    <a:pt x="222885" y="320040"/>
                  </a:cubicBezTo>
                  <a:cubicBezTo>
                    <a:pt x="223520" y="317500"/>
                    <a:pt x="224038" y="314928"/>
                    <a:pt x="224790" y="312420"/>
                  </a:cubicBezTo>
                  <a:cubicBezTo>
                    <a:pt x="225944" y="308573"/>
                    <a:pt x="227626" y="304886"/>
                    <a:pt x="228600" y="300990"/>
                  </a:cubicBezTo>
                  <a:cubicBezTo>
                    <a:pt x="233344" y="282015"/>
                    <a:pt x="227034" y="296502"/>
                    <a:pt x="234315" y="281940"/>
                  </a:cubicBezTo>
                  <a:cubicBezTo>
                    <a:pt x="234950" y="271145"/>
                    <a:pt x="235195" y="260320"/>
                    <a:pt x="236220" y="249555"/>
                  </a:cubicBezTo>
                  <a:cubicBezTo>
                    <a:pt x="236468" y="246949"/>
                    <a:pt x="237612" y="244502"/>
                    <a:pt x="238125" y="241935"/>
                  </a:cubicBezTo>
                  <a:cubicBezTo>
                    <a:pt x="238883" y="238147"/>
                    <a:pt x="239093" y="234252"/>
                    <a:pt x="240030" y="230505"/>
                  </a:cubicBezTo>
                  <a:cubicBezTo>
                    <a:pt x="241004" y="226609"/>
                    <a:pt x="242866" y="222971"/>
                    <a:pt x="243840" y="219075"/>
                  </a:cubicBezTo>
                  <a:cubicBezTo>
                    <a:pt x="244777" y="215328"/>
                    <a:pt x="244750" y="211377"/>
                    <a:pt x="245745" y="207645"/>
                  </a:cubicBezTo>
                  <a:cubicBezTo>
                    <a:pt x="249524" y="193474"/>
                    <a:pt x="250102" y="193216"/>
                    <a:pt x="255270" y="182880"/>
                  </a:cubicBezTo>
                  <a:cubicBezTo>
                    <a:pt x="255905" y="179070"/>
                    <a:pt x="256629" y="175274"/>
                    <a:pt x="257175" y="171450"/>
                  </a:cubicBezTo>
                  <a:cubicBezTo>
                    <a:pt x="257899" y="166382"/>
                    <a:pt x="257710" y="161143"/>
                    <a:pt x="259080" y="156210"/>
                  </a:cubicBezTo>
                  <a:cubicBezTo>
                    <a:pt x="260910" y="149620"/>
                    <a:pt x="264537" y="143648"/>
                    <a:pt x="266700" y="137160"/>
                  </a:cubicBezTo>
                  <a:cubicBezTo>
                    <a:pt x="268605" y="131445"/>
                    <a:pt x="269181" y="125097"/>
                    <a:pt x="272415" y="120015"/>
                  </a:cubicBezTo>
                  <a:cubicBezTo>
                    <a:pt x="300467" y="75934"/>
                    <a:pt x="274347" y="113633"/>
                    <a:pt x="293370" y="91440"/>
                  </a:cubicBezTo>
                  <a:cubicBezTo>
                    <a:pt x="304217" y="78785"/>
                    <a:pt x="287646" y="93544"/>
                    <a:pt x="304800" y="78105"/>
                  </a:cubicBezTo>
                  <a:cubicBezTo>
                    <a:pt x="308486" y="74787"/>
                    <a:pt x="312262" y="71556"/>
                    <a:pt x="316230" y="68580"/>
                  </a:cubicBezTo>
                  <a:cubicBezTo>
                    <a:pt x="319893" y="65833"/>
                    <a:pt x="324272" y="64040"/>
                    <a:pt x="327660" y="60960"/>
                  </a:cubicBezTo>
                  <a:cubicBezTo>
                    <a:pt x="331330" y="57624"/>
                    <a:pt x="333541" y="52894"/>
                    <a:pt x="337185" y="49530"/>
                  </a:cubicBezTo>
                  <a:cubicBezTo>
                    <a:pt x="343329" y="43859"/>
                    <a:pt x="356343" y="35488"/>
                    <a:pt x="363855" y="30480"/>
                  </a:cubicBezTo>
                  <a:cubicBezTo>
                    <a:pt x="365125" y="28575"/>
                    <a:pt x="366046" y="26384"/>
                    <a:pt x="367665" y="24765"/>
                  </a:cubicBezTo>
                  <a:cubicBezTo>
                    <a:pt x="369284" y="23146"/>
                    <a:pt x="371305" y="21923"/>
                    <a:pt x="373380" y="20955"/>
                  </a:cubicBezTo>
                  <a:cubicBezTo>
                    <a:pt x="380861" y="17464"/>
                    <a:pt x="388409" y="14040"/>
                    <a:pt x="396240" y="11430"/>
                  </a:cubicBezTo>
                  <a:cubicBezTo>
                    <a:pt x="398145" y="10795"/>
                    <a:pt x="399986" y="9919"/>
                    <a:pt x="401955" y="9525"/>
                  </a:cubicBezTo>
                  <a:cubicBezTo>
                    <a:pt x="406358" y="8644"/>
                    <a:pt x="410845" y="8255"/>
                    <a:pt x="415290" y="7620"/>
                  </a:cubicBezTo>
                  <a:cubicBezTo>
                    <a:pt x="418465" y="6350"/>
                    <a:pt x="421498" y="4639"/>
                    <a:pt x="424815" y="3810"/>
                  </a:cubicBezTo>
                  <a:cubicBezTo>
                    <a:pt x="429171" y="2721"/>
                    <a:pt x="433732" y="2708"/>
                    <a:pt x="438150" y="1905"/>
                  </a:cubicBezTo>
                  <a:cubicBezTo>
                    <a:pt x="440726" y="1437"/>
                    <a:pt x="443230" y="635"/>
                    <a:pt x="445770" y="0"/>
                  </a:cubicBezTo>
                  <a:cubicBezTo>
                    <a:pt x="484265" y="3347"/>
                    <a:pt x="481631" y="491"/>
                    <a:pt x="510540" y="9525"/>
                  </a:cubicBezTo>
                  <a:cubicBezTo>
                    <a:pt x="513804" y="10545"/>
                    <a:pt x="517006" y="11806"/>
                    <a:pt x="520065" y="13335"/>
                  </a:cubicBezTo>
                  <a:cubicBezTo>
                    <a:pt x="524835" y="15720"/>
                    <a:pt x="537245" y="24028"/>
                    <a:pt x="541020" y="26670"/>
                  </a:cubicBezTo>
                  <a:cubicBezTo>
                    <a:pt x="543621" y="28491"/>
                    <a:pt x="546039" y="30564"/>
                    <a:pt x="548640" y="32385"/>
                  </a:cubicBezTo>
                  <a:cubicBezTo>
                    <a:pt x="552391" y="35011"/>
                    <a:pt x="556666" y="36942"/>
                    <a:pt x="560070" y="40005"/>
                  </a:cubicBezTo>
                  <a:cubicBezTo>
                    <a:pt x="563092" y="42725"/>
                    <a:pt x="564815" y="46655"/>
                    <a:pt x="567690" y="49530"/>
                  </a:cubicBezTo>
                  <a:cubicBezTo>
                    <a:pt x="569309" y="51149"/>
                    <a:pt x="571573" y="51966"/>
                    <a:pt x="573405" y="53340"/>
                  </a:cubicBezTo>
                  <a:cubicBezTo>
                    <a:pt x="576658" y="55780"/>
                    <a:pt x="579677" y="58520"/>
                    <a:pt x="582930" y="60960"/>
                  </a:cubicBezTo>
                  <a:cubicBezTo>
                    <a:pt x="587915" y="64699"/>
                    <a:pt x="594550" y="68275"/>
                    <a:pt x="600075" y="70485"/>
                  </a:cubicBezTo>
                  <a:cubicBezTo>
                    <a:pt x="602506" y="71457"/>
                    <a:pt x="605155" y="71755"/>
                    <a:pt x="607695" y="72390"/>
                  </a:cubicBezTo>
                  <a:cubicBezTo>
                    <a:pt x="609600" y="74295"/>
                    <a:pt x="611275" y="76462"/>
                    <a:pt x="613410" y="78105"/>
                  </a:cubicBezTo>
                  <a:cubicBezTo>
                    <a:pt x="619554" y="82831"/>
                    <a:pt x="632460" y="91440"/>
                    <a:pt x="632460" y="91440"/>
                  </a:cubicBezTo>
                  <a:cubicBezTo>
                    <a:pt x="632880" y="94800"/>
                    <a:pt x="634049" y="109117"/>
                    <a:pt x="636270" y="114300"/>
                  </a:cubicBezTo>
                  <a:cubicBezTo>
                    <a:pt x="637172" y="116404"/>
                    <a:pt x="639150" y="117923"/>
                    <a:pt x="640080" y="120015"/>
                  </a:cubicBezTo>
                  <a:cubicBezTo>
                    <a:pt x="641711" y="123685"/>
                    <a:pt x="642259" y="127775"/>
                    <a:pt x="643890" y="131445"/>
                  </a:cubicBezTo>
                  <a:cubicBezTo>
                    <a:pt x="644722" y="133317"/>
                    <a:pt x="652898" y="144320"/>
                    <a:pt x="653415" y="144780"/>
                  </a:cubicBezTo>
                  <a:cubicBezTo>
                    <a:pt x="656837" y="147822"/>
                    <a:pt x="660749" y="150352"/>
                    <a:pt x="664845" y="152400"/>
                  </a:cubicBezTo>
                  <a:cubicBezTo>
                    <a:pt x="667385" y="153670"/>
                    <a:pt x="670247" y="154436"/>
                    <a:pt x="672465" y="156210"/>
                  </a:cubicBezTo>
                  <a:cubicBezTo>
                    <a:pt x="676672" y="159576"/>
                    <a:pt x="683895" y="162252"/>
                    <a:pt x="683895" y="167640"/>
                  </a:cubicBezTo>
                  <a:lnTo>
                    <a:pt x="683895" y="177165"/>
                  </a:lnTo>
                </a:path>
              </a:pathLst>
            </a:custGeom>
            <a:noFill/>
            <a:ln w="9525" cap="flat" cmpd="sng" algn="ctr">
              <a:solidFill>
                <a:srgbClr val="F79646">
                  <a:lumMod val="50000"/>
                </a:srgbClr>
              </a:solidFill>
              <a:prstDash val="sysDash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21" name="Oval 720">
              <a:extLst>
                <a:ext uri="{FF2B5EF4-FFF2-40B4-BE49-F238E27FC236}">
                  <a16:creationId xmlns:a16="http://schemas.microsoft.com/office/drawing/2014/main" id="{E8450013-E889-5A26-E383-6C8ECFBFA274}"/>
                </a:ext>
              </a:extLst>
            </p:cNvPr>
            <p:cNvSpPr/>
            <p:nvPr/>
          </p:nvSpPr>
          <p:spPr>
            <a:xfrm>
              <a:off x="7974069" y="5248765"/>
              <a:ext cx="45719" cy="45719"/>
            </a:xfrm>
            <a:prstGeom prst="ellipse">
              <a:avLst/>
            </a:prstGeom>
            <a:solidFill>
              <a:srgbClr val="F79646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1537F1DD-760C-6892-5FDA-8FE08BA36E80}"/>
                </a:ext>
              </a:extLst>
            </p:cNvPr>
            <p:cNvSpPr/>
            <p:nvPr/>
          </p:nvSpPr>
          <p:spPr>
            <a:xfrm>
              <a:off x="3625996" y="3137962"/>
              <a:ext cx="259014" cy="125561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23" name="Straight Arrow Connector 722">
              <a:extLst>
                <a:ext uri="{FF2B5EF4-FFF2-40B4-BE49-F238E27FC236}">
                  <a16:creationId xmlns:a16="http://schemas.microsoft.com/office/drawing/2014/main" id="{95D5B4D2-4535-EB42-162A-D5633E659445}"/>
                </a:ext>
              </a:extLst>
            </p:cNvPr>
            <p:cNvCxnSpPr>
              <a:cxnSpLocks/>
              <a:stCxn id="722" idx="3"/>
            </p:cNvCxnSpPr>
            <p:nvPr/>
          </p:nvCxnSpPr>
          <p:spPr>
            <a:xfrm flipV="1">
              <a:off x="3885010" y="3111964"/>
              <a:ext cx="467692" cy="8877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24" name="TextBox 723">
              <a:extLst>
                <a:ext uri="{FF2B5EF4-FFF2-40B4-BE49-F238E27FC236}">
                  <a16:creationId xmlns:a16="http://schemas.microsoft.com/office/drawing/2014/main" id="{69236D49-3E2E-59C3-A293-EEF6C5706722}"/>
                </a:ext>
              </a:extLst>
            </p:cNvPr>
            <p:cNvSpPr txBox="1"/>
            <p:nvPr/>
          </p:nvSpPr>
          <p:spPr>
            <a:xfrm>
              <a:off x="3546188" y="3126213"/>
              <a:ext cx="397233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AHL GP- 2</a:t>
              </a: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CAF4A3B0-70E8-51F3-C436-311367E68902}"/>
                </a:ext>
              </a:extLst>
            </p:cNvPr>
            <p:cNvSpPr/>
            <p:nvPr/>
          </p:nvSpPr>
          <p:spPr>
            <a:xfrm>
              <a:off x="4346113" y="3075176"/>
              <a:ext cx="54730" cy="51355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9DEDAEDC-6C3B-AB53-E636-E62B9F2E7A7D}"/>
                </a:ext>
              </a:extLst>
            </p:cNvPr>
            <p:cNvSpPr txBox="1"/>
            <p:nvPr/>
          </p:nvSpPr>
          <p:spPr>
            <a:xfrm>
              <a:off x="4063494" y="2994251"/>
              <a:ext cx="287379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IPS</a:t>
              </a: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79426076-0B94-FAC1-047C-C5736CE9FD84}"/>
                </a:ext>
              </a:extLst>
            </p:cNvPr>
            <p:cNvSpPr txBox="1"/>
            <p:nvPr/>
          </p:nvSpPr>
          <p:spPr>
            <a:xfrm>
              <a:off x="4233543" y="3075945"/>
              <a:ext cx="29046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KP49</a:t>
              </a:r>
              <a:endParaRPr kumimoji="0" lang="en-NG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376EC9F8-2C6C-9F93-E8A6-B88DEBD4EECC}"/>
                </a:ext>
              </a:extLst>
            </p:cNvPr>
            <p:cNvSpPr/>
            <p:nvPr/>
          </p:nvSpPr>
          <p:spPr>
            <a:xfrm>
              <a:off x="6176314" y="3514358"/>
              <a:ext cx="53036" cy="58858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29" name="TextBox 728">
              <a:extLst>
                <a:ext uri="{FF2B5EF4-FFF2-40B4-BE49-F238E27FC236}">
                  <a16:creationId xmlns:a16="http://schemas.microsoft.com/office/drawing/2014/main" id="{504ACDE1-6B6F-6DF1-9B05-C180C69F99CE}"/>
                </a:ext>
              </a:extLst>
            </p:cNvPr>
            <p:cNvSpPr txBox="1"/>
            <p:nvPr/>
          </p:nvSpPr>
          <p:spPr>
            <a:xfrm>
              <a:off x="6076950" y="3540257"/>
              <a:ext cx="26161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PTF</a:t>
              </a:r>
              <a:endParaRPr kumimoji="0" lang="en-NG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08A85729-ABC5-ACC4-8B5D-F454C76CC8E3}"/>
                </a:ext>
              </a:extLst>
            </p:cNvPr>
            <p:cNvSpPr txBox="1"/>
            <p:nvPr/>
          </p:nvSpPr>
          <p:spPr>
            <a:xfrm>
              <a:off x="6182028" y="3427512"/>
              <a:ext cx="428322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36”/3.5 Km</a:t>
              </a:r>
            </a:p>
          </p:txBody>
        </p: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2C596607-55FE-BF99-3777-2EF15143FF22}"/>
                </a:ext>
              </a:extLst>
            </p:cNvPr>
            <p:cNvCxnSpPr>
              <a:cxnSpLocks/>
            </p:cNvCxnSpPr>
            <p:nvPr/>
          </p:nvCxnSpPr>
          <p:spPr>
            <a:xfrm>
              <a:off x="3395443" y="2398465"/>
              <a:ext cx="1682386" cy="32985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ysDash"/>
              <a:tailEnd type="stealth"/>
            </a:ln>
            <a:effectLst/>
          </p:spPr>
        </p:cxnSp>
        <p:sp>
          <p:nvSpPr>
            <p:cNvPr id="732" name="Oval 731">
              <a:extLst>
                <a:ext uri="{FF2B5EF4-FFF2-40B4-BE49-F238E27FC236}">
                  <a16:creationId xmlns:a16="http://schemas.microsoft.com/office/drawing/2014/main" id="{DF41C476-A1E8-99A8-9918-192D01EDE7EA}"/>
                </a:ext>
              </a:extLst>
            </p:cNvPr>
            <p:cNvSpPr/>
            <p:nvPr/>
          </p:nvSpPr>
          <p:spPr>
            <a:xfrm>
              <a:off x="5068704" y="2627001"/>
              <a:ext cx="269833" cy="201370"/>
            </a:xfrm>
            <a:prstGeom prst="ellipse">
              <a:avLst/>
            </a:prstGeom>
            <a:noFill/>
            <a:ln w="6350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33" name="TextBox 732">
              <a:extLst>
                <a:ext uri="{FF2B5EF4-FFF2-40B4-BE49-F238E27FC236}">
                  <a16:creationId xmlns:a16="http://schemas.microsoft.com/office/drawing/2014/main" id="{4B506FED-4843-6A5B-A999-F910C8FC6BBB}"/>
                </a:ext>
              </a:extLst>
            </p:cNvPr>
            <p:cNvSpPr txBox="1"/>
            <p:nvPr/>
          </p:nvSpPr>
          <p:spPr>
            <a:xfrm>
              <a:off x="4997000" y="2606042"/>
              <a:ext cx="4251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Awka</a:t>
              </a:r>
              <a:endParaRPr kumimoji="0" lang="en-NG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34" name="Straight Arrow Connector 733">
              <a:extLst>
                <a:ext uri="{FF2B5EF4-FFF2-40B4-BE49-F238E27FC236}">
                  <a16:creationId xmlns:a16="http://schemas.microsoft.com/office/drawing/2014/main" id="{80A7F3DE-6A80-8CCE-DB4A-AE25A4BF8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447" y="2540701"/>
              <a:ext cx="53608" cy="14784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ysDash"/>
              <a:tailEnd type="triangle"/>
            </a:ln>
            <a:effectLst/>
          </p:spPr>
        </p:cxnSp>
        <p:sp>
          <p:nvSpPr>
            <p:cNvPr id="735" name="TextBox 734">
              <a:extLst>
                <a:ext uri="{FF2B5EF4-FFF2-40B4-BE49-F238E27FC236}">
                  <a16:creationId xmlns:a16="http://schemas.microsoft.com/office/drawing/2014/main" id="{396A6F78-93D1-F192-ACA7-B70E33B131F3}"/>
                </a:ext>
              </a:extLst>
            </p:cNvPr>
            <p:cNvSpPr txBox="1"/>
            <p:nvPr/>
          </p:nvSpPr>
          <p:spPr>
            <a:xfrm>
              <a:off x="4813684" y="2431102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Onitsha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  <a:endParaRPr kumimoji="0" lang="en-NG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36" name="Straight Arrow Connector 735">
              <a:extLst>
                <a:ext uri="{FF2B5EF4-FFF2-40B4-BE49-F238E27FC236}">
                  <a16:creationId xmlns:a16="http://schemas.microsoft.com/office/drawing/2014/main" id="{DB57F4D3-046E-F4F2-94C4-02E054859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8481" y="2501457"/>
              <a:ext cx="53608" cy="14784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ysDash"/>
              <a:tailEnd type="triangle"/>
            </a:ln>
            <a:effectLst/>
          </p:spPr>
        </p:cxnSp>
        <p:sp>
          <p:nvSpPr>
            <p:cNvPr id="737" name="TextBox 736">
              <a:extLst>
                <a:ext uri="{FF2B5EF4-FFF2-40B4-BE49-F238E27FC236}">
                  <a16:creationId xmlns:a16="http://schemas.microsoft.com/office/drawing/2014/main" id="{7629F703-5294-AFE6-FA59-2393FA3F2BF8}"/>
                </a:ext>
              </a:extLst>
            </p:cNvPr>
            <p:cNvSpPr txBox="1"/>
            <p:nvPr/>
          </p:nvSpPr>
          <p:spPr>
            <a:xfrm>
              <a:off x="4521562" y="2379211"/>
              <a:ext cx="3145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Asaba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TGS</a:t>
              </a:r>
              <a:endParaRPr kumimoji="0" lang="en-NG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738" name="TextBox 737">
              <a:extLst>
                <a:ext uri="{FF2B5EF4-FFF2-40B4-BE49-F238E27FC236}">
                  <a16:creationId xmlns:a16="http://schemas.microsoft.com/office/drawing/2014/main" id="{92A41333-F78A-B4FC-4341-5758B2B9A097}"/>
                </a:ext>
              </a:extLst>
            </p:cNvPr>
            <p:cNvSpPr txBox="1"/>
            <p:nvPr/>
          </p:nvSpPr>
          <p:spPr>
            <a:xfrm rot="634056">
              <a:off x="3784180" y="2455059"/>
              <a:ext cx="875561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24” </a:t>
              </a:r>
              <a:r>
                <a:rPr kumimoji="0" lang="en-US" sz="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Ogan</a:t>
              </a:r>
              <a:r>
                <a:rPr kumimoji="0" 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/Agbor – Awka  Pipeline</a:t>
              </a:r>
              <a:endParaRPr kumimoji="0" lang="en-NG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755" name="Straight Arrow Connector 754">
              <a:extLst>
                <a:ext uri="{FF2B5EF4-FFF2-40B4-BE49-F238E27FC236}">
                  <a16:creationId xmlns:a16="http://schemas.microsoft.com/office/drawing/2014/main" id="{43083D5E-CA1F-526A-F44D-2746F95E426D}"/>
                </a:ext>
              </a:extLst>
            </p:cNvPr>
            <p:cNvCxnSpPr/>
            <p:nvPr/>
          </p:nvCxnSpPr>
          <p:spPr>
            <a:xfrm>
              <a:off x="7707278" y="2703748"/>
              <a:ext cx="381272" cy="7967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ysDash"/>
              <a:tailEnd type="triangle"/>
            </a:ln>
            <a:effectLst/>
          </p:spPr>
        </p:cxnSp>
        <p:sp>
          <p:nvSpPr>
            <p:cNvPr id="756" name="TextBox 755">
              <a:extLst>
                <a:ext uri="{FF2B5EF4-FFF2-40B4-BE49-F238E27FC236}">
                  <a16:creationId xmlns:a16="http://schemas.microsoft.com/office/drawing/2014/main" id="{C3DFB74E-78E5-8487-24C2-240343D283C5}"/>
                </a:ext>
              </a:extLst>
            </p:cNvPr>
            <p:cNvSpPr txBox="1"/>
            <p:nvPr/>
          </p:nvSpPr>
          <p:spPr>
            <a:xfrm>
              <a:off x="8032015" y="2622282"/>
              <a:ext cx="130676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Utorogu</a:t>
              </a:r>
              <a:r>
                <a:rPr kumimoji="0" 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 – ELPS PS1 (Oben Node) Pipeline</a:t>
              </a:r>
            </a:p>
          </p:txBody>
        </p: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BC6AF41B-7458-89C6-52F5-260A14146A5D}"/>
                </a:ext>
              </a:extLst>
            </p:cNvPr>
            <p:cNvSpPr txBox="1"/>
            <p:nvPr/>
          </p:nvSpPr>
          <p:spPr>
            <a:xfrm>
              <a:off x="4019264" y="3928271"/>
              <a:ext cx="239168" cy="138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36”</a:t>
              </a:r>
            </a:p>
          </p:txBody>
        </p:sp>
      </p:grpSp>
      <p:sp>
        <p:nvSpPr>
          <p:cNvPr id="741" name="TextBox 591">
            <a:extLst>
              <a:ext uri="{FF2B5EF4-FFF2-40B4-BE49-F238E27FC236}">
                <a16:creationId xmlns:a16="http://schemas.microsoft.com/office/drawing/2014/main" id="{D525F0C8-799D-AF6F-EC19-0717B325A6A0}"/>
              </a:ext>
            </a:extLst>
          </p:cNvPr>
          <p:cNvSpPr txBox="1"/>
          <p:nvPr/>
        </p:nvSpPr>
        <p:spPr>
          <a:xfrm>
            <a:off x="5336854" y="-42594"/>
            <a:ext cx="2371087" cy="216000"/>
          </a:xfrm>
          <a:prstGeom prst="rect">
            <a:avLst/>
          </a:prstGeom>
          <a:solidFill>
            <a:schemeClr val="accent1"/>
          </a:solidFill>
          <a:ln cap="flat">
            <a:noFill/>
          </a:ln>
        </p:spPr>
        <p:txBody>
          <a:bodyPr wrap="none" lIns="91403" tIns="45701" rIns="91403" bIns="45701" anchor="ctr">
            <a:spAutoFit/>
          </a:bodyPr>
          <a:lstStyle/>
          <a:p>
            <a:pPr marL="0" marR="0" lvl="0" indent="0" algn="ctr" defTabSz="914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NGIC GAS INFRASTRUCTURE MAP </a:t>
            </a:r>
          </a:p>
        </p:txBody>
      </p:sp>
      <p:grpSp>
        <p:nvGrpSpPr>
          <p:cNvPr id="754" name="Group 753">
            <a:extLst>
              <a:ext uri="{FF2B5EF4-FFF2-40B4-BE49-F238E27FC236}">
                <a16:creationId xmlns:a16="http://schemas.microsoft.com/office/drawing/2014/main" id="{96C06572-19BE-E49B-6A8E-AB022F92F3EB}"/>
              </a:ext>
            </a:extLst>
          </p:cNvPr>
          <p:cNvGrpSpPr/>
          <p:nvPr/>
        </p:nvGrpSpPr>
        <p:grpSpPr>
          <a:xfrm>
            <a:off x="4058945" y="3448832"/>
            <a:ext cx="766800" cy="1049331"/>
            <a:chOff x="4058945" y="3448832"/>
            <a:chExt cx="766800" cy="1049331"/>
          </a:xfrm>
        </p:grpSpPr>
        <p:cxnSp>
          <p:nvCxnSpPr>
            <p:cNvPr id="749" name="Straight Arrow Connector 748">
              <a:extLst>
                <a:ext uri="{FF2B5EF4-FFF2-40B4-BE49-F238E27FC236}">
                  <a16:creationId xmlns:a16="http://schemas.microsoft.com/office/drawing/2014/main" id="{71565E1B-9A04-FCCC-295D-9F375AB66B38}"/>
                </a:ext>
              </a:extLst>
            </p:cNvPr>
            <p:cNvCxnSpPr>
              <a:cxnSpLocks/>
            </p:cNvCxnSpPr>
            <p:nvPr/>
          </p:nvCxnSpPr>
          <p:spPr>
            <a:xfrm rot="60000" flipH="1">
              <a:off x="4058945" y="3448832"/>
              <a:ext cx="766800" cy="7767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E76C9C52-DF51-85D3-F42C-E6DC74CE99F9}"/>
                </a:ext>
              </a:extLst>
            </p:cNvPr>
            <p:cNvCxnSpPr/>
            <p:nvPr/>
          </p:nvCxnSpPr>
          <p:spPr>
            <a:xfrm flipH="1">
              <a:off x="4806444" y="3451118"/>
              <a:ext cx="16295" cy="104400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D16FD0CC-8267-25F0-174F-C5D32E0F94BA}"/>
                </a:ext>
              </a:extLst>
            </p:cNvPr>
            <p:cNvCxnSpPr/>
            <p:nvPr/>
          </p:nvCxnSpPr>
          <p:spPr>
            <a:xfrm>
              <a:off x="4463784" y="4498163"/>
              <a:ext cx="345600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58" name="Picture 757" descr="A logo of a company&#10;&#10;Description automatically generated">
            <a:extLst>
              <a:ext uri="{FF2B5EF4-FFF2-40B4-BE49-F238E27FC236}">
                <a16:creationId xmlns:a16="http://schemas.microsoft.com/office/drawing/2014/main" id="{8AE78484-2A15-3373-B312-2304E75FC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1" y="750496"/>
            <a:ext cx="1059058" cy="638240"/>
          </a:xfrm>
          <a:prstGeom prst="rect">
            <a:avLst/>
          </a:prstGeom>
        </p:spPr>
      </p:pic>
      <p:sp>
        <p:nvSpPr>
          <p:cNvPr id="2" name="GVCLASSIFICATIONHEADER1960828750">
            <a:extLst>
              <a:ext uri="{FF2B5EF4-FFF2-40B4-BE49-F238E27FC236}">
                <a16:creationId xmlns:a16="http://schemas.microsoft.com/office/drawing/2014/main" id="{43254BFE-6C5F-C35A-4472-EDDBC662639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88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MWRhMGNlZGEtNjBkNS00NWJiLTg3MzQtODAxOWQxOWQ4MTljIg0KfQ=="/>
  <p:tag name="GVDATA0" val="(end)"/>
</p:tagLst>
</file>

<file path=ppt/theme/theme1.xml><?xml version="1.0" encoding="utf-8"?>
<a:theme xmlns:a="http://schemas.openxmlformats.org/drawingml/2006/main" name="5_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NPC Limited Internal Presentation Template 02.08.2022" id="{9EC1D714-4D67-437C-ACA7-88059F225C1D}" vid="{33D06388-8C28-4AD8-9F32-B930020DD9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9bfec4a-5ccc-4996-bf58-9401877a9892}" enabled="0" method="" siteId="{c9bfec4a-5ccc-4996-bf58-9401877a989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965</Words>
  <Application>Microsoft Office PowerPoint</Application>
  <PresentationFormat>Widescreen</PresentationFormat>
  <Paragraphs>419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5_Office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Jonah Ibiamagabara</dc:creator>
  <cp:lastModifiedBy>Ghazali I. Ahmad</cp:lastModifiedBy>
  <cp:revision>6</cp:revision>
  <dcterms:created xsi:type="dcterms:W3CDTF">2024-06-04T18:18:16Z</dcterms:created>
  <dcterms:modified xsi:type="dcterms:W3CDTF">2026-08-06T15:11:55Z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ew0KICAidGFnc2V0X2UxNjQwOWE3XzE3MDBfNDE1M185MDkwXzM5NTViYzJmMGFlOF9jbGFzc2lmaWNhdGlvbiI6ICJPcGVuIiwNCiAgImRvY0lEIjogIjFkYTBjZWRhLTYwZDUtNDViYi04NzM0LTgwMTlkMTlkODE5YyIsDQogICJPUyI6ICJXaW5kb3dzIiwNCiAg</vt:lpwstr>
  </property>
  <property fmtid="{D5CDD505-2E9C-101B-9397-08002B2CF9AE}" pid="3" name="GVData0">
    <vt:lpwstr>Ik9wdGlvbnMiOiAie1x1MDAyMlBhZ2VMYXlvdXRDb25maWd1cmF0aW9uXHUwMDIyOntcdTAwMjJBbHdheXNTaG93UG9wdXBcdTAwMjI6ZmFsc2UsXHUwMDIySGFzQWx3YXlzU2hvd1BvcHVwXHUwMDIyOnRydWUsXHUwMDIyT3B0aW9uc1x1MDAyMjowLFx1MDAyMlRy</vt:lpwstr>
  </property>
  <property fmtid="{D5CDD505-2E9C-101B-9397-08002B2CF9AE}" pid="4" name="ClassificationTagSetId">
    <vt:lpwstr>e16409a7-1700-4153-9090-3955bc2f0ae8</vt:lpwstr>
  </property>
  <property fmtid="{D5CDD505-2E9C-101B-9397-08002B2CF9AE}" pid="5" name="Classification">
    <vt:lpwstr>Open</vt:lpwstr>
  </property>
  <property fmtid="{D5CDD505-2E9C-101B-9397-08002B2CF9AE}" pid="6" name="ComplianceTagSetId">
    <vt:lpwstr>f14fc1f1-8950-40d5-8a29-45909da947d6</vt:lpwstr>
  </property>
  <property fmtid="{D5CDD505-2E9C-101B-9397-08002B2CF9AE}" pid="7" name="FileId">
    <vt:lpwstr>1da0ceda-60d5-45bb-8734-8019d19d819c</vt:lpwstr>
  </property>
  <property fmtid="{D5CDD505-2E9C-101B-9397-08002B2CF9AE}" pid="8" name="UserId">
    <vt:lpwstr>LOCAL SERVICE</vt:lpwstr>
  </property>
  <property fmtid="{D5CDD505-2E9C-101B-9397-08002B2CF9AE}" pid="9" name="TagDateTime">
    <vt:lpwstr>2025-05-01T13:01:33Z</vt:lpwstr>
  </property>
  <property fmtid="{D5CDD505-2E9C-101B-9397-08002B2CF9AE}" pid="10" name="GVData1">
    <vt:lpwstr>aWdnZXJQYWdlc051bWJlclx1MDAyMjoxfSxcdTAwMjJBcHBseUZyb21QYWdlXHUwMDIyOjAsXHUwMDIyQXBwbHlUb1BhZ2VcdTAwMjI6MCxcdTAwMjJIZWFkZXJFbmFibGVkXHUwMDIyOnRydWUsXHUwMDIySGVhZGVyXHUwMDIyOlx1MDAyMlx1MDAyMixcdTAwMjJI</vt:lpwstr>
  </property>
  <property fmtid="{D5CDD505-2E9C-101B-9397-08002B2CF9AE}" pid="11" name="GVData2">
    <vt:lpwstr>ZWFkZXJzXHUwMDIyOltcdTAwMjJcdTAwMjJdLFx1MDAyMkhlYWRlclR5cGVcdTAwMjI6MSxcdTAwMjJIZWFkZXJUeXBlc0FsbG93ZWRcdTAwMjI6WzJdLFx1MDAyMkhlYWRlclVwZGF0ZVR5cGVcdTAwMjI6MCxcdTAwMjJGb290ZXJFbmFibGVkXHUwMDIyOmZhbHNl</vt:lpwstr>
  </property>
  <property fmtid="{D5CDD505-2E9C-101B-9397-08002B2CF9AE}" pid="12" name="GVData3">
    <vt:lpwstr>LFx1MDAyMkZvb3Rlclx1MDAyMjpcdTAwMjJcdTAwMjIsXHUwMDIyRm9vdGVyc1x1MDAyMjpbXHUwMDIyXHUwMDIyXSxcdTAwMjJGb290ZXJUeXBlXHUwMDIyOjIsXHUwMDIyRm9vdGVyVHlwZXNBbGxvd2VkXHUwMDIyOlsyXSxcdTAwMjJGb290ZXJVcGRhdGVUeXBl</vt:lpwstr>
  </property>
  <property fmtid="{D5CDD505-2E9C-101B-9397-08002B2CF9AE}" pid="13" name="GVData4">
    <vt:lpwstr>XHUwMDIyOjAsXHUwMDIyV2F0ZXJtYXJrXHUwMDIyOm51bGwsXHUwMDIyV2F0ZXJtYXJrRW5hYmxlZFx1MDAyMjpmYWxzZSxcdTAwMjJTaG91bGRXcml0ZVdhdGVybWFya1x1MDAyMjpmYWxzZSxcdTAwMjJXYXRlcm1hcmtVcGRhdGVUeXBlXHUwMDIyOjAsXHUwMDIy</vt:lpwstr>
  </property>
  <property fmtid="{D5CDD505-2E9C-101B-9397-08002B2CF9AE}" pid="14" name="GVData5">
    <vt:lpwstr>UG93ZXJwb2ludFRpdGxlXHUwMDIyOlx1MDAyMlx1MDAyMixcdTAwMjJQb3dlcnBvaW50U3ViaXRsZVx1MDAyMjpcdTAwMjJcdTAwMjJ9IiwNCiAgIlN0YXRlIjogIntcdTAwMjJGaXJzdFBhZ2VEaWZmZXJlbnRcdTAwMjI6ZmFsc2UsXHUwMDIyRGlmZmVyZW50T2Rk</vt:lpwstr>
  </property>
  <property fmtid="{D5CDD505-2E9C-101B-9397-08002B2CF9AE}" pid="15" name="GVData6">
    <vt:lpwstr>QW5kRXZlblBhZ2VzXHUwMDIyOmZhbHNlLFx1MDAyMlBhZ2VDb3VudFx1MDAyMjoxLFx1MDAyMkhlYWRlck1ldGFkYXRhXHUwMDIyOlx1MDAyMlx1MDAyMixcdTAwMjJUaGlyZFBhcnR5SGVhZGVyTWV0YWRhdGFcdTAwMjI6XHUwMDIyXHUwMDIyLFx1MDAyMkdWSGVh</vt:lpwstr>
  </property>
  <property fmtid="{D5CDD505-2E9C-101B-9397-08002B2CF9AE}" pid="16" name="GVData7">
    <vt:lpwstr>ZGVyRXhpc3RzXHUwMDIyOmZhbHNlLFx1MDAyMk5vbkdWSGVhZGVyRXhpc3RzXHUwMDIyOmZhbHNlLFx1MDAyMkNvcm5lckhlYWRlckV4aXN0c1x1MDAyMjpmYWxzZSxcdTAwMjJOb25HVkhlYWRlclNoYXBlRXhpc3RzXHUwMDIyOmZhbHNlLFx1MDAyMlRoaXJkUGFy</vt:lpwstr>
  </property>
  <property fmtid="{D5CDD505-2E9C-101B-9397-08002B2CF9AE}" pid="17" name="GVData8">
    <vt:lpwstr>dHlIZWFkZXJzXHUwMDIyOltdLFx1MDAyMkZvb3Rlck1ldGFkYXRhXHUwMDIyOlx1MDAyMlx1MDAyMixcdTAwMjJUaGlyZFBhcnR5Rm9vdGVyTWV0YWRhdGFcdTAwMjI6XHUwMDIyXHUwMDIyLFx1MDAyMkdWRm9vdGVyRXhpc3RzXHUwMDIyOmZhbHNlLFx1MDAyMk5v</vt:lpwstr>
  </property>
  <property fmtid="{D5CDD505-2E9C-101B-9397-08002B2CF9AE}" pid="18" name="GVData9">
    <vt:lpwstr>bkdWRm9vdGVyRXhpc3RzXHUwMDIyOmZhbHNlLFx1MDAyMkNvcm5lckZvb3RlckV4aXN0c1x1MDAyMjpmYWxzZSxcdTAwMjJOb25HVkZvb3RlclNoYXBlRXhpc3RzXHUwMDIyOmZhbHNlLFx1MDAyMlRoaXJkUGFydHlGb290ZXJzXHUwMDIyOltdLFx1MDAyMldhdGVy</vt:lpwstr>
  </property>
  <property fmtid="{D5CDD505-2E9C-101B-9397-08002B2CF9AE}" pid="19" name="GVData10">
    <vt:lpwstr>bWFya01ldGFkYXRhXHUwMDIyOm51bGwsXHUwMDIyV2F0ZXJtYXJrRXhpc3RzXHUwMDIyOmZhbHNlLFx1MDAyMlBvd2VycG9pbnRUaXRsZU1ldGFkYXRhXHUwMDIyOlx1MDAyMlx1MDAyMixcdTAwMjJQb3dlcnBvaW50U3VidGl0bGVNZXRhZGF0YVx1MDAyMjpcdTAw</vt:lpwstr>
  </property>
  <property fmtid="{D5CDD505-2E9C-101B-9397-08002B2CF9AE}" pid="20" name="GVData11">
    <vt:lpwstr>MjJcdTAwMjIsXHUwMDIyVGhpcmRQYXJ0eU1ldGFkYXRhRm91bmRcdTAwMjI6ZmFsc2V9Ig0KfQ==</vt:lpwstr>
  </property>
  <property fmtid="{D5CDD505-2E9C-101B-9397-08002B2CF9AE}" pid="21" name="GVData12">
    <vt:lpwstr>(end)</vt:lpwstr>
  </property>
  <property fmtid="{D5CDD505-2E9C-101B-9397-08002B2CF9AE}" pid="22" name="Header">
    <vt:lpwstr/>
  </property>
</Properties>
</file>